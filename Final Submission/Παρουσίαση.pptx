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5"/>
  </p:notes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70" r:id="rId15"/>
    <p:sldId id="271" r:id="rId16"/>
    <p:sldId id="272" r:id="rId17"/>
    <p:sldId id="274" r:id="rId18"/>
    <p:sldId id="275" r:id="rId19"/>
    <p:sldId id="276" r:id="rId20"/>
    <p:sldId id="277" r:id="rId21"/>
    <p:sldId id="278"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5" r:id="rId36"/>
    <p:sldId id="297" r:id="rId37"/>
    <p:sldId id="298" r:id="rId38"/>
    <p:sldId id="299" r:id="rId39"/>
    <p:sldId id="300" r:id="rId40"/>
    <p:sldId id="301" r:id="rId41"/>
    <p:sldId id="302" r:id="rId42"/>
    <p:sldId id="303" r:id="rId43"/>
    <p:sldId id="305" r:id="rId44"/>
    <p:sldId id="306" r:id="rId45"/>
    <p:sldId id="307" r:id="rId46"/>
    <p:sldId id="308" r:id="rId47"/>
    <p:sldId id="309" r:id="rId48"/>
    <p:sldId id="310" r:id="rId49"/>
    <p:sldId id="311" r:id="rId50"/>
    <p:sldId id="312" r:id="rId51"/>
    <p:sldId id="313" r:id="rId52"/>
    <p:sldId id="314" r:id="rId53"/>
    <p:sldId id="316" r:id="rId54"/>
    <p:sldId id="317" r:id="rId55"/>
    <p:sldId id="318" r:id="rId56"/>
    <p:sldId id="319" r:id="rId57"/>
    <p:sldId id="320" r:id="rId58"/>
    <p:sldId id="321" r:id="rId59"/>
    <p:sldId id="322" r:id="rId60"/>
    <p:sldId id="323" r:id="rId61"/>
    <p:sldId id="324" r:id="rId62"/>
    <p:sldId id="325" r:id="rId63"/>
    <p:sldId id="326" r:id="rId64"/>
    <p:sldId id="327" r:id="rId65"/>
    <p:sldId id="328" r:id="rId66"/>
    <p:sldId id="329" r:id="rId67"/>
    <p:sldId id="330" r:id="rId68"/>
    <p:sldId id="331" r:id="rId69"/>
    <p:sldId id="333" r:id="rId70"/>
    <p:sldId id="334" r:id="rId71"/>
    <p:sldId id="335" r:id="rId72"/>
    <p:sldId id="336" r:id="rId73"/>
    <p:sldId id="337" r:id="rId74"/>
    <p:sldId id="338" r:id="rId75"/>
    <p:sldId id="339" r:id="rId76"/>
    <p:sldId id="340" r:id="rId77"/>
    <p:sldId id="341" r:id="rId78"/>
    <p:sldId id="342" r:id="rId79"/>
    <p:sldId id="343" r:id="rId80"/>
    <p:sldId id="344" r:id="rId81"/>
    <p:sldId id="346" r:id="rId82"/>
    <p:sldId id="345" r:id="rId83"/>
    <p:sldId id="348" r:id="rId8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Μεσαίο στυλ 2 - Έμφαση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24EB98-BA56-4B39-86B4-BE67638A47D8}" type="datetimeFigureOut">
              <a:rPr lang="el-GR" smtClean="0"/>
              <a:t>14/2/2024</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034E4E-1A37-4AC3-A4BD-EC2AECF8BDEE}" type="slidenum">
              <a:rPr lang="el-GR" smtClean="0"/>
              <a:t>‹#›</a:t>
            </a:fld>
            <a:endParaRPr lang="el-GR"/>
          </a:p>
        </p:txBody>
      </p:sp>
    </p:spTree>
    <p:extLst>
      <p:ext uri="{BB962C8B-B14F-4D97-AF65-F5344CB8AC3E}">
        <p14:creationId xmlns:p14="http://schemas.microsoft.com/office/powerpoint/2010/main" val="2987167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Διαφάνεια τίτλου">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l-GR"/>
              <a:t>Κάντε κλικ για να επεξεργαστείτε τον τίτλο υποδείγματος</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l-GR"/>
              <a:t>Κάντε κλικ για να επεξεργαστείτε τον υπότιτλο του υποδείγματος</a:t>
            </a:r>
            <a:endParaRPr lang="en-US" dirty="0"/>
          </a:p>
        </p:txBody>
      </p:sp>
      <p:sp>
        <p:nvSpPr>
          <p:cNvPr id="4" name="Date Placeholder 3"/>
          <p:cNvSpPr>
            <a:spLocks noGrp="1"/>
          </p:cNvSpPr>
          <p:nvPr>
            <p:ph type="dt" sz="half" idx="10"/>
          </p:nvPr>
        </p:nvSpPr>
        <p:spPr/>
        <p:txBody>
          <a:bodyPr/>
          <a:lstStyle/>
          <a:p>
            <a:fld id="{7516CC89-1CF9-4C26-B9E7-9D280697B213}" type="datetime1">
              <a:rPr lang="en-US" smtClean="0"/>
              <a:t>2/14/2024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2A8DBC0D-10DE-4D25-A11D-A874539E5E6D}" type="datetime1">
              <a:rPr lang="en-US" smtClean="0"/>
              <a:t>2/14/2024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3E035F0D-2A25-4F29-88D4-EE52D6553005}" type="datetime1">
              <a:rPr lang="en-US" smtClean="0"/>
              <a:t>2/14/2024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5" name="Date Placeholder 4"/>
          <p:cNvSpPr>
            <a:spLocks noGrp="1"/>
          </p:cNvSpPr>
          <p:nvPr>
            <p:ph type="dt" sz="half" idx="10"/>
          </p:nvPr>
        </p:nvSpPr>
        <p:spPr/>
        <p:txBody>
          <a:bodyPr/>
          <a:lstStyle/>
          <a:p>
            <a:fld id="{A69DBCDC-909E-44EF-BC4B-2B41BE7EB2EB}" type="datetime1">
              <a:rPr lang="en-US" smtClean="0"/>
              <a:t>2/14/2024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7" name="Date Placeholder 6"/>
          <p:cNvSpPr>
            <a:spLocks noGrp="1"/>
          </p:cNvSpPr>
          <p:nvPr>
            <p:ph type="dt" sz="half" idx="10"/>
          </p:nvPr>
        </p:nvSpPr>
        <p:spPr/>
        <p:txBody>
          <a:bodyPr/>
          <a:lstStyle/>
          <a:p>
            <a:fld id="{321AF303-64A7-43EE-A9CA-A835A7744AAD}" type="datetime1">
              <a:rPr lang="en-US" smtClean="0"/>
              <a:t>2/14/2024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l-GR"/>
              <a:t>Κάντε κλικ για να επεξεργαστείτε τον τίτλο υποδείγματος</a:t>
            </a:r>
            <a:endParaRPr lang="en-US" dirty="0"/>
          </a:p>
        </p:txBody>
      </p:sp>
      <p:sp>
        <p:nvSpPr>
          <p:cNvPr id="3" name="Date Placeholder 2"/>
          <p:cNvSpPr>
            <a:spLocks noGrp="1"/>
          </p:cNvSpPr>
          <p:nvPr>
            <p:ph type="dt" sz="half" idx="10"/>
          </p:nvPr>
        </p:nvSpPr>
        <p:spPr/>
        <p:txBody>
          <a:bodyPr/>
          <a:lstStyle/>
          <a:p>
            <a:fld id="{2F4D9077-F8DC-44EA-8E67-F38FED02B299}" type="datetime1">
              <a:rPr lang="en-US" smtClean="0"/>
              <a:t>2/14/2024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C775B2-D177-4CB9-838D-485D293CA32E}" type="datetime1">
              <a:rPr lang="en-US" smtClean="0"/>
              <a:t>2/14/2024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l-GR"/>
              <a:t>Στυλ κειμένου υποδείγματος</a:t>
            </a:r>
          </a:p>
        </p:txBody>
      </p:sp>
      <p:sp>
        <p:nvSpPr>
          <p:cNvPr id="5" name="Date Placeholder 4"/>
          <p:cNvSpPr>
            <a:spLocks noGrp="1"/>
          </p:cNvSpPr>
          <p:nvPr>
            <p:ph type="dt" sz="half" idx="10"/>
          </p:nvPr>
        </p:nvSpPr>
        <p:spPr/>
        <p:txBody>
          <a:bodyPr/>
          <a:lstStyle/>
          <a:p>
            <a:fld id="{A6050C48-28DD-4769-9F8A-D7A27C40D275}" type="datetime1">
              <a:rPr lang="en-US" smtClean="0"/>
              <a:t>2/14/2024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l-GR"/>
              <a:t>Κάντε κλικ για να επεξεργαστείτε τον τίτλο υποδείγματος</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l-GR"/>
              <a:t>Κάντε κλικ στο εικονίδιο για να προσθέσετε εικόνα</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9496D50-EAE3-4F77-9868-2A007F295887}" type="datetime1">
              <a:rPr lang="en-US" smtClean="0"/>
              <a:t>2/14/2024</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Τίτλος και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91B42029-792B-4BCD-8BC5-A9FC8B88CBA5}" type="datetime1">
              <a:rPr lang="en-US" smtClean="0"/>
              <a:t>2/14/2024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Εισαγωγικά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l-GR"/>
              <a:t>Κάντε κλικ για να επεξεργαστείτε τον τίτλο υποδείγματος</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l-GR"/>
              <a:t>Στυλ κειμένου υποδείγματος</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A16922ED-187E-46D3-AFA2-EB83FDC2D773}" type="datetime1">
              <a:rPr lang="en-US" smtClean="0"/>
              <a:t>2/14/2024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Κάρτα ονόματος">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C9356999-CE08-46D6-B994-6195024BEBD5}" type="datetime1">
              <a:rPr lang="en-US" smtClean="0"/>
              <a:t>2/14/2024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Κάρτα ονόματος με φράση">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l-GR"/>
              <a:t>Κάντε κλικ για να επεξεργαστείτε τον τίτλο υποδείγματος</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l-GR"/>
              <a:t>Στυλ κειμένου υποδείγματος</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06723A0B-471C-4D55-8EAE-9B847A12E411}" type="datetime1">
              <a:rPr lang="en-US" smtClean="0"/>
              <a:t>2/14/2024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ή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l-GR"/>
              <a:t>Κάντε κλικ για να επεξεργαστείτε τον τίτλο υποδείγματος</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l-GR"/>
              <a:t>Στυλ κειμένου υποδείγματος</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B236F646-0F6B-41B6-94F7-94FECFDC7EC7}" type="datetime1">
              <a:rPr lang="en-US" smtClean="0"/>
              <a:t>2/14/2024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Vertical Text Placeholder 2"/>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BD521515-D71F-454A-B877-2FC3D377D345}" type="datetime1">
              <a:rPr lang="en-US" smtClean="0"/>
              <a:t>2/14/2024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l-GR"/>
              <a:t>Κάντε κλικ για να επεξεργαστείτε τον τίτλο υποδείγματος</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968BFDA6-6A9F-4B94-A5A2-33870C08B943}" type="datetime1">
              <a:rPr lang="en-US" smtClean="0"/>
              <a:t>2/14/2024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E5313B5-8F77-4AF3-9B01-ACDFC3F9CF8C}" type="datetime1">
              <a:rPr lang="en-US" smtClean="0"/>
              <a:t>2/14/2024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EA6ED67-BA24-BB7B-C509-1B2F152077DB}"/>
              </a:ext>
            </a:extLst>
          </p:cNvPr>
          <p:cNvSpPr>
            <a:spLocks noGrp="1"/>
          </p:cNvSpPr>
          <p:nvPr>
            <p:ph type="ctrTitle"/>
          </p:nvPr>
        </p:nvSpPr>
        <p:spPr/>
        <p:txBody>
          <a:bodyPr/>
          <a:lstStyle/>
          <a:p>
            <a:r>
              <a:rPr lang="el-GR" sz="4800" dirty="0"/>
              <a:t>ΦΟΡΗΤΟ ΜΟΝΙΤΟΡ ΥΓΕΙΑΣ</a:t>
            </a:r>
          </a:p>
        </p:txBody>
      </p:sp>
      <p:sp>
        <p:nvSpPr>
          <p:cNvPr id="3" name="Υπότιτλος 2">
            <a:extLst>
              <a:ext uri="{FF2B5EF4-FFF2-40B4-BE49-F238E27FC236}">
                <a16:creationId xmlns:a16="http://schemas.microsoft.com/office/drawing/2014/main" id="{4C6D62EA-B4F7-D9D5-DD15-5007C655A8B0}"/>
              </a:ext>
            </a:extLst>
          </p:cNvPr>
          <p:cNvSpPr>
            <a:spLocks noGrp="1"/>
          </p:cNvSpPr>
          <p:nvPr>
            <p:ph type="subTitle" idx="1"/>
          </p:nvPr>
        </p:nvSpPr>
        <p:spPr/>
        <p:txBody>
          <a:bodyPr>
            <a:normAutofit lnSpcReduction="10000"/>
          </a:bodyPr>
          <a:lstStyle/>
          <a:p>
            <a:r>
              <a:rPr lang="el-GR" dirty="0">
                <a:solidFill>
                  <a:schemeClr val="tx1"/>
                </a:solidFill>
              </a:rPr>
              <a:t>Ενσωματωμένα Συστήματα</a:t>
            </a:r>
          </a:p>
          <a:p>
            <a:r>
              <a:rPr lang="el-GR" dirty="0">
                <a:solidFill>
                  <a:schemeClr val="tx1"/>
                </a:solidFill>
              </a:rPr>
              <a:t>Κιουρτ-Μεχμεταλή Αχμέτ</a:t>
            </a:r>
          </a:p>
          <a:p>
            <a:r>
              <a:rPr lang="el-GR" dirty="0">
                <a:solidFill>
                  <a:schemeClr val="tx1"/>
                </a:solidFill>
              </a:rPr>
              <a:t>ΑΜ</a:t>
            </a:r>
            <a:r>
              <a:rPr lang="en-US" dirty="0">
                <a:solidFill>
                  <a:schemeClr val="tx1"/>
                </a:solidFill>
              </a:rPr>
              <a:t>:1084672</a:t>
            </a:r>
            <a:endParaRPr lang="el-GR" dirty="0">
              <a:solidFill>
                <a:schemeClr val="tx1"/>
              </a:solidFill>
            </a:endParaRPr>
          </a:p>
        </p:txBody>
      </p:sp>
      <p:sp>
        <p:nvSpPr>
          <p:cNvPr id="4" name="Θέση αριθμού διαφάνειας 3">
            <a:extLst>
              <a:ext uri="{FF2B5EF4-FFF2-40B4-BE49-F238E27FC236}">
                <a16:creationId xmlns:a16="http://schemas.microsoft.com/office/drawing/2014/main" id="{4D58EA0D-747A-6E37-0925-8684DD15C760}"/>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54464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8C7586E-3A96-E4A8-0933-09DBD7E04A8A}"/>
              </a:ext>
            </a:extLst>
          </p:cNvPr>
          <p:cNvSpPr>
            <a:spLocks noGrp="1"/>
          </p:cNvSpPr>
          <p:nvPr>
            <p:ph type="title"/>
          </p:nvPr>
        </p:nvSpPr>
        <p:spPr>
          <a:xfrm>
            <a:off x="677335" y="1533652"/>
            <a:ext cx="8596668" cy="1826581"/>
          </a:xfrm>
        </p:spPr>
        <p:txBody>
          <a:bodyPr/>
          <a:lstStyle/>
          <a:p>
            <a:r>
              <a:rPr lang="el-GR" dirty="0">
                <a:solidFill>
                  <a:schemeClr val="accent6"/>
                </a:solidFill>
              </a:rPr>
              <a:t>ΣΤΑΔΙΟ Α</a:t>
            </a:r>
          </a:p>
        </p:txBody>
      </p:sp>
      <p:sp>
        <p:nvSpPr>
          <p:cNvPr id="3" name="Θέση κειμένου 2">
            <a:extLst>
              <a:ext uri="{FF2B5EF4-FFF2-40B4-BE49-F238E27FC236}">
                <a16:creationId xmlns:a16="http://schemas.microsoft.com/office/drawing/2014/main" id="{C5ED2880-6830-3A42-1752-547F285BF040}"/>
              </a:ext>
            </a:extLst>
          </p:cNvPr>
          <p:cNvSpPr>
            <a:spLocks noGrp="1"/>
          </p:cNvSpPr>
          <p:nvPr>
            <p:ph type="body" idx="1"/>
          </p:nvPr>
        </p:nvSpPr>
        <p:spPr>
          <a:xfrm>
            <a:off x="677335" y="3475416"/>
            <a:ext cx="8596668" cy="2114652"/>
          </a:xfrm>
        </p:spPr>
        <p:txBody>
          <a:bodyPr>
            <a:normAutofit fontScale="25000" lnSpcReduction="20000"/>
          </a:bodyPr>
          <a:lstStyle/>
          <a:p>
            <a:r>
              <a:rPr lang="el-GR" sz="7200" dirty="0">
                <a:solidFill>
                  <a:schemeClr val="tx1"/>
                </a:solidFill>
              </a:rPr>
              <a:t>Το στάδιο Α περιλαμβάνει εισαγωγικές προσεγγίσεις που εξηγεί τα πρώτα βήματα ενός συστήματος έτσι ώστε να υπάρχει η απόδοση. Αυτά είναι:</a:t>
            </a:r>
          </a:p>
          <a:p>
            <a:r>
              <a:rPr lang="el-GR" sz="7200" dirty="0">
                <a:solidFill>
                  <a:schemeClr val="accent5"/>
                </a:solidFill>
              </a:rPr>
              <a:t>• Περιγραφή εφαρμογής-προβλήματος, στόχων</a:t>
            </a:r>
          </a:p>
          <a:p>
            <a:r>
              <a:rPr lang="el-GR" sz="7200" dirty="0">
                <a:solidFill>
                  <a:schemeClr val="accent5"/>
                </a:solidFill>
              </a:rPr>
              <a:t>• Απαιτήσεις Χρήστη και Λειτουργιών</a:t>
            </a:r>
          </a:p>
          <a:p>
            <a:r>
              <a:rPr lang="el-GR" sz="7200" dirty="0">
                <a:solidFill>
                  <a:schemeClr val="accent5"/>
                </a:solidFill>
              </a:rPr>
              <a:t>• Προδιαγραφές Χρήστη και Λειτουργιών</a:t>
            </a:r>
          </a:p>
          <a:p>
            <a:r>
              <a:rPr lang="el-GR" sz="7200" dirty="0">
                <a:solidFill>
                  <a:schemeClr val="accent5"/>
                </a:solidFill>
              </a:rPr>
              <a:t>• Προσέγγιση Αρχιτεκτονικής Λογισμικού</a:t>
            </a:r>
          </a:p>
          <a:p>
            <a:r>
              <a:rPr lang="el-GR" sz="7200" dirty="0">
                <a:solidFill>
                  <a:schemeClr val="accent5"/>
                </a:solidFill>
              </a:rPr>
              <a:t>• Προσέγγιση Αρχιτεκτονικής Υλικού</a:t>
            </a:r>
          </a:p>
          <a:p>
            <a:endParaRPr lang="el-GR" dirty="0"/>
          </a:p>
        </p:txBody>
      </p:sp>
      <p:sp>
        <p:nvSpPr>
          <p:cNvPr id="4" name="Θέση αριθμού διαφάνειας 3">
            <a:extLst>
              <a:ext uri="{FF2B5EF4-FFF2-40B4-BE49-F238E27FC236}">
                <a16:creationId xmlns:a16="http://schemas.microsoft.com/office/drawing/2014/main" id="{52914DF3-8C72-0DDD-DF41-43CED2004676}"/>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1553345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E24EC91-2746-8B5A-0002-4B6AED48C153}"/>
              </a:ext>
            </a:extLst>
          </p:cNvPr>
          <p:cNvSpPr>
            <a:spLocks noGrp="1"/>
          </p:cNvSpPr>
          <p:nvPr>
            <p:ph type="title"/>
          </p:nvPr>
        </p:nvSpPr>
        <p:spPr>
          <a:xfrm>
            <a:off x="677334" y="1248438"/>
            <a:ext cx="5151966" cy="796262"/>
          </a:xfrm>
        </p:spPr>
        <p:txBody>
          <a:bodyPr/>
          <a:lstStyle/>
          <a:p>
            <a:r>
              <a:rPr lang="el-GR" dirty="0">
                <a:solidFill>
                  <a:schemeClr val="accent5"/>
                </a:solidFill>
              </a:rPr>
              <a:t>Περιγραφή Εφαρμογής</a:t>
            </a:r>
          </a:p>
        </p:txBody>
      </p:sp>
      <p:sp>
        <p:nvSpPr>
          <p:cNvPr id="3" name="Θέση περιεχομένου 2">
            <a:extLst>
              <a:ext uri="{FF2B5EF4-FFF2-40B4-BE49-F238E27FC236}">
                <a16:creationId xmlns:a16="http://schemas.microsoft.com/office/drawing/2014/main" id="{6E266087-CB5E-C7CD-5351-383C6EEB086B}"/>
              </a:ext>
            </a:extLst>
          </p:cNvPr>
          <p:cNvSpPr>
            <a:spLocks noGrp="1"/>
          </p:cNvSpPr>
          <p:nvPr>
            <p:ph idx="1"/>
          </p:nvPr>
        </p:nvSpPr>
        <p:spPr/>
        <p:txBody>
          <a:bodyPr/>
          <a:lstStyle/>
          <a:p>
            <a:r>
              <a:rPr lang="el-GR" dirty="0"/>
              <a:t>Η εφαρμογή ουσιαστικά είναι ένα προϊόν με αισθητήρες για διάφορα δεδομένα υγείας που μπορούν να αναλυθούν αλλά και να ενημερωθούν από τους χρήστες. </a:t>
            </a:r>
          </a:p>
          <a:p>
            <a:r>
              <a:rPr lang="el-GR" dirty="0"/>
              <a:t>Εκτός από αισθητήρες περιλαμβάνει και μικροελεγκτή για επεξεργασία δεδομένων.</a:t>
            </a:r>
          </a:p>
          <a:p>
            <a:r>
              <a:rPr lang="el-GR" dirty="0"/>
              <a:t>Αλλά και κομμάτι λογισμικού ώστε να υπάρχει μία επικοινωνία του υλικού.</a:t>
            </a:r>
          </a:p>
          <a:p>
            <a:r>
              <a:rPr lang="el-GR" dirty="0"/>
              <a:t>Διαφορετικούς αισθητήρες για να περιλαμβάνουμε τα δεδομένα που θέλουμε, αλλά και διάφορα υλικά για την διασύνδεση αυτών των δεδομένων.  </a:t>
            </a:r>
          </a:p>
          <a:p>
            <a:endParaRPr lang="el-GR" dirty="0"/>
          </a:p>
        </p:txBody>
      </p:sp>
      <p:sp>
        <p:nvSpPr>
          <p:cNvPr id="4" name="Θέση αριθμού διαφάνειας 3">
            <a:extLst>
              <a:ext uri="{FF2B5EF4-FFF2-40B4-BE49-F238E27FC236}">
                <a16:creationId xmlns:a16="http://schemas.microsoft.com/office/drawing/2014/main" id="{60EDFB2C-A410-7A9E-363D-EF73B7EBDDFF}"/>
              </a:ext>
            </a:extLst>
          </p:cNvPr>
          <p:cNvSpPr>
            <a:spLocks noGrp="1"/>
          </p:cNvSpPr>
          <p:nvPr>
            <p:ph type="sldNum" sz="quarter" idx="12"/>
          </p:nvPr>
        </p:nvSpPr>
        <p:spPr/>
        <p:txBody>
          <a:bodyPr/>
          <a:lstStyle/>
          <a:p>
            <a:fld id="{519954A3-9DFD-4C44-94BA-B95130A3BA1C}" type="slidenum">
              <a:rPr lang="en-US" smtClean="0"/>
              <a:t>3</a:t>
            </a:fld>
            <a:endParaRPr lang="en-US" dirty="0"/>
          </a:p>
        </p:txBody>
      </p:sp>
    </p:spTree>
    <p:extLst>
      <p:ext uri="{BB962C8B-B14F-4D97-AF65-F5344CB8AC3E}">
        <p14:creationId xmlns:p14="http://schemas.microsoft.com/office/powerpoint/2010/main" val="2472655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CA68BBE-87FB-1994-25A1-64632A634BE8}"/>
              </a:ext>
            </a:extLst>
          </p:cNvPr>
          <p:cNvSpPr>
            <a:spLocks noGrp="1"/>
          </p:cNvSpPr>
          <p:nvPr>
            <p:ph type="title"/>
          </p:nvPr>
        </p:nvSpPr>
        <p:spPr>
          <a:xfrm>
            <a:off x="668868" y="1219200"/>
            <a:ext cx="5317066" cy="800100"/>
          </a:xfrm>
        </p:spPr>
        <p:txBody>
          <a:bodyPr/>
          <a:lstStyle/>
          <a:p>
            <a:r>
              <a:rPr lang="el-GR" dirty="0"/>
              <a:t>Βιομετρικές Αισθητήρες</a:t>
            </a:r>
          </a:p>
        </p:txBody>
      </p:sp>
      <p:sp>
        <p:nvSpPr>
          <p:cNvPr id="3" name="Θέση περιεχομένου 2">
            <a:extLst>
              <a:ext uri="{FF2B5EF4-FFF2-40B4-BE49-F238E27FC236}">
                <a16:creationId xmlns:a16="http://schemas.microsoft.com/office/drawing/2014/main" id="{AE22FD02-0AE8-5803-1984-51A9639BAB87}"/>
              </a:ext>
            </a:extLst>
          </p:cNvPr>
          <p:cNvSpPr>
            <a:spLocks noGrp="1"/>
          </p:cNvSpPr>
          <p:nvPr>
            <p:ph idx="1"/>
          </p:nvPr>
        </p:nvSpPr>
        <p:spPr>
          <a:xfrm>
            <a:off x="677334" y="2160589"/>
            <a:ext cx="4948766" cy="2335211"/>
          </a:xfrm>
        </p:spPr>
        <p:txBody>
          <a:bodyPr/>
          <a:lstStyle/>
          <a:p>
            <a:r>
              <a:rPr lang="el-GR" dirty="0">
                <a:solidFill>
                  <a:schemeClr val="accent2"/>
                </a:solidFill>
              </a:rPr>
              <a:t>Αισθητήρας Θερμοκρασίας</a:t>
            </a:r>
          </a:p>
          <a:p>
            <a:r>
              <a:rPr lang="el-GR" dirty="0">
                <a:solidFill>
                  <a:schemeClr val="accent2"/>
                </a:solidFill>
              </a:rPr>
              <a:t>Αισθητήρας </a:t>
            </a:r>
            <a:r>
              <a:rPr lang="en-US" dirty="0">
                <a:solidFill>
                  <a:schemeClr val="accent2"/>
                </a:solidFill>
              </a:rPr>
              <a:t>SpO2 </a:t>
            </a:r>
            <a:r>
              <a:rPr lang="el-GR" dirty="0">
                <a:solidFill>
                  <a:schemeClr val="accent2"/>
                </a:solidFill>
              </a:rPr>
              <a:t>και Καρδιακών Παλμών </a:t>
            </a:r>
          </a:p>
          <a:p>
            <a:r>
              <a:rPr lang="el-GR" dirty="0">
                <a:solidFill>
                  <a:schemeClr val="accent2"/>
                </a:solidFill>
              </a:rPr>
              <a:t>Επιταχυνσιόμετρο</a:t>
            </a:r>
          </a:p>
          <a:p>
            <a:r>
              <a:rPr lang="el-GR" dirty="0">
                <a:solidFill>
                  <a:schemeClr val="accent2"/>
                </a:solidFill>
              </a:rPr>
              <a:t>Αισθητήρας </a:t>
            </a:r>
            <a:r>
              <a:rPr lang="en-US" dirty="0">
                <a:solidFill>
                  <a:schemeClr val="accent2"/>
                </a:solidFill>
              </a:rPr>
              <a:t>EDA</a:t>
            </a:r>
          </a:p>
          <a:p>
            <a:r>
              <a:rPr lang="el-GR" dirty="0">
                <a:solidFill>
                  <a:schemeClr val="accent2"/>
                </a:solidFill>
              </a:rPr>
              <a:t>Αισθητήρας Πίεσης Αίματος</a:t>
            </a:r>
            <a:endParaRPr lang="en-US" dirty="0">
              <a:solidFill>
                <a:schemeClr val="accent2"/>
              </a:solidFill>
            </a:endParaRPr>
          </a:p>
          <a:p>
            <a:endParaRPr lang="el-GR" dirty="0"/>
          </a:p>
        </p:txBody>
      </p:sp>
      <p:sp>
        <p:nvSpPr>
          <p:cNvPr id="4" name="Θέση αριθμού διαφάνειας 3">
            <a:extLst>
              <a:ext uri="{FF2B5EF4-FFF2-40B4-BE49-F238E27FC236}">
                <a16:creationId xmlns:a16="http://schemas.microsoft.com/office/drawing/2014/main" id="{2BB9D3B7-A4AE-ED0C-37F4-A322228DA17A}"/>
              </a:ext>
            </a:extLst>
          </p:cNvPr>
          <p:cNvSpPr>
            <a:spLocks noGrp="1"/>
          </p:cNvSpPr>
          <p:nvPr>
            <p:ph type="sldNum" sz="quarter" idx="12"/>
          </p:nvPr>
        </p:nvSpPr>
        <p:spPr/>
        <p:txBody>
          <a:bodyPr/>
          <a:lstStyle/>
          <a:p>
            <a:fld id="{519954A3-9DFD-4C44-94BA-B95130A3BA1C}" type="slidenum">
              <a:rPr lang="en-US" smtClean="0"/>
              <a:t>4</a:t>
            </a:fld>
            <a:endParaRPr lang="en-US" dirty="0"/>
          </a:p>
        </p:txBody>
      </p:sp>
    </p:spTree>
    <p:extLst>
      <p:ext uri="{BB962C8B-B14F-4D97-AF65-F5344CB8AC3E}">
        <p14:creationId xmlns:p14="http://schemas.microsoft.com/office/powerpoint/2010/main" val="3812607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09CDFCA-1019-2562-C1C7-D9A0E142C794}"/>
              </a:ext>
            </a:extLst>
          </p:cNvPr>
          <p:cNvSpPr>
            <a:spLocks noGrp="1"/>
          </p:cNvSpPr>
          <p:nvPr>
            <p:ph type="title"/>
          </p:nvPr>
        </p:nvSpPr>
        <p:spPr>
          <a:xfrm>
            <a:off x="956734" y="495300"/>
            <a:ext cx="5685366" cy="749300"/>
          </a:xfrm>
        </p:spPr>
        <p:txBody>
          <a:bodyPr/>
          <a:lstStyle/>
          <a:p>
            <a:r>
              <a:rPr lang="el-GR" dirty="0"/>
              <a:t>Περιγραφή Αισθητήρων</a:t>
            </a:r>
          </a:p>
        </p:txBody>
      </p:sp>
      <p:sp>
        <p:nvSpPr>
          <p:cNvPr id="3" name="Θέση περιεχομένου 2">
            <a:extLst>
              <a:ext uri="{FF2B5EF4-FFF2-40B4-BE49-F238E27FC236}">
                <a16:creationId xmlns:a16="http://schemas.microsoft.com/office/drawing/2014/main" id="{EFA55C40-BE45-22A6-486E-128E171EAF0C}"/>
              </a:ext>
            </a:extLst>
          </p:cNvPr>
          <p:cNvSpPr>
            <a:spLocks noGrp="1"/>
          </p:cNvSpPr>
          <p:nvPr>
            <p:ph idx="1"/>
          </p:nvPr>
        </p:nvSpPr>
        <p:spPr>
          <a:xfrm>
            <a:off x="956734" y="1244600"/>
            <a:ext cx="8149166" cy="5245100"/>
          </a:xfrm>
        </p:spPr>
        <p:txBody>
          <a:bodyPr/>
          <a:lstStyle/>
          <a:p>
            <a:r>
              <a:rPr lang="el-GR" b="1" dirty="0">
                <a:solidFill>
                  <a:schemeClr val="accent2"/>
                </a:solidFill>
              </a:rPr>
              <a:t>Αισθητήρας Θερμοκρασίας</a:t>
            </a:r>
            <a:r>
              <a:rPr lang="en-US" dirty="0"/>
              <a:t>: </a:t>
            </a:r>
            <a:r>
              <a:rPr lang="el-GR" dirty="0"/>
              <a:t>Ουσιαστικά είναι ένας θερμίστορ που στο σύστημα χρησιμοποιείται για την θερμοκρασία του σώματος. Μπορεί να επιγραφθεί και σαν ένας αντιστάτης που επηρεάζεται ανάλογα με την θερμοκρασία.</a:t>
            </a:r>
          </a:p>
          <a:p>
            <a:r>
              <a:rPr lang="el-GR" b="1" dirty="0">
                <a:solidFill>
                  <a:schemeClr val="accent2"/>
                </a:solidFill>
              </a:rPr>
              <a:t>Αισθητήρας Πίεσης Αίματος</a:t>
            </a:r>
            <a:r>
              <a:rPr lang="en-US" dirty="0"/>
              <a:t>:</a:t>
            </a:r>
            <a:r>
              <a:rPr lang="el-GR" dirty="0"/>
              <a:t> Ένα κλασσικό πιεσόμετρο που εξαργυρώνει δεδομένα πίεσης του χρήστη έτσι ώστε να απεικονιστούν.</a:t>
            </a:r>
          </a:p>
          <a:p>
            <a:r>
              <a:rPr lang="el-GR" b="1" dirty="0">
                <a:solidFill>
                  <a:schemeClr val="accent2"/>
                </a:solidFill>
              </a:rPr>
              <a:t>Αισθητήρας </a:t>
            </a:r>
            <a:r>
              <a:rPr lang="en-US" b="1" dirty="0">
                <a:solidFill>
                  <a:schemeClr val="accent2"/>
                </a:solidFill>
              </a:rPr>
              <a:t>EDA</a:t>
            </a:r>
            <a:r>
              <a:rPr lang="en-US" dirty="0"/>
              <a:t>: </a:t>
            </a:r>
            <a:r>
              <a:rPr lang="el-GR" dirty="0"/>
              <a:t>Μετράει τις αλλαγές που παράγονται στο δέρμα λόγω της αύξησης της δραστηριότητας των ιδρωτοποιών αδένων.</a:t>
            </a:r>
          </a:p>
          <a:p>
            <a:r>
              <a:rPr lang="el-GR" b="1" dirty="0">
                <a:solidFill>
                  <a:schemeClr val="accent2"/>
                </a:solidFill>
              </a:rPr>
              <a:t>Επιταχυνσιόμετρο</a:t>
            </a:r>
            <a:r>
              <a:rPr lang="en-US" dirty="0"/>
              <a:t>:</a:t>
            </a:r>
            <a:r>
              <a:rPr lang="el-GR" dirty="0"/>
              <a:t> Διαδίδει δεδομένα στο ελεγκτή για την επιτάχυνση αλλά και για την ανάπαυση του χρήστη.</a:t>
            </a:r>
          </a:p>
          <a:p>
            <a:r>
              <a:rPr lang="el-GR" b="1" dirty="0">
                <a:solidFill>
                  <a:schemeClr val="accent2"/>
                </a:solidFill>
              </a:rPr>
              <a:t>Αισθητήρας </a:t>
            </a:r>
            <a:r>
              <a:rPr lang="en-US" b="1" dirty="0">
                <a:solidFill>
                  <a:schemeClr val="accent2"/>
                </a:solidFill>
              </a:rPr>
              <a:t>SpO2 </a:t>
            </a:r>
            <a:r>
              <a:rPr lang="el-GR" b="1" dirty="0">
                <a:solidFill>
                  <a:schemeClr val="accent2"/>
                </a:solidFill>
              </a:rPr>
              <a:t>και Καρδιακών Παλμών</a:t>
            </a:r>
            <a:r>
              <a:rPr lang="en-US" b="1" dirty="0"/>
              <a:t>:</a:t>
            </a:r>
            <a:r>
              <a:rPr lang="en-US" dirty="0"/>
              <a:t> </a:t>
            </a:r>
            <a:r>
              <a:rPr lang="el-GR" dirty="0"/>
              <a:t>Ένα πολύπλοκο κύκλωμα που μετρά το οξυγόνο του αίματος και τους παλμούς της καρδιάς (ηλεκτροκαρδιογράφημα) αντίστοιχα. </a:t>
            </a:r>
          </a:p>
          <a:p>
            <a:endParaRPr lang="el-GR" dirty="0"/>
          </a:p>
        </p:txBody>
      </p:sp>
      <p:sp>
        <p:nvSpPr>
          <p:cNvPr id="4" name="Θέση αριθμού διαφάνειας 3">
            <a:extLst>
              <a:ext uri="{FF2B5EF4-FFF2-40B4-BE49-F238E27FC236}">
                <a16:creationId xmlns:a16="http://schemas.microsoft.com/office/drawing/2014/main" id="{5D210604-8D85-CB5A-19E1-A6532A1F8341}"/>
              </a:ext>
            </a:extLst>
          </p:cNvPr>
          <p:cNvSpPr>
            <a:spLocks noGrp="1"/>
          </p:cNvSpPr>
          <p:nvPr>
            <p:ph type="sldNum" sz="quarter" idx="12"/>
          </p:nvPr>
        </p:nvSpPr>
        <p:spPr/>
        <p:txBody>
          <a:bodyPr/>
          <a:lstStyle/>
          <a:p>
            <a:fld id="{519954A3-9DFD-4C44-94BA-B95130A3BA1C}" type="slidenum">
              <a:rPr lang="en-US" smtClean="0"/>
              <a:t>5</a:t>
            </a:fld>
            <a:endParaRPr lang="en-US" dirty="0"/>
          </a:p>
        </p:txBody>
      </p:sp>
    </p:spTree>
    <p:extLst>
      <p:ext uri="{BB962C8B-B14F-4D97-AF65-F5344CB8AC3E}">
        <p14:creationId xmlns:p14="http://schemas.microsoft.com/office/powerpoint/2010/main" val="1727082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2D1CFE5-44FF-486C-2EFC-27589F473535}"/>
              </a:ext>
            </a:extLst>
          </p:cNvPr>
          <p:cNvSpPr>
            <a:spLocks noGrp="1"/>
          </p:cNvSpPr>
          <p:nvPr>
            <p:ph type="title"/>
          </p:nvPr>
        </p:nvSpPr>
        <p:spPr>
          <a:xfrm>
            <a:off x="677334" y="717550"/>
            <a:ext cx="4186766" cy="774700"/>
          </a:xfrm>
        </p:spPr>
        <p:txBody>
          <a:bodyPr/>
          <a:lstStyle/>
          <a:p>
            <a:r>
              <a:rPr lang="el-GR" dirty="0"/>
              <a:t>Άλλα Περιφερειακά</a:t>
            </a:r>
          </a:p>
        </p:txBody>
      </p:sp>
      <p:sp>
        <p:nvSpPr>
          <p:cNvPr id="3" name="Θέση περιεχομένου 2">
            <a:extLst>
              <a:ext uri="{FF2B5EF4-FFF2-40B4-BE49-F238E27FC236}">
                <a16:creationId xmlns:a16="http://schemas.microsoft.com/office/drawing/2014/main" id="{2D1A717D-13B6-7BF8-24E1-4EE980FF5D03}"/>
              </a:ext>
            </a:extLst>
          </p:cNvPr>
          <p:cNvSpPr>
            <a:spLocks noGrp="1"/>
          </p:cNvSpPr>
          <p:nvPr>
            <p:ph idx="1"/>
          </p:nvPr>
        </p:nvSpPr>
        <p:spPr>
          <a:xfrm>
            <a:off x="677334" y="1690689"/>
            <a:ext cx="8174566" cy="4062411"/>
          </a:xfrm>
        </p:spPr>
        <p:txBody>
          <a:bodyPr>
            <a:normAutofit fontScale="85000" lnSpcReduction="10000"/>
          </a:bodyPr>
          <a:lstStyle/>
          <a:p>
            <a:r>
              <a:rPr lang="el-GR" b="1" dirty="0">
                <a:solidFill>
                  <a:schemeClr val="accent2"/>
                </a:solidFill>
              </a:rPr>
              <a:t>Μικροελεγκτής</a:t>
            </a:r>
            <a:r>
              <a:rPr lang="en-US" dirty="0"/>
              <a:t>:</a:t>
            </a:r>
            <a:r>
              <a:rPr lang="el-GR" dirty="0"/>
              <a:t> Ουσιαστικά, ο πυρήνας και ο τρόπος επεξεργασίας και ελέγχου του ολόκληρου συστήματος. </a:t>
            </a:r>
          </a:p>
          <a:p>
            <a:r>
              <a:rPr lang="el-GR" b="1" dirty="0">
                <a:solidFill>
                  <a:schemeClr val="accent2"/>
                </a:solidFill>
              </a:rPr>
              <a:t>Συνδεσιμότητα</a:t>
            </a:r>
            <a:r>
              <a:rPr lang="en-US" dirty="0"/>
              <a:t>: </a:t>
            </a:r>
            <a:r>
              <a:rPr lang="el-GR" dirty="0"/>
              <a:t>Για να υπάρχει η διασύνδεση με άλλες συσκευές έχουμε σε χρήση ένα </a:t>
            </a:r>
            <a:r>
              <a:rPr lang="en-US" dirty="0"/>
              <a:t>Wi-Fi module </a:t>
            </a:r>
            <a:r>
              <a:rPr lang="el-GR" dirty="0"/>
              <a:t>για την επικοινωνία.</a:t>
            </a:r>
          </a:p>
          <a:p>
            <a:r>
              <a:rPr lang="en-US" b="1" dirty="0">
                <a:solidFill>
                  <a:schemeClr val="accent2"/>
                </a:solidFill>
              </a:rPr>
              <a:t>OLED</a:t>
            </a:r>
            <a:r>
              <a:rPr lang="en-US" dirty="0"/>
              <a:t> </a:t>
            </a:r>
            <a:r>
              <a:rPr lang="en-US" b="1" dirty="0">
                <a:solidFill>
                  <a:schemeClr val="accent2"/>
                </a:solidFill>
              </a:rPr>
              <a:t>Screen</a:t>
            </a:r>
            <a:r>
              <a:rPr lang="en-US" dirty="0"/>
              <a:t>: </a:t>
            </a:r>
            <a:r>
              <a:rPr lang="el-GR" dirty="0"/>
              <a:t>Οθόνη που θα είναι συνδεδεμένο με συγκεκριμένο λογισμικό και </a:t>
            </a:r>
            <a:r>
              <a:rPr lang="en-US" dirty="0"/>
              <a:t>GUI </a:t>
            </a:r>
            <a:r>
              <a:rPr lang="el-GR" dirty="0"/>
              <a:t>έτσι ώστε να μπορεί να παρατηρηθούν οι ενέργειες.</a:t>
            </a:r>
          </a:p>
          <a:p>
            <a:r>
              <a:rPr lang="el-GR" b="1" dirty="0">
                <a:solidFill>
                  <a:schemeClr val="accent2"/>
                </a:solidFill>
              </a:rPr>
              <a:t>Αποθήκευση</a:t>
            </a:r>
            <a:r>
              <a:rPr lang="el-GR" dirty="0"/>
              <a:t> </a:t>
            </a:r>
            <a:r>
              <a:rPr lang="el-GR" b="1" dirty="0">
                <a:solidFill>
                  <a:schemeClr val="accent2"/>
                </a:solidFill>
              </a:rPr>
              <a:t>και</a:t>
            </a:r>
            <a:r>
              <a:rPr lang="el-GR" dirty="0"/>
              <a:t> </a:t>
            </a:r>
            <a:r>
              <a:rPr lang="el-GR" b="1" dirty="0">
                <a:solidFill>
                  <a:schemeClr val="accent2"/>
                </a:solidFill>
              </a:rPr>
              <a:t>Επεξεργασία</a:t>
            </a:r>
            <a:r>
              <a:rPr lang="el-GR" dirty="0"/>
              <a:t> </a:t>
            </a:r>
            <a:r>
              <a:rPr lang="el-GR" b="1" dirty="0">
                <a:solidFill>
                  <a:schemeClr val="accent2"/>
                </a:solidFill>
              </a:rPr>
              <a:t>Δεδομένων</a:t>
            </a:r>
            <a:r>
              <a:rPr lang="en-US" dirty="0"/>
              <a:t>:</a:t>
            </a:r>
            <a:r>
              <a:rPr lang="el-GR" dirty="0"/>
              <a:t> Χρήση μνήμης για συντηρησιμότητα των δεδομένων αλλά και για την επεξεργασία.</a:t>
            </a:r>
          </a:p>
          <a:p>
            <a:r>
              <a:rPr lang="el-GR" b="1" dirty="0">
                <a:solidFill>
                  <a:schemeClr val="accent2"/>
                </a:solidFill>
              </a:rPr>
              <a:t>Φορτιστής</a:t>
            </a:r>
            <a:r>
              <a:rPr lang="en-US" dirty="0"/>
              <a:t>:</a:t>
            </a:r>
            <a:r>
              <a:rPr lang="el-GR" dirty="0"/>
              <a:t> Μία απλή συσκευή φόρτισης για μπαταρία ιόντων λίθου του συστήματος.  </a:t>
            </a:r>
          </a:p>
          <a:p>
            <a:r>
              <a:rPr lang="el-GR" b="1" dirty="0">
                <a:solidFill>
                  <a:schemeClr val="accent2"/>
                </a:solidFill>
              </a:rPr>
              <a:t>Μπαταρία</a:t>
            </a:r>
            <a:r>
              <a:rPr lang="en-US" dirty="0"/>
              <a:t>: </a:t>
            </a:r>
            <a:r>
              <a:rPr lang="el-GR" dirty="0"/>
              <a:t>: Επαναφορτιζόμενο μέσο ενέργειας με ιόντων λίθου για να ενεργοποιεί το σύστημα για κάποια διάρκεια.</a:t>
            </a:r>
          </a:p>
          <a:p>
            <a:r>
              <a:rPr lang="el-GR" b="1" dirty="0">
                <a:solidFill>
                  <a:schemeClr val="accent2"/>
                </a:solidFill>
              </a:rPr>
              <a:t>Διακόπτες</a:t>
            </a:r>
            <a:r>
              <a:rPr lang="en-US" dirty="0"/>
              <a:t>:</a:t>
            </a:r>
            <a:r>
              <a:rPr lang="el-GR" dirty="0"/>
              <a:t> Απλή διακόπτες για ενεργοποίηση/απενεργοποίηση αισθητήρων.</a:t>
            </a:r>
          </a:p>
          <a:p>
            <a:r>
              <a:rPr lang="el-GR" b="1" dirty="0">
                <a:solidFill>
                  <a:schemeClr val="accent2"/>
                </a:solidFill>
              </a:rPr>
              <a:t>Ανεμιστήρας</a:t>
            </a:r>
            <a:r>
              <a:rPr lang="en-US" dirty="0"/>
              <a:t>: </a:t>
            </a:r>
            <a:r>
              <a:rPr lang="el-GR" dirty="0"/>
              <a:t>Μικροί ανεμιστήρες με στόχο να παράγει ένα καλύτερο περιβάλλον σε κάθε λειτουργία του συστήματος με διαφορετικές τοποθεσίες.</a:t>
            </a:r>
          </a:p>
        </p:txBody>
      </p:sp>
      <p:sp>
        <p:nvSpPr>
          <p:cNvPr id="4" name="Θέση αριθμού διαφάνειας 3">
            <a:extLst>
              <a:ext uri="{FF2B5EF4-FFF2-40B4-BE49-F238E27FC236}">
                <a16:creationId xmlns:a16="http://schemas.microsoft.com/office/drawing/2014/main" id="{AE123968-D17A-5C06-717B-9070B8EB23C0}"/>
              </a:ext>
            </a:extLst>
          </p:cNvPr>
          <p:cNvSpPr>
            <a:spLocks noGrp="1"/>
          </p:cNvSpPr>
          <p:nvPr>
            <p:ph type="sldNum" sz="quarter" idx="12"/>
          </p:nvPr>
        </p:nvSpPr>
        <p:spPr/>
        <p:txBody>
          <a:bodyPr/>
          <a:lstStyle/>
          <a:p>
            <a:fld id="{519954A3-9DFD-4C44-94BA-B95130A3BA1C}" type="slidenum">
              <a:rPr lang="en-US" smtClean="0"/>
              <a:t>6</a:t>
            </a:fld>
            <a:endParaRPr lang="en-US" dirty="0"/>
          </a:p>
        </p:txBody>
      </p:sp>
    </p:spTree>
    <p:extLst>
      <p:ext uri="{BB962C8B-B14F-4D97-AF65-F5344CB8AC3E}">
        <p14:creationId xmlns:p14="http://schemas.microsoft.com/office/powerpoint/2010/main" val="4064495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5166E7B-1D8D-E369-0DFC-41ED7BDA207E}"/>
              </a:ext>
            </a:extLst>
          </p:cNvPr>
          <p:cNvSpPr>
            <a:spLocks noGrp="1"/>
          </p:cNvSpPr>
          <p:nvPr>
            <p:ph type="title"/>
          </p:nvPr>
        </p:nvSpPr>
        <p:spPr>
          <a:xfrm>
            <a:off x="681568" y="2273300"/>
            <a:ext cx="2294466" cy="850900"/>
          </a:xfrm>
        </p:spPr>
        <p:txBody>
          <a:bodyPr/>
          <a:lstStyle/>
          <a:p>
            <a:r>
              <a:rPr lang="el-GR" dirty="0"/>
              <a:t>Λογισμικό</a:t>
            </a:r>
          </a:p>
        </p:txBody>
      </p:sp>
      <p:sp>
        <p:nvSpPr>
          <p:cNvPr id="3" name="Θέση περιεχομένου 2">
            <a:extLst>
              <a:ext uri="{FF2B5EF4-FFF2-40B4-BE49-F238E27FC236}">
                <a16:creationId xmlns:a16="http://schemas.microsoft.com/office/drawing/2014/main" id="{74027822-BFDA-A736-1779-9C296B95DAAA}"/>
              </a:ext>
            </a:extLst>
          </p:cNvPr>
          <p:cNvSpPr>
            <a:spLocks noGrp="1"/>
          </p:cNvSpPr>
          <p:nvPr>
            <p:ph idx="1"/>
          </p:nvPr>
        </p:nvSpPr>
        <p:spPr>
          <a:xfrm>
            <a:off x="681568" y="3278189"/>
            <a:ext cx="7933266" cy="2513011"/>
          </a:xfrm>
        </p:spPr>
        <p:txBody>
          <a:bodyPr/>
          <a:lstStyle/>
          <a:p>
            <a:pPr marL="0" indent="0">
              <a:buNone/>
            </a:pPr>
            <a:r>
              <a:rPr lang="el-GR" dirty="0"/>
              <a:t>Για τη συλλογή, επεξεργασία και εμφάνιση των δεδομένων υγείας. Αυτό περιλαμβάνει αλγόριθμους για ανάλυση δεδομένων και φιλικές προς το χρήστη, </a:t>
            </a:r>
            <a:r>
              <a:rPr lang="el-GR" dirty="0" err="1"/>
              <a:t>διεπαφές</a:t>
            </a:r>
            <a:r>
              <a:rPr lang="el-GR" dirty="0"/>
              <a:t> για παρακολούθηση σε πραγματικό χρόνο και ανασκόπηση ιστορικών δεδομένων που ενεργεί με την βάση δεδομένων που εμπεριέχει. Ενώ στο </a:t>
            </a:r>
            <a:r>
              <a:rPr lang="el-GR" dirty="0" err="1"/>
              <a:t>Front-End</a:t>
            </a:r>
            <a:r>
              <a:rPr lang="el-GR" dirty="0"/>
              <a:t> του συστήματος θα περιλαμβάνει το GUI για φιλική χρήση του χρήστη.</a:t>
            </a:r>
          </a:p>
        </p:txBody>
      </p:sp>
      <p:sp>
        <p:nvSpPr>
          <p:cNvPr id="4" name="Θέση αριθμού διαφάνειας 3">
            <a:extLst>
              <a:ext uri="{FF2B5EF4-FFF2-40B4-BE49-F238E27FC236}">
                <a16:creationId xmlns:a16="http://schemas.microsoft.com/office/drawing/2014/main" id="{FD123D04-0097-2DD9-AAA7-168986CD79DF}"/>
              </a:ext>
            </a:extLst>
          </p:cNvPr>
          <p:cNvSpPr>
            <a:spLocks noGrp="1"/>
          </p:cNvSpPr>
          <p:nvPr>
            <p:ph type="sldNum" sz="quarter" idx="12"/>
          </p:nvPr>
        </p:nvSpPr>
        <p:spPr/>
        <p:txBody>
          <a:bodyPr/>
          <a:lstStyle/>
          <a:p>
            <a:fld id="{519954A3-9DFD-4C44-94BA-B95130A3BA1C}" type="slidenum">
              <a:rPr lang="en-US" smtClean="0"/>
              <a:t>7</a:t>
            </a:fld>
            <a:endParaRPr lang="en-US" dirty="0"/>
          </a:p>
        </p:txBody>
      </p:sp>
    </p:spTree>
    <p:extLst>
      <p:ext uri="{BB962C8B-B14F-4D97-AF65-F5344CB8AC3E}">
        <p14:creationId xmlns:p14="http://schemas.microsoft.com/office/powerpoint/2010/main" val="2677604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4A2050F-6156-32BC-0359-3B979083AE78}"/>
              </a:ext>
            </a:extLst>
          </p:cNvPr>
          <p:cNvSpPr>
            <a:spLocks noGrp="1"/>
          </p:cNvSpPr>
          <p:nvPr>
            <p:ph type="title"/>
          </p:nvPr>
        </p:nvSpPr>
        <p:spPr>
          <a:xfrm>
            <a:off x="677334" y="279400"/>
            <a:ext cx="2916766" cy="635000"/>
          </a:xfrm>
        </p:spPr>
        <p:txBody>
          <a:bodyPr>
            <a:normAutofit fontScale="90000"/>
          </a:bodyPr>
          <a:lstStyle/>
          <a:p>
            <a:r>
              <a:rPr lang="el-GR" dirty="0">
                <a:solidFill>
                  <a:schemeClr val="accent5"/>
                </a:solidFill>
              </a:rPr>
              <a:t>Προβλήματα</a:t>
            </a:r>
          </a:p>
        </p:txBody>
      </p:sp>
      <p:sp>
        <p:nvSpPr>
          <p:cNvPr id="3" name="Θέση περιεχομένου 2">
            <a:extLst>
              <a:ext uri="{FF2B5EF4-FFF2-40B4-BE49-F238E27FC236}">
                <a16:creationId xmlns:a16="http://schemas.microsoft.com/office/drawing/2014/main" id="{00C08602-3665-F9ED-EA24-B45891F1432C}"/>
              </a:ext>
            </a:extLst>
          </p:cNvPr>
          <p:cNvSpPr>
            <a:spLocks noGrp="1"/>
          </p:cNvSpPr>
          <p:nvPr>
            <p:ph idx="1"/>
          </p:nvPr>
        </p:nvSpPr>
        <p:spPr>
          <a:xfrm>
            <a:off x="677334" y="884006"/>
            <a:ext cx="8365066" cy="5491394"/>
          </a:xfrm>
        </p:spPr>
        <p:txBody>
          <a:bodyPr>
            <a:noAutofit/>
          </a:bodyPr>
          <a:lstStyle/>
          <a:p>
            <a:r>
              <a:rPr lang="el-GR" dirty="0"/>
              <a:t>Κύρια προβλήματα που αντιμετωπίζει το σύστημα είναι η αξιοπιστία, επεξεργασία δεδομένων μαζί με τη μεταφορά και διαχείριση ενέργειας. Για αυτό το λόγο θα βασιστούμε σε αυτά τα προβλήματα</a:t>
            </a:r>
            <a:r>
              <a:rPr lang="en-US" dirty="0"/>
              <a:t>:</a:t>
            </a:r>
            <a:endParaRPr lang="el-GR" dirty="0"/>
          </a:p>
          <a:p>
            <a:pPr>
              <a:buFont typeface="Wingdings" panose="05000000000000000000" pitchFamily="2" charset="2"/>
              <a:buChar char="§"/>
            </a:pPr>
            <a:r>
              <a:rPr lang="el-GR" b="1" dirty="0">
                <a:solidFill>
                  <a:schemeClr val="accent2"/>
                </a:solidFill>
              </a:rPr>
              <a:t>Αξιοπιστία</a:t>
            </a:r>
            <a:r>
              <a:rPr lang="en-US" dirty="0"/>
              <a:t>:</a:t>
            </a:r>
            <a:r>
              <a:rPr lang="el-GR" dirty="0"/>
              <a:t> Το σύστημα που έχουμε είναι σχετικά για την υγεία. Που σημαίνει ότι η αξιοπιστία του είναι σημαντική σε σχέση με τα άλλα προβλήματα. Οι απώλειες που μπορούμε να έχουμε δεν είναι οριοθετημένα στο υλικό του συστήματος αλλά και στο λογισμικό.</a:t>
            </a:r>
          </a:p>
          <a:p>
            <a:pPr>
              <a:buFont typeface="Wingdings" panose="05000000000000000000" pitchFamily="2" charset="2"/>
              <a:buChar char="§"/>
            </a:pPr>
            <a:r>
              <a:rPr lang="el-GR" b="1" dirty="0">
                <a:solidFill>
                  <a:schemeClr val="accent2"/>
                </a:solidFill>
              </a:rPr>
              <a:t>Επεξεργασία Δεδομένων και Μεταφοράς</a:t>
            </a:r>
            <a:r>
              <a:rPr lang="en-US" dirty="0"/>
              <a:t>: </a:t>
            </a:r>
            <a:r>
              <a:rPr lang="el-GR" dirty="0"/>
              <a:t>Παρόλο που αφορά το έξω κόσμο του συστήματος, είναι ένας κρίσιμο πρόβλημα με την έννοια να δημιουργήσει σφάλματα σε δεδομένα περιφερειακών αλλά και αισθητήρων.</a:t>
            </a:r>
          </a:p>
          <a:p>
            <a:pPr>
              <a:buFont typeface="Wingdings" panose="05000000000000000000" pitchFamily="2" charset="2"/>
              <a:buChar char="§"/>
            </a:pPr>
            <a:r>
              <a:rPr lang="el-GR" b="1" dirty="0">
                <a:solidFill>
                  <a:schemeClr val="accent2"/>
                </a:solidFill>
              </a:rPr>
              <a:t>Διαχείριση Ενέργειας</a:t>
            </a:r>
            <a:r>
              <a:rPr lang="en-US" dirty="0"/>
              <a:t>: </a:t>
            </a:r>
            <a:r>
              <a:rPr lang="el-GR" dirty="0"/>
              <a:t>Διακοπής ενέργειας λόγω αποκοπών στην μπαταρία. Βέβαια ο αριθμός των αισθητήρων και των υποσυστημάτων είναι μεγάλος. Αφού θα χρειαστεί να τροφοδοτείται σωστά.</a:t>
            </a:r>
          </a:p>
          <a:p>
            <a:r>
              <a:rPr lang="el-GR" dirty="0"/>
              <a:t>Ένα άλλο πρόβλημα που περιλαμβάνει το σύστημα είναι η </a:t>
            </a:r>
            <a:r>
              <a:rPr lang="el-GR" b="1" dirty="0"/>
              <a:t>ένωση των αισθητήρων </a:t>
            </a:r>
            <a:r>
              <a:rPr lang="el-GR" dirty="0"/>
              <a:t>με σωστή σύνδεση αλλά και η ενσωματωμένη διεπαφή για να υπάρχει η σωστή επαφή χρήστη και συστήματος. </a:t>
            </a:r>
          </a:p>
          <a:p>
            <a:pPr marL="0" indent="0">
              <a:buNone/>
            </a:pPr>
            <a:endParaRPr lang="el-GR" dirty="0"/>
          </a:p>
          <a:p>
            <a:pPr marL="0" indent="0">
              <a:buNone/>
            </a:pPr>
            <a:endParaRPr lang="en-US" dirty="0"/>
          </a:p>
          <a:p>
            <a:pPr marL="0" indent="0">
              <a:buNone/>
            </a:pPr>
            <a:r>
              <a:rPr lang="en-US" dirty="0"/>
              <a:t>  </a:t>
            </a:r>
            <a:endParaRPr lang="el-GR" dirty="0"/>
          </a:p>
        </p:txBody>
      </p:sp>
      <p:sp>
        <p:nvSpPr>
          <p:cNvPr id="4" name="Θέση αριθμού διαφάνειας 3">
            <a:extLst>
              <a:ext uri="{FF2B5EF4-FFF2-40B4-BE49-F238E27FC236}">
                <a16:creationId xmlns:a16="http://schemas.microsoft.com/office/drawing/2014/main" id="{0528841D-ADA4-A3C1-67D1-0E9C7D501FFC}"/>
              </a:ext>
            </a:extLst>
          </p:cNvPr>
          <p:cNvSpPr>
            <a:spLocks noGrp="1"/>
          </p:cNvSpPr>
          <p:nvPr>
            <p:ph type="sldNum" sz="quarter" idx="12"/>
          </p:nvPr>
        </p:nvSpPr>
        <p:spPr/>
        <p:txBody>
          <a:bodyPr/>
          <a:lstStyle/>
          <a:p>
            <a:fld id="{519954A3-9DFD-4C44-94BA-B95130A3BA1C}" type="slidenum">
              <a:rPr lang="en-US" smtClean="0"/>
              <a:t>8</a:t>
            </a:fld>
            <a:endParaRPr lang="en-US" dirty="0"/>
          </a:p>
        </p:txBody>
      </p:sp>
    </p:spTree>
    <p:extLst>
      <p:ext uri="{BB962C8B-B14F-4D97-AF65-F5344CB8AC3E}">
        <p14:creationId xmlns:p14="http://schemas.microsoft.com/office/powerpoint/2010/main" val="1040764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1847E20-7ADB-211D-D32C-2859A6613C5A}"/>
              </a:ext>
            </a:extLst>
          </p:cNvPr>
          <p:cNvSpPr>
            <a:spLocks noGrp="1"/>
          </p:cNvSpPr>
          <p:nvPr>
            <p:ph type="title"/>
          </p:nvPr>
        </p:nvSpPr>
        <p:spPr>
          <a:xfrm>
            <a:off x="677334" y="2021305"/>
            <a:ext cx="1684866" cy="863600"/>
          </a:xfrm>
        </p:spPr>
        <p:txBody>
          <a:bodyPr/>
          <a:lstStyle/>
          <a:p>
            <a:r>
              <a:rPr lang="el-GR" dirty="0">
                <a:solidFill>
                  <a:schemeClr val="accent5"/>
                </a:solidFill>
              </a:rPr>
              <a:t>Στόχοι</a:t>
            </a:r>
          </a:p>
        </p:txBody>
      </p:sp>
      <p:sp>
        <p:nvSpPr>
          <p:cNvPr id="3" name="Θέση περιεχομένου 2">
            <a:extLst>
              <a:ext uri="{FF2B5EF4-FFF2-40B4-BE49-F238E27FC236}">
                <a16:creationId xmlns:a16="http://schemas.microsoft.com/office/drawing/2014/main" id="{4E857C01-4F36-2B5A-2D7F-8A4300945442}"/>
              </a:ext>
            </a:extLst>
          </p:cNvPr>
          <p:cNvSpPr>
            <a:spLocks noGrp="1"/>
          </p:cNvSpPr>
          <p:nvPr>
            <p:ph idx="1"/>
          </p:nvPr>
        </p:nvSpPr>
        <p:spPr>
          <a:xfrm>
            <a:off x="677334" y="3024189"/>
            <a:ext cx="7632477" cy="2379327"/>
          </a:xfrm>
        </p:spPr>
        <p:txBody>
          <a:bodyPr/>
          <a:lstStyle/>
          <a:p>
            <a:r>
              <a:rPr lang="el-GR" dirty="0">
                <a:solidFill>
                  <a:schemeClr val="tx1"/>
                </a:solidFill>
              </a:rPr>
              <a:t>Η διαχείριση σφάλματος με εφικτό τρόπο και μείωσης σφάλματων στο ολόκληρο σύστημα.</a:t>
            </a:r>
          </a:p>
          <a:p>
            <a:r>
              <a:rPr lang="el-GR" dirty="0">
                <a:solidFill>
                  <a:schemeClr val="tx1"/>
                </a:solidFill>
              </a:rPr>
              <a:t>Η μπαταρία να μπορεί να καταναλώνει σε σωστό επίπεδο ενέργεια και αποφυγή αποκοπής με λογική διάρκεια ζωής.</a:t>
            </a:r>
          </a:p>
          <a:p>
            <a:r>
              <a:rPr lang="el-GR" dirty="0">
                <a:solidFill>
                  <a:schemeClr val="tx1"/>
                </a:solidFill>
              </a:rPr>
              <a:t>Μεταφορά και επεξεργασία δεδομένων σε πραγματικό χρόνο με σωστές ενημερώσεις του χρήση μέσω του συστήματος.</a:t>
            </a:r>
          </a:p>
        </p:txBody>
      </p:sp>
      <p:sp>
        <p:nvSpPr>
          <p:cNvPr id="4" name="Θέση αριθμού διαφάνειας 3">
            <a:extLst>
              <a:ext uri="{FF2B5EF4-FFF2-40B4-BE49-F238E27FC236}">
                <a16:creationId xmlns:a16="http://schemas.microsoft.com/office/drawing/2014/main" id="{D41DE655-D6FA-9F66-A2A9-1D5DB68FB6BC}"/>
              </a:ext>
            </a:extLst>
          </p:cNvPr>
          <p:cNvSpPr>
            <a:spLocks noGrp="1"/>
          </p:cNvSpPr>
          <p:nvPr>
            <p:ph type="sldNum" sz="quarter" idx="12"/>
          </p:nvPr>
        </p:nvSpPr>
        <p:spPr/>
        <p:txBody>
          <a:bodyPr/>
          <a:lstStyle/>
          <a:p>
            <a:fld id="{519954A3-9DFD-4C44-94BA-B95130A3BA1C}" type="slidenum">
              <a:rPr lang="en-US" smtClean="0"/>
              <a:t>9</a:t>
            </a:fld>
            <a:endParaRPr lang="en-US" dirty="0"/>
          </a:p>
        </p:txBody>
      </p:sp>
    </p:spTree>
    <p:extLst>
      <p:ext uri="{BB962C8B-B14F-4D97-AF65-F5344CB8AC3E}">
        <p14:creationId xmlns:p14="http://schemas.microsoft.com/office/powerpoint/2010/main" val="4071108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5F2E464-22FE-DB5B-7051-5051CF6FCA1D}"/>
              </a:ext>
            </a:extLst>
          </p:cNvPr>
          <p:cNvSpPr>
            <a:spLocks noGrp="1"/>
          </p:cNvSpPr>
          <p:nvPr>
            <p:ph type="title"/>
          </p:nvPr>
        </p:nvSpPr>
        <p:spPr>
          <a:xfrm>
            <a:off x="677334" y="1292806"/>
            <a:ext cx="4279677" cy="867783"/>
          </a:xfrm>
        </p:spPr>
        <p:txBody>
          <a:bodyPr/>
          <a:lstStyle/>
          <a:p>
            <a:r>
              <a:rPr lang="el-GR" dirty="0">
                <a:solidFill>
                  <a:schemeClr val="accent5"/>
                </a:solidFill>
              </a:rPr>
              <a:t>Απαιτήσεις Χρήστη</a:t>
            </a:r>
          </a:p>
        </p:txBody>
      </p:sp>
      <p:sp>
        <p:nvSpPr>
          <p:cNvPr id="3" name="Θέση περιεχομένου 2">
            <a:extLst>
              <a:ext uri="{FF2B5EF4-FFF2-40B4-BE49-F238E27FC236}">
                <a16:creationId xmlns:a16="http://schemas.microsoft.com/office/drawing/2014/main" id="{7E0BE282-2B91-2134-210F-481BCB8B2C5E}"/>
              </a:ext>
            </a:extLst>
          </p:cNvPr>
          <p:cNvSpPr>
            <a:spLocks noGrp="1"/>
          </p:cNvSpPr>
          <p:nvPr>
            <p:ph idx="1"/>
          </p:nvPr>
        </p:nvSpPr>
        <p:spPr>
          <a:xfrm>
            <a:off x="677334" y="2160589"/>
            <a:ext cx="8596668" cy="3404605"/>
          </a:xfrm>
        </p:spPr>
        <p:txBody>
          <a:bodyPr/>
          <a:lstStyle/>
          <a:p>
            <a:r>
              <a:rPr lang="el-GR" dirty="0"/>
              <a:t>Απαίτηση δεδομένων του χρήστη και χρήση με διαφορετικούς τρόπους.</a:t>
            </a:r>
          </a:p>
          <a:p>
            <a:r>
              <a:rPr lang="el-GR" dirty="0"/>
              <a:t>Διακοπή κατανάλωση ενέργειας από χρήστη ανάλογα με την θέληση.</a:t>
            </a:r>
          </a:p>
          <a:p>
            <a:r>
              <a:rPr lang="el-GR" dirty="0"/>
              <a:t>Σωστή διατήρηση συστήματος και συγκεκριμένα αισθητήρων για καλύτερη διάρκεια ζωής του συστήματος. </a:t>
            </a:r>
          </a:p>
          <a:p>
            <a:r>
              <a:rPr lang="el-GR" dirty="0"/>
              <a:t>Να μην υπάρχει η επαφή του νερού σε επίπεδο 5 </a:t>
            </a:r>
            <a:r>
              <a:rPr lang="en-US" dirty="0"/>
              <a:t>atm </a:t>
            </a:r>
            <a:r>
              <a:rPr lang="el-GR" dirty="0"/>
              <a:t>(σε επίπεδο πλύσιμο χεριών).</a:t>
            </a:r>
          </a:p>
          <a:p>
            <a:r>
              <a:rPr lang="el-GR" dirty="0"/>
              <a:t>Απαίτηση χρήση δεδομένων μέσω οθόνης και αισθητήρων για βελτιωμένη χρήση συστήματος.</a:t>
            </a:r>
          </a:p>
          <a:p>
            <a:pPr marL="0" indent="0">
              <a:buNone/>
            </a:pPr>
            <a:endParaRPr lang="el-GR" dirty="0"/>
          </a:p>
        </p:txBody>
      </p:sp>
      <p:sp>
        <p:nvSpPr>
          <p:cNvPr id="4" name="Θέση αριθμού διαφάνειας 3">
            <a:extLst>
              <a:ext uri="{FF2B5EF4-FFF2-40B4-BE49-F238E27FC236}">
                <a16:creationId xmlns:a16="http://schemas.microsoft.com/office/drawing/2014/main" id="{C81094C9-A59F-4567-21F9-A6195AF853F5}"/>
              </a:ext>
            </a:extLst>
          </p:cNvPr>
          <p:cNvSpPr>
            <a:spLocks noGrp="1"/>
          </p:cNvSpPr>
          <p:nvPr>
            <p:ph type="sldNum" sz="quarter" idx="12"/>
          </p:nvPr>
        </p:nvSpPr>
        <p:spPr/>
        <p:txBody>
          <a:bodyPr/>
          <a:lstStyle/>
          <a:p>
            <a:fld id="{519954A3-9DFD-4C44-94BA-B95130A3BA1C}" type="slidenum">
              <a:rPr lang="en-US" smtClean="0"/>
              <a:t>10</a:t>
            </a:fld>
            <a:endParaRPr lang="en-US" dirty="0"/>
          </a:p>
        </p:txBody>
      </p:sp>
    </p:spTree>
    <p:extLst>
      <p:ext uri="{BB962C8B-B14F-4D97-AF65-F5344CB8AC3E}">
        <p14:creationId xmlns:p14="http://schemas.microsoft.com/office/powerpoint/2010/main" val="373404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46A18E3-B651-69A3-B1C8-831F6A1846A4}"/>
              </a:ext>
            </a:extLst>
          </p:cNvPr>
          <p:cNvSpPr>
            <a:spLocks noGrp="1"/>
          </p:cNvSpPr>
          <p:nvPr>
            <p:ph type="title"/>
          </p:nvPr>
        </p:nvSpPr>
        <p:spPr>
          <a:xfrm>
            <a:off x="677334" y="355852"/>
            <a:ext cx="5161992" cy="770021"/>
          </a:xfrm>
        </p:spPr>
        <p:txBody>
          <a:bodyPr/>
          <a:lstStyle/>
          <a:p>
            <a:r>
              <a:rPr lang="el-GR" dirty="0">
                <a:solidFill>
                  <a:schemeClr val="accent5"/>
                </a:solidFill>
              </a:rPr>
              <a:t>Απαιτήσεις Λειτουργιών</a:t>
            </a:r>
          </a:p>
        </p:txBody>
      </p:sp>
      <p:sp>
        <p:nvSpPr>
          <p:cNvPr id="3" name="Θέση περιεχομένου 2">
            <a:extLst>
              <a:ext uri="{FF2B5EF4-FFF2-40B4-BE49-F238E27FC236}">
                <a16:creationId xmlns:a16="http://schemas.microsoft.com/office/drawing/2014/main" id="{DF3D79BD-FD6F-5FBD-83CA-4F542EC4FE35}"/>
              </a:ext>
            </a:extLst>
          </p:cNvPr>
          <p:cNvSpPr>
            <a:spLocks noGrp="1"/>
          </p:cNvSpPr>
          <p:nvPr>
            <p:ph idx="1"/>
          </p:nvPr>
        </p:nvSpPr>
        <p:spPr>
          <a:xfrm>
            <a:off x="677333" y="1125872"/>
            <a:ext cx="8659171" cy="5210759"/>
          </a:xfrm>
        </p:spPr>
        <p:txBody>
          <a:bodyPr>
            <a:normAutofit fontScale="92500" lnSpcReduction="10000"/>
          </a:bodyPr>
          <a:lstStyle/>
          <a:p>
            <a:r>
              <a:rPr lang="el-GR" sz="1900" dirty="0"/>
              <a:t>Περιλαμβάνει τις λειτουργίες και τις συνδέσεις του ελεγκτή, αισθητήρων και περιφερειακών με αποτέλεσμα μεταφοράς επεξεργασίας δεδομένων σε </a:t>
            </a:r>
            <a:r>
              <a:rPr lang="en-US" sz="1900" dirty="0"/>
              <a:t>GUI </a:t>
            </a:r>
            <a:r>
              <a:rPr lang="el-GR" sz="1900" dirty="0"/>
              <a:t>σε πραγματικό χρόνο μετά τον συγχρονισμό.</a:t>
            </a:r>
          </a:p>
          <a:p>
            <a:r>
              <a:rPr lang="el-GR" sz="1900" dirty="0"/>
              <a:t>Διακοπή λειτουργίας αισθητήρα του συστήματος. </a:t>
            </a:r>
          </a:p>
          <a:p>
            <a:r>
              <a:rPr lang="el-GR" sz="1900" dirty="0"/>
              <a:t>Σωστή διαχείριση καλωδίων αφού θα υπάρχουν διάφοροι τρόποι συνδέσεις με στόχο σωστή πρόσβαση στο σώμα του χρήστη (Αισθητήρες Ε</a:t>
            </a:r>
            <a:r>
              <a:rPr lang="en-US" sz="1900" dirty="0"/>
              <a:t>DA</a:t>
            </a:r>
            <a:r>
              <a:rPr lang="el-GR" sz="1900" dirty="0"/>
              <a:t> και πιεσόμετρου).</a:t>
            </a:r>
          </a:p>
          <a:p>
            <a:r>
              <a:rPr lang="el-GR" sz="1900" dirty="0"/>
              <a:t>Το πιεσόμετρο πρέπει να έχει μία σταθερότητα για σωστή μέτρηση δεδομένων. </a:t>
            </a:r>
          </a:p>
          <a:p>
            <a:r>
              <a:rPr lang="el-GR" sz="1900" dirty="0"/>
              <a:t>Η ταχύτητα του μικροελεγκτή πρέπει να είναι σε τιμές </a:t>
            </a:r>
            <a:r>
              <a:rPr lang="en-US" sz="1900" dirty="0"/>
              <a:t>210-230 </a:t>
            </a:r>
            <a:r>
              <a:rPr lang="el-GR" sz="1900" dirty="0"/>
              <a:t>Μ</a:t>
            </a:r>
            <a:r>
              <a:rPr lang="en-US" sz="1900" dirty="0"/>
              <a:t>Hz, </a:t>
            </a:r>
            <a:r>
              <a:rPr lang="el-GR" sz="1900" dirty="0"/>
              <a:t>για να χρονολογηθούν οι αισθητήρες και σωστή απόκριση.</a:t>
            </a:r>
          </a:p>
          <a:p>
            <a:r>
              <a:rPr lang="el-GR" sz="1900" dirty="0"/>
              <a:t>Ελεγκτής με χαρακτηριστικό να μπορεί να έχει πολλές λειτουργίες την ίδια χρονική στιγμή και σωστή διαχείριση μνήμης.</a:t>
            </a:r>
          </a:p>
          <a:p>
            <a:r>
              <a:rPr lang="el-GR" sz="1900" dirty="0"/>
              <a:t>Οι αισθητήρες και η ταχύτητα του μικροελεγκτή ποιο συγκεκριμένα του επεξεργαστή μπορεί να έχει διαφορές στην ταχύτητα με αποτέλεσμα να χρειαστεί κάποια πρωτόκολλα χρήσης του συστήματος ή και άλλα μέσα όπως </a:t>
            </a:r>
            <a:r>
              <a:rPr lang="el-GR" sz="1900" b="1" dirty="0"/>
              <a:t>generator ή πολυπλέκτες </a:t>
            </a:r>
            <a:r>
              <a:rPr lang="el-GR" sz="1900" dirty="0"/>
              <a:t>για χρήση συγκεκριμένες απαιτήσεις.</a:t>
            </a:r>
          </a:p>
          <a:p>
            <a:endParaRPr lang="el-GR" dirty="0"/>
          </a:p>
          <a:p>
            <a:pPr marL="0" indent="0">
              <a:buNone/>
            </a:pPr>
            <a:endParaRPr lang="el-GR" dirty="0"/>
          </a:p>
        </p:txBody>
      </p:sp>
      <p:sp>
        <p:nvSpPr>
          <p:cNvPr id="4" name="Θέση αριθμού διαφάνειας 3">
            <a:extLst>
              <a:ext uri="{FF2B5EF4-FFF2-40B4-BE49-F238E27FC236}">
                <a16:creationId xmlns:a16="http://schemas.microsoft.com/office/drawing/2014/main" id="{CD23D634-A79E-CF92-AF8B-2AB49D90F9F5}"/>
              </a:ext>
            </a:extLst>
          </p:cNvPr>
          <p:cNvSpPr>
            <a:spLocks noGrp="1"/>
          </p:cNvSpPr>
          <p:nvPr>
            <p:ph type="sldNum" sz="quarter" idx="12"/>
          </p:nvPr>
        </p:nvSpPr>
        <p:spPr/>
        <p:txBody>
          <a:bodyPr/>
          <a:lstStyle/>
          <a:p>
            <a:fld id="{519954A3-9DFD-4C44-94BA-B95130A3BA1C}" type="slidenum">
              <a:rPr lang="en-US" smtClean="0"/>
              <a:t>11</a:t>
            </a:fld>
            <a:endParaRPr lang="en-US" dirty="0"/>
          </a:p>
        </p:txBody>
      </p:sp>
    </p:spTree>
    <p:extLst>
      <p:ext uri="{BB962C8B-B14F-4D97-AF65-F5344CB8AC3E}">
        <p14:creationId xmlns:p14="http://schemas.microsoft.com/office/powerpoint/2010/main" val="199932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74F14A1-6DBF-8945-43E4-6A0FAE7581DC}"/>
              </a:ext>
            </a:extLst>
          </p:cNvPr>
          <p:cNvSpPr>
            <a:spLocks noGrp="1"/>
          </p:cNvSpPr>
          <p:nvPr>
            <p:ph type="title"/>
          </p:nvPr>
        </p:nvSpPr>
        <p:spPr>
          <a:xfrm>
            <a:off x="677334" y="123825"/>
            <a:ext cx="4828116" cy="561975"/>
          </a:xfrm>
        </p:spPr>
        <p:txBody>
          <a:bodyPr>
            <a:normAutofit fontScale="90000"/>
          </a:bodyPr>
          <a:lstStyle/>
          <a:p>
            <a:r>
              <a:rPr lang="el-GR" dirty="0">
                <a:solidFill>
                  <a:schemeClr val="accent5"/>
                </a:solidFill>
              </a:rPr>
              <a:t>Προδιαγραφές Χρήστη</a:t>
            </a:r>
          </a:p>
        </p:txBody>
      </p:sp>
      <p:sp>
        <p:nvSpPr>
          <p:cNvPr id="8" name="Θέση περιεχομένου 7">
            <a:extLst>
              <a:ext uri="{FF2B5EF4-FFF2-40B4-BE49-F238E27FC236}">
                <a16:creationId xmlns:a16="http://schemas.microsoft.com/office/drawing/2014/main" id="{69C45CC9-285E-7610-C9AC-F250BE7ABC76}"/>
              </a:ext>
            </a:extLst>
          </p:cNvPr>
          <p:cNvSpPr>
            <a:spLocks noGrp="1"/>
          </p:cNvSpPr>
          <p:nvPr>
            <p:ph idx="1"/>
          </p:nvPr>
        </p:nvSpPr>
        <p:spPr>
          <a:xfrm>
            <a:off x="677334" y="681037"/>
            <a:ext cx="8596668" cy="6053138"/>
          </a:xfrm>
        </p:spPr>
        <p:txBody>
          <a:bodyPr>
            <a:normAutofit lnSpcReduction="10000"/>
          </a:bodyPr>
          <a:lstStyle/>
          <a:p>
            <a:r>
              <a:rPr lang="el-GR" b="1" dirty="0">
                <a:solidFill>
                  <a:schemeClr val="accent2"/>
                </a:solidFill>
              </a:rPr>
              <a:t>Εφαρμογές πολλαπλών αισθητήρων</a:t>
            </a:r>
            <a:r>
              <a:rPr lang="el-GR" dirty="0"/>
              <a:t>:</a:t>
            </a:r>
            <a:endParaRPr lang="en-US" dirty="0"/>
          </a:p>
          <a:p>
            <a:pPr>
              <a:buFont typeface="Wingdings" panose="05000000000000000000" pitchFamily="2" charset="2"/>
              <a:buChar char="§"/>
            </a:pPr>
            <a:r>
              <a:rPr lang="el-GR" dirty="0"/>
              <a:t>Χρήση διαφόρων αισθητήρων σε πραγματικό χρόνο.</a:t>
            </a:r>
          </a:p>
          <a:p>
            <a:pPr>
              <a:buFont typeface="Wingdings" panose="05000000000000000000" pitchFamily="2" charset="2"/>
              <a:buChar char="§"/>
            </a:pPr>
            <a:r>
              <a:rPr lang="el-GR" dirty="0"/>
              <a:t>Οι χρήστες μπορούν να επιλέξουν αισθητήρες με βάση τις προτιμήσεις τους.</a:t>
            </a:r>
          </a:p>
          <a:p>
            <a:r>
              <a:rPr lang="el-GR" b="1" dirty="0">
                <a:solidFill>
                  <a:schemeClr val="accent2"/>
                </a:solidFill>
              </a:rPr>
              <a:t>Ολοκληρωμένη βάση δεδομένων</a:t>
            </a:r>
            <a:r>
              <a:rPr lang="el-GR" dirty="0"/>
              <a:t>:</a:t>
            </a:r>
          </a:p>
          <a:p>
            <a:pPr>
              <a:buFont typeface="Wingdings" panose="05000000000000000000" pitchFamily="2" charset="2"/>
              <a:buChar char="§"/>
            </a:pPr>
            <a:r>
              <a:rPr lang="el-GR" dirty="0"/>
              <a:t>Περιεκτική βάση δεδομένων με όλα τα χαρακτηριστικά αισθητήρων.</a:t>
            </a:r>
          </a:p>
          <a:p>
            <a:pPr>
              <a:buFont typeface="Wingdings" panose="05000000000000000000" pitchFamily="2" charset="2"/>
              <a:buChar char="§"/>
            </a:pPr>
            <a:r>
              <a:rPr lang="el-GR" dirty="0"/>
              <a:t>Γραφική διεπαφή χρήστη (GUI) για εβδομαδιαία, ημερήσια ή μηνιαία ανάλυση δεδομένων.</a:t>
            </a:r>
            <a:endParaRPr lang="en-US" dirty="0"/>
          </a:p>
          <a:p>
            <a:r>
              <a:rPr lang="el-GR" b="1" dirty="0">
                <a:solidFill>
                  <a:schemeClr val="accent2"/>
                </a:solidFill>
              </a:rPr>
              <a:t>Προσαρμοστικά πεδία</a:t>
            </a:r>
            <a:r>
              <a:rPr lang="el-GR" dirty="0"/>
              <a:t>:</a:t>
            </a:r>
          </a:p>
          <a:p>
            <a:pPr>
              <a:buFont typeface="Wingdings" panose="05000000000000000000" pitchFamily="2" charset="2"/>
              <a:buChar char="§"/>
            </a:pPr>
            <a:r>
              <a:rPr lang="el-GR" dirty="0"/>
              <a:t>Τα πεδία λογισμικού προσαρμόζονται με βάση τα περιεχόμενα δεδομένα.</a:t>
            </a:r>
          </a:p>
          <a:p>
            <a:pPr>
              <a:buFont typeface="Wingdings" panose="05000000000000000000" pitchFamily="2" charset="2"/>
              <a:buChar char="§"/>
            </a:pPr>
            <a:r>
              <a:rPr lang="el-GR" dirty="0"/>
              <a:t>Το σύστημα προτείνει προτιμήσεις άσκησης για </a:t>
            </a:r>
            <a:r>
              <a:rPr lang="el-GR" b="1" dirty="0"/>
              <a:t>αθλήματα</a:t>
            </a:r>
            <a:r>
              <a:rPr lang="el-GR" dirty="0"/>
              <a:t> με βάση δεδομένα.</a:t>
            </a:r>
            <a:endParaRPr lang="en-US" dirty="0"/>
          </a:p>
          <a:p>
            <a:r>
              <a:rPr lang="el-GR" b="1" dirty="0">
                <a:solidFill>
                  <a:schemeClr val="accent2"/>
                </a:solidFill>
              </a:rPr>
              <a:t>Ειδοποιήσεις</a:t>
            </a:r>
            <a:r>
              <a:rPr lang="el-GR" dirty="0"/>
              <a:t>:</a:t>
            </a:r>
          </a:p>
          <a:p>
            <a:pPr>
              <a:buFont typeface="Wingdings" panose="05000000000000000000" pitchFamily="2" charset="2"/>
              <a:buChar char="§"/>
            </a:pPr>
            <a:r>
              <a:rPr lang="el-GR" dirty="0"/>
              <a:t>Οργανωμένες ειδοποιήσεις καθημερινής ρουτίνας άσκησης.</a:t>
            </a:r>
          </a:p>
          <a:p>
            <a:pPr>
              <a:buFont typeface="Wingdings" panose="05000000000000000000" pitchFamily="2" charset="2"/>
              <a:buChar char="§"/>
            </a:pPr>
            <a:r>
              <a:rPr lang="el-GR" dirty="0"/>
              <a:t>Ειδοποιήσεις για επόμενες ασκήσεις και προτιμήσεις.</a:t>
            </a:r>
          </a:p>
          <a:p>
            <a:r>
              <a:rPr lang="el-GR" b="1" dirty="0">
                <a:solidFill>
                  <a:schemeClr val="accent2"/>
                </a:solidFill>
              </a:rPr>
              <a:t>Παράδοση αποτελεσμάτων</a:t>
            </a:r>
            <a:r>
              <a:rPr lang="el-GR" dirty="0"/>
              <a:t>:</a:t>
            </a:r>
          </a:p>
          <a:p>
            <a:pPr>
              <a:buFont typeface="Wingdings" panose="05000000000000000000" pitchFamily="2" charset="2"/>
              <a:buChar char="§"/>
            </a:pPr>
            <a:r>
              <a:rPr lang="el-GR" dirty="0"/>
              <a:t>Αποτελέσματα στην οθόνη ή στην κινητή συσκευή.</a:t>
            </a:r>
          </a:p>
          <a:p>
            <a:pPr>
              <a:buFont typeface="Wingdings" panose="05000000000000000000" pitchFamily="2" charset="2"/>
              <a:buChar char="§"/>
            </a:pPr>
            <a:r>
              <a:rPr lang="el-GR" dirty="0"/>
              <a:t>Δυνατότητα κλεισίματος λειτουργιών με ένα μόνο πάτημα κουμπιού.</a:t>
            </a:r>
            <a:endParaRPr lang="en-US" dirty="0"/>
          </a:p>
          <a:p>
            <a:endParaRPr lang="en-US" dirty="0"/>
          </a:p>
          <a:p>
            <a:pPr marL="0" indent="0">
              <a:buNone/>
            </a:pPr>
            <a:endParaRPr lang="el-GR" dirty="0"/>
          </a:p>
        </p:txBody>
      </p:sp>
      <p:sp>
        <p:nvSpPr>
          <p:cNvPr id="3" name="Θέση αριθμού διαφάνειας 2">
            <a:extLst>
              <a:ext uri="{FF2B5EF4-FFF2-40B4-BE49-F238E27FC236}">
                <a16:creationId xmlns:a16="http://schemas.microsoft.com/office/drawing/2014/main" id="{0C08B894-6948-8571-16BA-3FD8ADCCEE0C}"/>
              </a:ext>
            </a:extLst>
          </p:cNvPr>
          <p:cNvSpPr>
            <a:spLocks noGrp="1"/>
          </p:cNvSpPr>
          <p:nvPr>
            <p:ph type="sldNum" sz="quarter" idx="12"/>
          </p:nvPr>
        </p:nvSpPr>
        <p:spPr/>
        <p:txBody>
          <a:bodyPr/>
          <a:lstStyle/>
          <a:p>
            <a:fld id="{519954A3-9DFD-4C44-94BA-B95130A3BA1C}" type="slidenum">
              <a:rPr lang="en-US" smtClean="0"/>
              <a:t>12</a:t>
            </a:fld>
            <a:endParaRPr lang="en-US" dirty="0"/>
          </a:p>
        </p:txBody>
      </p:sp>
    </p:spTree>
    <p:extLst>
      <p:ext uri="{BB962C8B-B14F-4D97-AF65-F5344CB8AC3E}">
        <p14:creationId xmlns:p14="http://schemas.microsoft.com/office/powerpoint/2010/main" val="1375266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3CB6B75-2C02-8619-97D9-5AF17367A736}"/>
              </a:ext>
            </a:extLst>
          </p:cNvPr>
          <p:cNvSpPr>
            <a:spLocks noGrp="1"/>
          </p:cNvSpPr>
          <p:nvPr>
            <p:ph type="title"/>
          </p:nvPr>
        </p:nvSpPr>
        <p:spPr>
          <a:xfrm>
            <a:off x="668868" y="0"/>
            <a:ext cx="5866341" cy="666750"/>
          </a:xfrm>
        </p:spPr>
        <p:txBody>
          <a:bodyPr>
            <a:normAutofit fontScale="90000"/>
          </a:bodyPr>
          <a:lstStyle/>
          <a:p>
            <a:r>
              <a:rPr lang="el-GR" dirty="0">
                <a:solidFill>
                  <a:schemeClr val="accent5"/>
                </a:solidFill>
              </a:rPr>
              <a:t>Προδιαγραφές Λειτουργιών (1)</a:t>
            </a:r>
          </a:p>
        </p:txBody>
      </p:sp>
      <p:sp>
        <p:nvSpPr>
          <p:cNvPr id="3" name="Θέση περιεχομένου 2">
            <a:extLst>
              <a:ext uri="{FF2B5EF4-FFF2-40B4-BE49-F238E27FC236}">
                <a16:creationId xmlns:a16="http://schemas.microsoft.com/office/drawing/2014/main" id="{7F33D314-455F-C1F6-2AAA-1048A7B58E81}"/>
              </a:ext>
            </a:extLst>
          </p:cNvPr>
          <p:cNvSpPr>
            <a:spLocks noGrp="1"/>
          </p:cNvSpPr>
          <p:nvPr>
            <p:ph idx="1"/>
          </p:nvPr>
        </p:nvSpPr>
        <p:spPr>
          <a:xfrm>
            <a:off x="668868" y="666750"/>
            <a:ext cx="8596668" cy="5849936"/>
          </a:xfrm>
        </p:spPr>
        <p:txBody>
          <a:bodyPr>
            <a:normAutofit fontScale="92500" lnSpcReduction="20000"/>
          </a:bodyPr>
          <a:lstStyle/>
          <a:p>
            <a:r>
              <a:rPr lang="el-GR" sz="1900" b="1" dirty="0">
                <a:solidFill>
                  <a:schemeClr val="accent2"/>
                </a:solidFill>
              </a:rPr>
              <a:t>Συχνότητα Μεταφοράς και Επίπεδο Πρόσβασης</a:t>
            </a:r>
            <a:r>
              <a:rPr lang="el-GR" sz="1900" dirty="0"/>
              <a:t>:</a:t>
            </a:r>
          </a:p>
          <a:p>
            <a:pPr>
              <a:buFont typeface="Wingdings" panose="05000000000000000000" pitchFamily="2" charset="2"/>
              <a:buChar char="§"/>
            </a:pPr>
            <a:r>
              <a:rPr lang="el-GR" sz="1900" dirty="0"/>
              <a:t>Απαιτεί ακριβή συγκεκριμένη απόδοση σε συχνότητα μεταφοράς.</a:t>
            </a:r>
          </a:p>
          <a:p>
            <a:pPr>
              <a:buFont typeface="Wingdings" panose="05000000000000000000" pitchFamily="2" charset="2"/>
              <a:buChar char="§"/>
            </a:pPr>
            <a:r>
              <a:rPr lang="el-GR" sz="1900" dirty="0"/>
              <a:t>Αναλυτική επεξεργασία βιομετρικών χαρακτηριστικών.</a:t>
            </a:r>
          </a:p>
          <a:p>
            <a:r>
              <a:rPr lang="el-GR" sz="1900" b="1" dirty="0">
                <a:solidFill>
                  <a:schemeClr val="accent2"/>
                </a:solidFill>
              </a:rPr>
              <a:t>Προδιαγραφή Λειτουργιών</a:t>
            </a:r>
            <a:r>
              <a:rPr lang="el-GR" sz="1900" dirty="0"/>
              <a:t>:</a:t>
            </a:r>
          </a:p>
          <a:p>
            <a:pPr>
              <a:buFont typeface="Wingdings" panose="05000000000000000000" pitchFamily="2" charset="2"/>
              <a:buChar char="§"/>
            </a:pPr>
            <a:r>
              <a:rPr lang="el-GR" sz="1900" dirty="0"/>
              <a:t>Βασίζεται σε προδιαγραφές λειτουργιών για αρχιτεκτονική σύμφωνα με τις απαιτήσεις.</a:t>
            </a:r>
          </a:p>
          <a:p>
            <a:pPr>
              <a:buFont typeface="Wingdings" panose="05000000000000000000" pitchFamily="2" charset="2"/>
              <a:buChar char="§"/>
            </a:pPr>
            <a:r>
              <a:rPr lang="el-GR" sz="1900" dirty="0"/>
              <a:t>Αποσκοπεί στην ικανοποίηση αναγκών χρηστών και λειτουργιών.</a:t>
            </a:r>
          </a:p>
          <a:p>
            <a:r>
              <a:rPr lang="el-GR" sz="1900" b="1" dirty="0">
                <a:solidFill>
                  <a:schemeClr val="accent2"/>
                </a:solidFill>
              </a:rPr>
              <a:t>Υλικό - Διασύνδεση και Ενεργειακή Απόδοση</a:t>
            </a:r>
            <a:r>
              <a:rPr lang="el-GR" sz="1900" dirty="0"/>
              <a:t>:</a:t>
            </a:r>
          </a:p>
          <a:p>
            <a:pPr>
              <a:buFont typeface="Wingdings" panose="05000000000000000000" pitchFamily="2" charset="2"/>
              <a:buChar char="§"/>
            </a:pPr>
            <a:r>
              <a:rPr lang="el-GR" sz="1900" dirty="0"/>
              <a:t>Διασύνδεση μεταξύ μικροελεγκτή, βιομετρικών αισθητήρων, διακοπτών και μνήμης.</a:t>
            </a:r>
          </a:p>
          <a:p>
            <a:pPr>
              <a:buFont typeface="Wingdings" panose="05000000000000000000" pitchFamily="2" charset="2"/>
              <a:buChar char="§"/>
            </a:pPr>
            <a:r>
              <a:rPr lang="el-GR" sz="1900" dirty="0"/>
              <a:t>Χρήση μπαταρίας με ασφάλεια συστήματος 20% άνω των απαιτούμενων τάσεων.</a:t>
            </a:r>
          </a:p>
          <a:p>
            <a:r>
              <a:rPr lang="el-GR" sz="1900" b="1" dirty="0">
                <a:solidFill>
                  <a:schemeClr val="accent2"/>
                </a:solidFill>
              </a:rPr>
              <a:t>Λειτουργίες Μεταφοράς Δεδομένων</a:t>
            </a:r>
            <a:r>
              <a:rPr lang="el-GR" sz="1900" dirty="0"/>
              <a:t>:</a:t>
            </a:r>
          </a:p>
          <a:p>
            <a:pPr>
              <a:buFont typeface="Wingdings" panose="05000000000000000000" pitchFamily="2" charset="2"/>
              <a:buChar char="§"/>
            </a:pPr>
            <a:r>
              <a:rPr lang="el-GR" sz="1900" dirty="0"/>
              <a:t>Σύνδεση Wi-Fi </a:t>
            </a:r>
            <a:r>
              <a:rPr lang="el-GR" sz="1900" dirty="0" err="1"/>
              <a:t>module</a:t>
            </a:r>
            <a:r>
              <a:rPr lang="el-GR" sz="1900" dirty="0"/>
              <a:t> για μεταφορά δεδομένων στη βάση.</a:t>
            </a:r>
          </a:p>
          <a:p>
            <a:pPr>
              <a:buFont typeface="Wingdings" panose="05000000000000000000" pitchFamily="2" charset="2"/>
              <a:buChar char="§"/>
            </a:pPr>
            <a:r>
              <a:rPr lang="el-GR" sz="1900" dirty="0"/>
              <a:t>Διεπαφή μεταξύ μνήμης και αισθητήρων για γρήγορη μετάδοση.</a:t>
            </a:r>
          </a:p>
          <a:p>
            <a:r>
              <a:rPr lang="el-GR" sz="1900" b="1" dirty="0">
                <a:solidFill>
                  <a:schemeClr val="accent2"/>
                </a:solidFill>
              </a:rPr>
              <a:t>Διαχείριση Ενέργειας και Ασφάλεια Συστήματος</a:t>
            </a:r>
            <a:r>
              <a:rPr lang="el-GR" sz="1900" dirty="0"/>
              <a:t>:</a:t>
            </a:r>
          </a:p>
          <a:p>
            <a:pPr>
              <a:buFont typeface="Wingdings" panose="05000000000000000000" pitchFamily="2" charset="2"/>
              <a:buChar char="§"/>
            </a:pPr>
            <a:r>
              <a:rPr lang="el-GR" sz="1900" dirty="0"/>
              <a:t>Ανάγκη για ρυθμίσεις διαχείρισης ενέργειας και ασφαλείας συστήματος.</a:t>
            </a:r>
          </a:p>
          <a:p>
            <a:pPr>
              <a:buFont typeface="Wingdings" panose="05000000000000000000" pitchFamily="2" charset="2"/>
              <a:buChar char="§"/>
            </a:pPr>
            <a:r>
              <a:rPr lang="el-GR" sz="1900" dirty="0"/>
              <a:t>Προσέγγιση τάσης μπαταρίας κατά %20 σφάλματος</a:t>
            </a:r>
            <a:r>
              <a:rPr lang="el-GR" dirty="0"/>
              <a:t>.</a:t>
            </a:r>
          </a:p>
        </p:txBody>
      </p:sp>
      <p:sp>
        <p:nvSpPr>
          <p:cNvPr id="4" name="Θέση αριθμού διαφάνειας 3">
            <a:extLst>
              <a:ext uri="{FF2B5EF4-FFF2-40B4-BE49-F238E27FC236}">
                <a16:creationId xmlns:a16="http://schemas.microsoft.com/office/drawing/2014/main" id="{D4B725C7-9AE6-F724-FE44-B9FCB62250FD}"/>
              </a:ext>
            </a:extLst>
          </p:cNvPr>
          <p:cNvSpPr>
            <a:spLocks noGrp="1"/>
          </p:cNvSpPr>
          <p:nvPr>
            <p:ph type="sldNum" sz="quarter" idx="12"/>
          </p:nvPr>
        </p:nvSpPr>
        <p:spPr/>
        <p:txBody>
          <a:bodyPr/>
          <a:lstStyle/>
          <a:p>
            <a:fld id="{519954A3-9DFD-4C44-94BA-B95130A3BA1C}" type="slidenum">
              <a:rPr lang="en-US" smtClean="0"/>
              <a:t>13</a:t>
            </a:fld>
            <a:endParaRPr lang="en-US" dirty="0"/>
          </a:p>
        </p:txBody>
      </p:sp>
    </p:spTree>
    <p:extLst>
      <p:ext uri="{BB962C8B-B14F-4D97-AF65-F5344CB8AC3E}">
        <p14:creationId xmlns:p14="http://schemas.microsoft.com/office/powerpoint/2010/main" val="3950477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3CB6B75-2C02-8619-97D9-5AF17367A736}"/>
              </a:ext>
            </a:extLst>
          </p:cNvPr>
          <p:cNvSpPr>
            <a:spLocks noGrp="1"/>
          </p:cNvSpPr>
          <p:nvPr>
            <p:ph type="title"/>
          </p:nvPr>
        </p:nvSpPr>
        <p:spPr>
          <a:xfrm>
            <a:off x="668868" y="0"/>
            <a:ext cx="5866341" cy="666750"/>
          </a:xfrm>
        </p:spPr>
        <p:txBody>
          <a:bodyPr>
            <a:normAutofit fontScale="90000"/>
          </a:bodyPr>
          <a:lstStyle/>
          <a:p>
            <a:r>
              <a:rPr lang="el-GR" dirty="0">
                <a:solidFill>
                  <a:schemeClr val="accent5"/>
                </a:solidFill>
              </a:rPr>
              <a:t>Προδιαγραφές Λειτουργιών (2)</a:t>
            </a:r>
          </a:p>
        </p:txBody>
      </p:sp>
      <p:sp>
        <p:nvSpPr>
          <p:cNvPr id="3" name="Θέση περιεχομένου 2">
            <a:extLst>
              <a:ext uri="{FF2B5EF4-FFF2-40B4-BE49-F238E27FC236}">
                <a16:creationId xmlns:a16="http://schemas.microsoft.com/office/drawing/2014/main" id="{7F33D314-455F-C1F6-2AAA-1048A7B58E81}"/>
              </a:ext>
            </a:extLst>
          </p:cNvPr>
          <p:cNvSpPr>
            <a:spLocks noGrp="1"/>
          </p:cNvSpPr>
          <p:nvPr>
            <p:ph idx="1"/>
          </p:nvPr>
        </p:nvSpPr>
        <p:spPr>
          <a:xfrm>
            <a:off x="668868" y="666750"/>
            <a:ext cx="8596668" cy="5849936"/>
          </a:xfrm>
        </p:spPr>
        <p:txBody>
          <a:bodyPr>
            <a:normAutofit fontScale="92500" lnSpcReduction="10000"/>
          </a:bodyPr>
          <a:lstStyle/>
          <a:p>
            <a:r>
              <a:rPr lang="el-GR" b="1" dirty="0">
                <a:solidFill>
                  <a:schemeClr val="accent2"/>
                </a:solidFill>
              </a:rPr>
              <a:t>Επεξεργασία Δεδομένων και Αλληλεπίδραση με Χρήστες</a:t>
            </a:r>
            <a:r>
              <a:rPr lang="el-GR" dirty="0"/>
              <a:t>:</a:t>
            </a:r>
          </a:p>
          <a:p>
            <a:pPr>
              <a:buFont typeface="Wingdings" panose="05000000000000000000" pitchFamily="2" charset="2"/>
              <a:buChar char="§"/>
            </a:pPr>
            <a:r>
              <a:rPr lang="el-GR" dirty="0"/>
              <a:t>Βάση δεδομένων για επεξεργασία δεδομένων.</a:t>
            </a:r>
          </a:p>
          <a:p>
            <a:pPr>
              <a:buFont typeface="Wingdings" panose="05000000000000000000" pitchFamily="2" charset="2"/>
              <a:buChar char="§"/>
            </a:pPr>
            <a:r>
              <a:rPr lang="el-GR" dirty="0"/>
              <a:t>Διεπαφή μεταξύ λογισμικού και χρηστών για αλληλεπίδραση.</a:t>
            </a:r>
          </a:p>
          <a:p>
            <a:r>
              <a:rPr lang="el-GR" b="1" dirty="0">
                <a:solidFill>
                  <a:schemeClr val="accent2"/>
                </a:solidFill>
              </a:rPr>
              <a:t>Επικοινωνία με Αισθητήρες</a:t>
            </a:r>
            <a:r>
              <a:rPr lang="el-GR" dirty="0"/>
              <a:t>:</a:t>
            </a:r>
          </a:p>
          <a:p>
            <a:pPr>
              <a:buFont typeface="Wingdings" panose="05000000000000000000" pitchFamily="2" charset="2"/>
              <a:buChar char="§"/>
            </a:pPr>
            <a:r>
              <a:rPr lang="el-GR" dirty="0"/>
              <a:t>Υποστήριξη συγκεκριμένων πρωτοκόλλων (SPI, UART, ή I</a:t>
            </a:r>
            <a:r>
              <a:rPr lang="el-GR" sz="1800" baseline="30000" dirty="0">
                <a:effectLst/>
                <a:ea typeface="Calibri" panose="020F0502020204030204" pitchFamily="34" charset="0"/>
              </a:rPr>
              <a:t>2</a:t>
            </a:r>
            <a:r>
              <a:rPr lang="el-GR" dirty="0"/>
              <a:t>C).</a:t>
            </a:r>
          </a:p>
          <a:p>
            <a:pPr>
              <a:buFont typeface="Wingdings" panose="05000000000000000000" pitchFamily="2" charset="2"/>
              <a:buChar char="§"/>
            </a:pPr>
            <a:r>
              <a:rPr lang="el-GR" dirty="0"/>
              <a:t>Ανάγκη για κατάλληλους αισθητήρες για λειτουργία στο σύστημα.</a:t>
            </a:r>
          </a:p>
          <a:p>
            <a:r>
              <a:rPr lang="el-GR" b="1" dirty="0">
                <a:solidFill>
                  <a:schemeClr val="accent2"/>
                </a:solidFill>
              </a:rPr>
              <a:t>Συχνότητα Λειτουργίας Μικροελεγκτή</a:t>
            </a:r>
            <a:r>
              <a:rPr lang="el-GR" dirty="0"/>
              <a:t>:</a:t>
            </a:r>
          </a:p>
          <a:p>
            <a:pPr>
              <a:buFont typeface="Wingdings" panose="05000000000000000000" pitchFamily="2" charset="2"/>
              <a:buChar char="§"/>
            </a:pPr>
            <a:r>
              <a:rPr lang="el-GR" dirty="0"/>
              <a:t>Απαιτεί συγκεκριμένες συχνότητες λειτουργίας για αποτελεσματική εκτέλεση.</a:t>
            </a:r>
          </a:p>
          <a:p>
            <a:pPr>
              <a:buFont typeface="Wingdings" panose="05000000000000000000" pitchFamily="2" charset="2"/>
              <a:buChar char="§"/>
            </a:pPr>
            <a:r>
              <a:rPr lang="el-GR" dirty="0"/>
              <a:t>Ευελιξία στον προγραμματισμό της συχνότητας ανάλογα με τις απαιτήσεις.</a:t>
            </a:r>
          </a:p>
          <a:p>
            <a:r>
              <a:rPr lang="el-GR" b="1" dirty="0">
                <a:solidFill>
                  <a:schemeClr val="accent2"/>
                </a:solidFill>
              </a:rPr>
              <a:t>Προσαρμοστικότητα Συστήματος</a:t>
            </a:r>
            <a:r>
              <a:rPr lang="el-GR" dirty="0"/>
              <a:t>:</a:t>
            </a:r>
          </a:p>
          <a:p>
            <a:pPr>
              <a:buFont typeface="Wingdings" panose="05000000000000000000" pitchFamily="2" charset="2"/>
              <a:buChar char="§"/>
            </a:pPr>
            <a:r>
              <a:rPr lang="el-GR" dirty="0"/>
              <a:t>Προσαρμογή της αρχιτεκτονικής σύμφωνα με τις ανάγκες και τις προδιαγραφές.</a:t>
            </a:r>
          </a:p>
          <a:p>
            <a:pPr>
              <a:buFont typeface="Wingdings" panose="05000000000000000000" pitchFamily="2" charset="2"/>
              <a:buChar char="§"/>
            </a:pPr>
            <a:r>
              <a:rPr lang="el-GR" dirty="0"/>
              <a:t>Εξειδίκευση λειτουργιών για αποτελεσματική απόδοση.</a:t>
            </a:r>
          </a:p>
          <a:p>
            <a:r>
              <a:rPr lang="el-GR" b="1" dirty="0">
                <a:solidFill>
                  <a:schemeClr val="accent2"/>
                </a:solidFill>
              </a:rPr>
              <a:t>Αρχιτεκτονική Μικροελεγκτή</a:t>
            </a:r>
            <a:r>
              <a:rPr lang="el-GR" dirty="0"/>
              <a:t>:</a:t>
            </a:r>
          </a:p>
          <a:p>
            <a:pPr>
              <a:buFont typeface="Wingdings" panose="05000000000000000000" pitchFamily="2" charset="2"/>
              <a:buChar char="§"/>
            </a:pPr>
            <a:r>
              <a:rPr lang="el-GR" dirty="0"/>
              <a:t>Ανάγκη για επαρκή αναφορά στο φύλλο δεδομένων ή εγχειρίδιο για ολοκληρωμένες πληροφορίες.</a:t>
            </a:r>
          </a:p>
          <a:p>
            <a:pPr>
              <a:buFont typeface="Wingdings" panose="05000000000000000000" pitchFamily="2" charset="2"/>
              <a:buChar char="§"/>
            </a:pPr>
            <a:r>
              <a:rPr lang="el-GR" dirty="0"/>
              <a:t>Εξειδίκευση των λεπτομερειών σύμφωνα με την αρχιτεκτονική και τον σχεδιασμό του μικροελεγκτή.</a:t>
            </a:r>
          </a:p>
        </p:txBody>
      </p:sp>
      <p:sp>
        <p:nvSpPr>
          <p:cNvPr id="4" name="Θέση αριθμού διαφάνειας 3">
            <a:extLst>
              <a:ext uri="{FF2B5EF4-FFF2-40B4-BE49-F238E27FC236}">
                <a16:creationId xmlns:a16="http://schemas.microsoft.com/office/drawing/2014/main" id="{8B1A94D0-4F23-EFD8-9312-A696F0946C73}"/>
              </a:ext>
            </a:extLst>
          </p:cNvPr>
          <p:cNvSpPr>
            <a:spLocks noGrp="1"/>
          </p:cNvSpPr>
          <p:nvPr>
            <p:ph type="sldNum" sz="quarter" idx="12"/>
          </p:nvPr>
        </p:nvSpPr>
        <p:spPr/>
        <p:txBody>
          <a:bodyPr/>
          <a:lstStyle/>
          <a:p>
            <a:fld id="{519954A3-9DFD-4C44-94BA-B95130A3BA1C}" type="slidenum">
              <a:rPr lang="en-US" smtClean="0"/>
              <a:t>14</a:t>
            </a:fld>
            <a:endParaRPr lang="en-US" dirty="0"/>
          </a:p>
        </p:txBody>
      </p:sp>
    </p:spTree>
    <p:extLst>
      <p:ext uri="{BB962C8B-B14F-4D97-AF65-F5344CB8AC3E}">
        <p14:creationId xmlns:p14="http://schemas.microsoft.com/office/powerpoint/2010/main" val="678692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D2CDA0B-6D0E-E250-10FE-08D0900A2A06}"/>
              </a:ext>
            </a:extLst>
          </p:cNvPr>
          <p:cNvSpPr>
            <a:spLocks noGrp="1"/>
          </p:cNvSpPr>
          <p:nvPr>
            <p:ph type="title"/>
          </p:nvPr>
        </p:nvSpPr>
        <p:spPr>
          <a:xfrm>
            <a:off x="856634" y="1095375"/>
            <a:ext cx="8238066" cy="752475"/>
          </a:xfrm>
        </p:spPr>
        <p:txBody>
          <a:bodyPr/>
          <a:lstStyle/>
          <a:p>
            <a:r>
              <a:rPr lang="el-GR" dirty="0">
                <a:solidFill>
                  <a:schemeClr val="accent5"/>
                </a:solidFill>
              </a:rPr>
              <a:t>Προσέγγιση Αρχιτεκτονικής Λογισμικού</a:t>
            </a:r>
          </a:p>
        </p:txBody>
      </p:sp>
      <p:pic>
        <p:nvPicPr>
          <p:cNvPr id="5" name="Θέση περιεχομένου 4">
            <a:extLst>
              <a:ext uri="{FF2B5EF4-FFF2-40B4-BE49-F238E27FC236}">
                <a16:creationId xmlns:a16="http://schemas.microsoft.com/office/drawing/2014/main" id="{7EB35B7A-52B4-B135-8070-309431876671}"/>
              </a:ext>
            </a:extLst>
          </p:cNvPr>
          <p:cNvPicPr>
            <a:picLocks noGrp="1" noChangeAspect="1"/>
          </p:cNvPicPr>
          <p:nvPr>
            <p:ph idx="1"/>
          </p:nvPr>
        </p:nvPicPr>
        <p:blipFill>
          <a:blip r:embed="rId2"/>
          <a:stretch>
            <a:fillRect/>
          </a:stretch>
        </p:blipFill>
        <p:spPr>
          <a:xfrm>
            <a:off x="2075305" y="2001044"/>
            <a:ext cx="5800725" cy="3629025"/>
          </a:xfrm>
        </p:spPr>
      </p:pic>
      <p:sp>
        <p:nvSpPr>
          <p:cNvPr id="3" name="Θέση αριθμού διαφάνειας 2">
            <a:extLst>
              <a:ext uri="{FF2B5EF4-FFF2-40B4-BE49-F238E27FC236}">
                <a16:creationId xmlns:a16="http://schemas.microsoft.com/office/drawing/2014/main" id="{24605400-094D-A810-95B8-44E49CACF45B}"/>
              </a:ext>
            </a:extLst>
          </p:cNvPr>
          <p:cNvSpPr>
            <a:spLocks noGrp="1"/>
          </p:cNvSpPr>
          <p:nvPr>
            <p:ph type="sldNum" sz="quarter" idx="12"/>
          </p:nvPr>
        </p:nvSpPr>
        <p:spPr/>
        <p:txBody>
          <a:bodyPr/>
          <a:lstStyle/>
          <a:p>
            <a:fld id="{519954A3-9DFD-4C44-94BA-B95130A3BA1C}" type="slidenum">
              <a:rPr lang="en-US" smtClean="0"/>
              <a:t>15</a:t>
            </a:fld>
            <a:endParaRPr lang="en-US" dirty="0"/>
          </a:p>
        </p:txBody>
      </p:sp>
    </p:spTree>
    <p:extLst>
      <p:ext uri="{BB962C8B-B14F-4D97-AF65-F5344CB8AC3E}">
        <p14:creationId xmlns:p14="http://schemas.microsoft.com/office/powerpoint/2010/main" val="2132321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654CCAE-1237-B17F-3A33-175001E5DD5E}"/>
              </a:ext>
            </a:extLst>
          </p:cNvPr>
          <p:cNvSpPr>
            <a:spLocks noGrp="1"/>
          </p:cNvSpPr>
          <p:nvPr>
            <p:ph type="title"/>
          </p:nvPr>
        </p:nvSpPr>
        <p:spPr>
          <a:xfrm>
            <a:off x="1166197" y="1182673"/>
            <a:ext cx="7390341" cy="723900"/>
          </a:xfrm>
        </p:spPr>
        <p:txBody>
          <a:bodyPr/>
          <a:lstStyle/>
          <a:p>
            <a:r>
              <a:rPr lang="el-GR" dirty="0">
                <a:solidFill>
                  <a:schemeClr val="accent5"/>
                </a:solidFill>
              </a:rPr>
              <a:t>Προσέγγιση Αρχιτεκτονικής Υλικού</a:t>
            </a:r>
            <a:endParaRPr lang="el-GR" dirty="0"/>
          </a:p>
        </p:txBody>
      </p:sp>
      <p:pic>
        <p:nvPicPr>
          <p:cNvPr id="6" name="Εικόνα 5">
            <a:extLst>
              <a:ext uri="{FF2B5EF4-FFF2-40B4-BE49-F238E27FC236}">
                <a16:creationId xmlns:a16="http://schemas.microsoft.com/office/drawing/2014/main" id="{BD65EFEB-E862-4B5D-3CCB-198E47696E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6881" y="1906573"/>
            <a:ext cx="5468971" cy="4219394"/>
          </a:xfrm>
          <a:prstGeom prst="rect">
            <a:avLst/>
          </a:prstGeom>
        </p:spPr>
      </p:pic>
      <p:sp>
        <p:nvSpPr>
          <p:cNvPr id="3" name="Θέση αριθμού διαφάνειας 2">
            <a:extLst>
              <a:ext uri="{FF2B5EF4-FFF2-40B4-BE49-F238E27FC236}">
                <a16:creationId xmlns:a16="http://schemas.microsoft.com/office/drawing/2014/main" id="{46602EE5-65A8-EDF1-27F5-8B32472316F0}"/>
              </a:ext>
            </a:extLst>
          </p:cNvPr>
          <p:cNvSpPr>
            <a:spLocks noGrp="1"/>
          </p:cNvSpPr>
          <p:nvPr>
            <p:ph type="sldNum" sz="quarter" idx="12"/>
          </p:nvPr>
        </p:nvSpPr>
        <p:spPr/>
        <p:txBody>
          <a:bodyPr/>
          <a:lstStyle/>
          <a:p>
            <a:fld id="{519954A3-9DFD-4C44-94BA-B95130A3BA1C}" type="slidenum">
              <a:rPr lang="en-US" smtClean="0"/>
              <a:t>16</a:t>
            </a:fld>
            <a:endParaRPr lang="en-US" dirty="0"/>
          </a:p>
        </p:txBody>
      </p:sp>
    </p:spTree>
    <p:extLst>
      <p:ext uri="{BB962C8B-B14F-4D97-AF65-F5344CB8AC3E}">
        <p14:creationId xmlns:p14="http://schemas.microsoft.com/office/powerpoint/2010/main" val="3275071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8C7586E-3A96-E4A8-0933-09DBD7E04A8A}"/>
              </a:ext>
            </a:extLst>
          </p:cNvPr>
          <p:cNvSpPr>
            <a:spLocks noGrp="1"/>
          </p:cNvSpPr>
          <p:nvPr>
            <p:ph type="title"/>
          </p:nvPr>
        </p:nvSpPr>
        <p:spPr>
          <a:xfrm>
            <a:off x="677335" y="1533652"/>
            <a:ext cx="8596668" cy="1826581"/>
          </a:xfrm>
        </p:spPr>
        <p:txBody>
          <a:bodyPr/>
          <a:lstStyle/>
          <a:p>
            <a:r>
              <a:rPr lang="el-GR" dirty="0">
                <a:solidFill>
                  <a:schemeClr val="accent6"/>
                </a:solidFill>
              </a:rPr>
              <a:t>ΣΤΑΔΙΟ </a:t>
            </a:r>
            <a:r>
              <a:rPr lang="en-US" dirty="0">
                <a:solidFill>
                  <a:schemeClr val="accent6"/>
                </a:solidFill>
              </a:rPr>
              <a:t>B</a:t>
            </a:r>
            <a:endParaRPr lang="el-GR" dirty="0">
              <a:solidFill>
                <a:schemeClr val="accent6"/>
              </a:solidFill>
            </a:endParaRPr>
          </a:p>
        </p:txBody>
      </p:sp>
      <p:sp>
        <p:nvSpPr>
          <p:cNvPr id="3" name="Θέση κειμένου 2">
            <a:extLst>
              <a:ext uri="{FF2B5EF4-FFF2-40B4-BE49-F238E27FC236}">
                <a16:creationId xmlns:a16="http://schemas.microsoft.com/office/drawing/2014/main" id="{C5ED2880-6830-3A42-1752-547F285BF040}"/>
              </a:ext>
            </a:extLst>
          </p:cNvPr>
          <p:cNvSpPr>
            <a:spLocks noGrp="1"/>
          </p:cNvSpPr>
          <p:nvPr>
            <p:ph type="body" idx="1"/>
          </p:nvPr>
        </p:nvSpPr>
        <p:spPr>
          <a:xfrm>
            <a:off x="677335" y="3475416"/>
            <a:ext cx="8596668" cy="2447212"/>
          </a:xfrm>
        </p:spPr>
        <p:txBody>
          <a:bodyPr>
            <a:normAutofit fontScale="32500" lnSpcReduction="20000"/>
          </a:bodyPr>
          <a:lstStyle/>
          <a:p>
            <a:r>
              <a:rPr lang="el-GR" sz="7200" dirty="0">
                <a:solidFill>
                  <a:schemeClr val="tx1"/>
                </a:solidFill>
              </a:rPr>
              <a:t>Στο στάδιο </a:t>
            </a:r>
            <a:r>
              <a:rPr lang="en-US" sz="7200" dirty="0">
                <a:solidFill>
                  <a:schemeClr val="tx1"/>
                </a:solidFill>
              </a:rPr>
              <a:t>B </a:t>
            </a:r>
            <a:r>
              <a:rPr lang="el-GR" sz="7200" dirty="0">
                <a:solidFill>
                  <a:schemeClr val="tx1"/>
                </a:solidFill>
              </a:rPr>
              <a:t>περιγράφουμε ποιο συγκεκριμένα το σύστημα με χαρακτηριστικά και αιτιολογήσεις. Που για ένα σύστημα είναι:</a:t>
            </a:r>
          </a:p>
          <a:p>
            <a:r>
              <a:rPr lang="el-GR" sz="7200" dirty="0">
                <a:solidFill>
                  <a:schemeClr val="accent5"/>
                </a:solidFill>
              </a:rPr>
              <a:t>•</a:t>
            </a:r>
            <a:r>
              <a:rPr lang="en-US" sz="7200" dirty="0">
                <a:solidFill>
                  <a:schemeClr val="accent5"/>
                </a:solidFill>
              </a:rPr>
              <a:t> </a:t>
            </a:r>
            <a:r>
              <a:rPr lang="el-GR" sz="7200" dirty="0">
                <a:solidFill>
                  <a:schemeClr val="accent5"/>
                </a:solidFill>
              </a:rPr>
              <a:t>Αρχιτεκτονική Υλικού </a:t>
            </a:r>
            <a:endParaRPr lang="en-US" sz="7200" dirty="0">
              <a:solidFill>
                <a:schemeClr val="accent5"/>
              </a:solidFill>
            </a:endParaRPr>
          </a:p>
          <a:p>
            <a:r>
              <a:rPr lang="el-GR" sz="7200" dirty="0">
                <a:solidFill>
                  <a:schemeClr val="accent5"/>
                </a:solidFill>
              </a:rPr>
              <a:t>• Αρχιτεκτονική Λογισμικού </a:t>
            </a:r>
          </a:p>
          <a:p>
            <a:r>
              <a:rPr lang="el-GR" sz="7200" dirty="0">
                <a:solidFill>
                  <a:schemeClr val="accent5"/>
                </a:solidFill>
              </a:rPr>
              <a:t>• Σχεδιασμός Συνολικού Συστήματος</a:t>
            </a:r>
          </a:p>
          <a:p>
            <a:r>
              <a:rPr lang="el-GR" sz="7200" dirty="0">
                <a:solidFill>
                  <a:schemeClr val="accent5"/>
                </a:solidFill>
              </a:rPr>
              <a:t>• Σχεδιασμός Συστατικών Συστήματος/Υποσυστημάτων</a:t>
            </a:r>
          </a:p>
          <a:p>
            <a:endParaRPr lang="el-GR" dirty="0"/>
          </a:p>
        </p:txBody>
      </p:sp>
      <p:sp>
        <p:nvSpPr>
          <p:cNvPr id="4" name="Θέση αριθμού διαφάνειας 3">
            <a:extLst>
              <a:ext uri="{FF2B5EF4-FFF2-40B4-BE49-F238E27FC236}">
                <a16:creationId xmlns:a16="http://schemas.microsoft.com/office/drawing/2014/main" id="{DDCB774C-AC45-133F-F957-18B2AD836446}"/>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Tree>
    <p:extLst>
      <p:ext uri="{BB962C8B-B14F-4D97-AF65-F5344CB8AC3E}">
        <p14:creationId xmlns:p14="http://schemas.microsoft.com/office/powerpoint/2010/main" val="407658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C9A783F-4813-25E6-E724-568E733A5162}"/>
              </a:ext>
            </a:extLst>
          </p:cNvPr>
          <p:cNvSpPr>
            <a:spLocks noGrp="1"/>
          </p:cNvSpPr>
          <p:nvPr>
            <p:ph type="title"/>
          </p:nvPr>
        </p:nvSpPr>
        <p:spPr>
          <a:xfrm>
            <a:off x="668868" y="2160589"/>
            <a:ext cx="4830232" cy="747711"/>
          </a:xfrm>
        </p:spPr>
        <p:txBody>
          <a:bodyPr>
            <a:normAutofit fontScale="90000"/>
          </a:bodyPr>
          <a:lstStyle/>
          <a:p>
            <a:r>
              <a:rPr lang="el-GR" dirty="0">
                <a:solidFill>
                  <a:schemeClr val="accent5"/>
                </a:solidFill>
              </a:rPr>
              <a:t>Αρχιτεκτονική Υλικού</a:t>
            </a:r>
            <a:r>
              <a:rPr lang="en-US" dirty="0">
                <a:solidFill>
                  <a:schemeClr val="accent5"/>
                </a:solidFill>
              </a:rPr>
              <a:t> (1)</a:t>
            </a:r>
            <a:endParaRPr lang="el-GR" dirty="0">
              <a:solidFill>
                <a:schemeClr val="accent5"/>
              </a:solidFill>
            </a:endParaRPr>
          </a:p>
        </p:txBody>
      </p:sp>
      <p:sp>
        <p:nvSpPr>
          <p:cNvPr id="3" name="Θέση περιεχομένου 2">
            <a:extLst>
              <a:ext uri="{FF2B5EF4-FFF2-40B4-BE49-F238E27FC236}">
                <a16:creationId xmlns:a16="http://schemas.microsoft.com/office/drawing/2014/main" id="{1B2BB6AA-9790-8BD3-7732-7F69AE3317BD}"/>
              </a:ext>
            </a:extLst>
          </p:cNvPr>
          <p:cNvSpPr>
            <a:spLocks noGrp="1"/>
          </p:cNvSpPr>
          <p:nvPr>
            <p:ph idx="1"/>
          </p:nvPr>
        </p:nvSpPr>
        <p:spPr>
          <a:xfrm>
            <a:off x="668868" y="2908300"/>
            <a:ext cx="8441266" cy="2474911"/>
          </a:xfrm>
        </p:spPr>
        <p:txBody>
          <a:bodyPr/>
          <a:lstStyle/>
          <a:p>
            <a:pPr marL="0" indent="0">
              <a:buNone/>
            </a:pPr>
            <a:r>
              <a:rPr lang="el-GR" dirty="0"/>
              <a:t>Διαφορετικά από την προσέγγιση που είχαμε στο Στάδιο Β σε αυτή την υλοποίηση έχουμε μία ποιο συγκεκριμένη με αποτέλεσμα να έχουμε κάθε υποσύστημα με την ονομασία του.</a:t>
            </a:r>
          </a:p>
          <a:p>
            <a:pPr marL="0" indent="0">
              <a:buNone/>
            </a:pPr>
            <a:r>
              <a:rPr lang="el-GR" dirty="0"/>
              <a:t>Εκτός από την αρχιτεκτονική περιγράφουμε τις βιομετρικές αισθητήρες με την συνδεσιμότητα του.</a:t>
            </a:r>
          </a:p>
          <a:p>
            <a:pPr marL="0" indent="0">
              <a:buNone/>
            </a:pPr>
            <a:r>
              <a:rPr lang="el-GR" dirty="0"/>
              <a:t>Αλλά και υλοποιήσεις για αποστολή, διατήρηση δεδομένων που είναι το </a:t>
            </a:r>
            <a:r>
              <a:rPr lang="en-US" dirty="0"/>
              <a:t>Wi-Fi SoC </a:t>
            </a:r>
            <a:r>
              <a:rPr lang="el-GR" dirty="0"/>
              <a:t>και </a:t>
            </a:r>
            <a:r>
              <a:rPr lang="en-US" dirty="0"/>
              <a:t>SD Card.</a:t>
            </a:r>
            <a:endParaRPr lang="el-GR" dirty="0"/>
          </a:p>
        </p:txBody>
      </p:sp>
      <p:sp>
        <p:nvSpPr>
          <p:cNvPr id="4" name="Θέση αριθμού διαφάνειας 3">
            <a:extLst>
              <a:ext uri="{FF2B5EF4-FFF2-40B4-BE49-F238E27FC236}">
                <a16:creationId xmlns:a16="http://schemas.microsoft.com/office/drawing/2014/main" id="{EF7AFA51-6A4B-E8D9-DC08-583CCD8015DB}"/>
              </a:ext>
            </a:extLst>
          </p:cNvPr>
          <p:cNvSpPr>
            <a:spLocks noGrp="1"/>
          </p:cNvSpPr>
          <p:nvPr>
            <p:ph type="sldNum" sz="quarter" idx="12"/>
          </p:nvPr>
        </p:nvSpPr>
        <p:spPr/>
        <p:txBody>
          <a:bodyPr/>
          <a:lstStyle/>
          <a:p>
            <a:fld id="{519954A3-9DFD-4C44-94BA-B95130A3BA1C}" type="slidenum">
              <a:rPr lang="en-US" smtClean="0"/>
              <a:t>18</a:t>
            </a:fld>
            <a:endParaRPr lang="en-US" dirty="0"/>
          </a:p>
        </p:txBody>
      </p:sp>
    </p:spTree>
    <p:extLst>
      <p:ext uri="{BB962C8B-B14F-4D97-AF65-F5344CB8AC3E}">
        <p14:creationId xmlns:p14="http://schemas.microsoft.com/office/powerpoint/2010/main" val="3662641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C9A783F-4813-25E6-E724-568E733A5162}"/>
              </a:ext>
            </a:extLst>
          </p:cNvPr>
          <p:cNvSpPr>
            <a:spLocks noGrp="1"/>
          </p:cNvSpPr>
          <p:nvPr>
            <p:ph type="title"/>
          </p:nvPr>
        </p:nvSpPr>
        <p:spPr>
          <a:xfrm>
            <a:off x="960762" y="598489"/>
            <a:ext cx="4830232" cy="747711"/>
          </a:xfrm>
        </p:spPr>
        <p:txBody>
          <a:bodyPr>
            <a:normAutofit fontScale="90000"/>
          </a:bodyPr>
          <a:lstStyle/>
          <a:p>
            <a:r>
              <a:rPr lang="el-GR" dirty="0">
                <a:solidFill>
                  <a:schemeClr val="accent5"/>
                </a:solidFill>
              </a:rPr>
              <a:t>Αρχιτεκτονική Υλικού</a:t>
            </a:r>
            <a:r>
              <a:rPr lang="en-US" dirty="0">
                <a:solidFill>
                  <a:schemeClr val="accent5"/>
                </a:solidFill>
              </a:rPr>
              <a:t> (2)</a:t>
            </a:r>
            <a:endParaRPr lang="el-GR" dirty="0">
              <a:solidFill>
                <a:schemeClr val="accent5"/>
              </a:solidFill>
            </a:endParaRPr>
          </a:p>
        </p:txBody>
      </p:sp>
      <p:pic>
        <p:nvPicPr>
          <p:cNvPr id="4" name="Θέση περιεχομένου 3">
            <a:extLst>
              <a:ext uri="{FF2B5EF4-FFF2-40B4-BE49-F238E27FC236}">
                <a16:creationId xmlns:a16="http://schemas.microsoft.com/office/drawing/2014/main" id="{6E178D76-C578-3F54-D961-78DEB27D294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88168" y="1346200"/>
            <a:ext cx="4830232" cy="4873647"/>
          </a:xfrm>
          <a:prstGeom prst="rect">
            <a:avLst/>
          </a:prstGeom>
          <a:noFill/>
          <a:ln>
            <a:noFill/>
          </a:ln>
        </p:spPr>
      </p:pic>
      <p:sp>
        <p:nvSpPr>
          <p:cNvPr id="3" name="Θέση αριθμού διαφάνειας 2">
            <a:extLst>
              <a:ext uri="{FF2B5EF4-FFF2-40B4-BE49-F238E27FC236}">
                <a16:creationId xmlns:a16="http://schemas.microsoft.com/office/drawing/2014/main" id="{DDEE0915-D0AD-2EB9-07D5-FCE89ABFC5E0}"/>
              </a:ext>
            </a:extLst>
          </p:cNvPr>
          <p:cNvSpPr>
            <a:spLocks noGrp="1"/>
          </p:cNvSpPr>
          <p:nvPr>
            <p:ph type="sldNum" sz="quarter" idx="12"/>
          </p:nvPr>
        </p:nvSpPr>
        <p:spPr/>
        <p:txBody>
          <a:bodyPr/>
          <a:lstStyle/>
          <a:p>
            <a:fld id="{519954A3-9DFD-4C44-94BA-B95130A3BA1C}" type="slidenum">
              <a:rPr lang="en-US" smtClean="0"/>
              <a:t>19</a:t>
            </a:fld>
            <a:endParaRPr lang="en-US" dirty="0"/>
          </a:p>
        </p:txBody>
      </p:sp>
    </p:spTree>
    <p:extLst>
      <p:ext uri="{BB962C8B-B14F-4D97-AF65-F5344CB8AC3E}">
        <p14:creationId xmlns:p14="http://schemas.microsoft.com/office/powerpoint/2010/main" val="1888104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81069C3-47B2-2F16-1228-49EBE43FC389}"/>
              </a:ext>
            </a:extLst>
          </p:cNvPr>
          <p:cNvSpPr>
            <a:spLocks noGrp="1"/>
          </p:cNvSpPr>
          <p:nvPr>
            <p:ph type="title"/>
          </p:nvPr>
        </p:nvSpPr>
        <p:spPr>
          <a:xfrm>
            <a:off x="677334" y="2171700"/>
            <a:ext cx="8415866" cy="863600"/>
          </a:xfrm>
        </p:spPr>
        <p:txBody>
          <a:bodyPr/>
          <a:lstStyle/>
          <a:p>
            <a:r>
              <a:rPr lang="el-GR" dirty="0"/>
              <a:t>Συγκεκριμένοι Βιομετρικές Αισθητήρες</a:t>
            </a:r>
          </a:p>
        </p:txBody>
      </p:sp>
      <p:sp>
        <p:nvSpPr>
          <p:cNvPr id="3" name="Θέση περιεχομένου 2">
            <a:extLst>
              <a:ext uri="{FF2B5EF4-FFF2-40B4-BE49-F238E27FC236}">
                <a16:creationId xmlns:a16="http://schemas.microsoft.com/office/drawing/2014/main" id="{B40B341A-12F1-32D9-89B3-2538C7F8375E}"/>
              </a:ext>
            </a:extLst>
          </p:cNvPr>
          <p:cNvSpPr>
            <a:spLocks noGrp="1"/>
          </p:cNvSpPr>
          <p:nvPr>
            <p:ph idx="1"/>
          </p:nvPr>
        </p:nvSpPr>
        <p:spPr>
          <a:xfrm>
            <a:off x="677334" y="3187701"/>
            <a:ext cx="8596668" cy="2159000"/>
          </a:xfrm>
        </p:spPr>
        <p:txBody>
          <a:bodyPr/>
          <a:lstStyle/>
          <a:p>
            <a:r>
              <a:rPr lang="el-GR" dirty="0"/>
              <a:t>Αισθητήρας Καρδιακών Παλμών και </a:t>
            </a:r>
            <a:r>
              <a:rPr lang="en-US" dirty="0"/>
              <a:t>SpO2-</a:t>
            </a:r>
            <a:r>
              <a:rPr lang="en-US" b="1" dirty="0"/>
              <a:t>MAX30102</a:t>
            </a:r>
          </a:p>
          <a:p>
            <a:r>
              <a:rPr lang="el-GR" dirty="0"/>
              <a:t>Αισθητήρας Θερμοκρασίας (Θερμίστορ)- </a:t>
            </a:r>
            <a:r>
              <a:rPr lang="en-US" b="1" dirty="0"/>
              <a:t>DS18B20 </a:t>
            </a:r>
            <a:endParaRPr lang="el-GR" b="1" dirty="0"/>
          </a:p>
          <a:p>
            <a:r>
              <a:rPr lang="el-GR" dirty="0"/>
              <a:t>Επιταχυνσιόμετρο-</a:t>
            </a:r>
            <a:r>
              <a:rPr lang="en-US" b="1" dirty="0"/>
              <a:t>ADXL345 </a:t>
            </a:r>
            <a:endParaRPr lang="el-GR" b="1" dirty="0"/>
          </a:p>
          <a:p>
            <a:r>
              <a:rPr lang="el-GR" dirty="0"/>
              <a:t>Ηλεκτροδεριμικός (</a:t>
            </a:r>
            <a:r>
              <a:rPr lang="en-US" dirty="0"/>
              <a:t>EDA</a:t>
            </a:r>
            <a:r>
              <a:rPr lang="el-GR" dirty="0"/>
              <a:t>) Αισθητήρας- </a:t>
            </a:r>
            <a:r>
              <a:rPr lang="en-US" b="1" dirty="0"/>
              <a:t>Grove-GSR Sensor</a:t>
            </a:r>
            <a:endParaRPr lang="el-GR" b="1" dirty="0"/>
          </a:p>
          <a:p>
            <a:r>
              <a:rPr lang="el-GR" dirty="0"/>
              <a:t>Αισθητήρας Πίεσης Αίματος (Πιεσόμετρο)- </a:t>
            </a:r>
            <a:r>
              <a:rPr lang="en-US" b="1" dirty="0"/>
              <a:t>TIDM-BPM</a:t>
            </a:r>
            <a:r>
              <a:rPr lang="en-US" dirty="0"/>
              <a:t> </a:t>
            </a:r>
            <a:endParaRPr lang="el-GR" dirty="0"/>
          </a:p>
          <a:p>
            <a:endParaRPr lang="el-GR" dirty="0"/>
          </a:p>
        </p:txBody>
      </p:sp>
      <p:sp>
        <p:nvSpPr>
          <p:cNvPr id="4" name="Θέση αριθμού διαφάνειας 3">
            <a:extLst>
              <a:ext uri="{FF2B5EF4-FFF2-40B4-BE49-F238E27FC236}">
                <a16:creationId xmlns:a16="http://schemas.microsoft.com/office/drawing/2014/main" id="{62E39971-29B0-A482-58D5-050A2CF4B592}"/>
              </a:ext>
            </a:extLst>
          </p:cNvPr>
          <p:cNvSpPr>
            <a:spLocks noGrp="1"/>
          </p:cNvSpPr>
          <p:nvPr>
            <p:ph type="sldNum" sz="quarter" idx="12"/>
          </p:nvPr>
        </p:nvSpPr>
        <p:spPr/>
        <p:txBody>
          <a:bodyPr/>
          <a:lstStyle/>
          <a:p>
            <a:fld id="{519954A3-9DFD-4C44-94BA-B95130A3BA1C}" type="slidenum">
              <a:rPr lang="en-US" smtClean="0"/>
              <a:t>20</a:t>
            </a:fld>
            <a:endParaRPr lang="en-US" dirty="0"/>
          </a:p>
        </p:txBody>
      </p:sp>
    </p:spTree>
    <p:extLst>
      <p:ext uri="{BB962C8B-B14F-4D97-AF65-F5344CB8AC3E}">
        <p14:creationId xmlns:p14="http://schemas.microsoft.com/office/powerpoint/2010/main" val="3126215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24A35FA-DBE1-3A53-EAFA-66310D3A0B54}"/>
              </a:ext>
            </a:extLst>
          </p:cNvPr>
          <p:cNvSpPr>
            <a:spLocks noGrp="1"/>
          </p:cNvSpPr>
          <p:nvPr>
            <p:ph type="title"/>
          </p:nvPr>
        </p:nvSpPr>
        <p:spPr>
          <a:xfrm>
            <a:off x="677334" y="609600"/>
            <a:ext cx="9076266" cy="685800"/>
          </a:xfrm>
        </p:spPr>
        <p:txBody>
          <a:bodyPr/>
          <a:lstStyle/>
          <a:p>
            <a:r>
              <a:rPr lang="el-GR" dirty="0"/>
              <a:t>Αισθητήρας Καρδιακών Παλμών και </a:t>
            </a:r>
            <a:r>
              <a:rPr lang="en-US" dirty="0"/>
              <a:t>SpO2</a:t>
            </a:r>
            <a:endParaRPr lang="el-GR" dirty="0"/>
          </a:p>
        </p:txBody>
      </p:sp>
      <p:sp>
        <p:nvSpPr>
          <p:cNvPr id="3" name="Θέση περιεχομένου 2">
            <a:extLst>
              <a:ext uri="{FF2B5EF4-FFF2-40B4-BE49-F238E27FC236}">
                <a16:creationId xmlns:a16="http://schemas.microsoft.com/office/drawing/2014/main" id="{91CB7D0A-3875-4238-FA1D-3F14342839D6}"/>
              </a:ext>
            </a:extLst>
          </p:cNvPr>
          <p:cNvSpPr>
            <a:spLocks noGrp="1"/>
          </p:cNvSpPr>
          <p:nvPr>
            <p:ph idx="1"/>
          </p:nvPr>
        </p:nvSpPr>
        <p:spPr>
          <a:xfrm>
            <a:off x="706968" y="1309689"/>
            <a:ext cx="9190566" cy="5307011"/>
          </a:xfrm>
        </p:spPr>
        <p:txBody>
          <a:bodyPr/>
          <a:lstStyle/>
          <a:p>
            <a:r>
              <a:rPr lang="el-GR" dirty="0"/>
              <a:t>Ο αισθητήρας που χρησιμοποιούμε είναι ο MAX30102 της εταιρίας Maxim Integrated. Έχει το σκοπό να λειτουργεί με φωτοανιχνευτές</a:t>
            </a:r>
            <a:r>
              <a:rPr lang="en-US" dirty="0"/>
              <a:t> (photodetectors)</a:t>
            </a:r>
            <a:r>
              <a:rPr lang="el-GR" dirty="0"/>
              <a:t> για τις λειτουργικότητες καρδιακών παλμών και </a:t>
            </a:r>
            <a:r>
              <a:rPr lang="en-US" dirty="0"/>
              <a:t>SpO2.</a:t>
            </a:r>
            <a:r>
              <a:rPr lang="el-GR" dirty="0"/>
              <a:t> Λειτουργεί με δύο τροφοδοτικά που το ένα είναι για το κύκλωμα (1,8</a:t>
            </a:r>
            <a:r>
              <a:rPr lang="en-US" dirty="0"/>
              <a:t>V</a:t>
            </a:r>
            <a:r>
              <a:rPr lang="el-GR" dirty="0"/>
              <a:t>) ενώ το άλλο για τα </a:t>
            </a:r>
            <a:r>
              <a:rPr lang="en-US" dirty="0"/>
              <a:t>LEDs (3,3V) </a:t>
            </a:r>
            <a:r>
              <a:rPr lang="el-GR" dirty="0"/>
              <a:t>που παρέχει.</a:t>
            </a:r>
          </a:p>
          <a:p>
            <a:r>
              <a:rPr lang="el-GR" dirty="0"/>
              <a:t>Χρησιμοποιεί το </a:t>
            </a:r>
            <a:r>
              <a:rPr lang="el-GR" sz="1800" dirty="0">
                <a:effectLst/>
                <a:ea typeface="Calibri" panose="020F0502020204030204" pitchFamily="34" charset="0"/>
              </a:rPr>
              <a:t>I</a:t>
            </a:r>
            <a:r>
              <a:rPr lang="el-GR" sz="1800" baseline="30000" dirty="0">
                <a:effectLst/>
                <a:ea typeface="Calibri" panose="020F0502020204030204" pitchFamily="34" charset="0"/>
              </a:rPr>
              <a:t>2</a:t>
            </a:r>
            <a:r>
              <a:rPr lang="el-GR" sz="1800" dirty="0">
                <a:effectLst/>
                <a:ea typeface="Calibri" panose="020F0502020204030204" pitchFamily="34" charset="0"/>
              </a:rPr>
              <a:t>C πρωτόκολλο για την διασύνδεση και μπορεί να </a:t>
            </a:r>
            <a:r>
              <a:rPr lang="el-GR" dirty="0">
                <a:ea typeface="Calibri" panose="020F0502020204030204" pitchFamily="34" charset="0"/>
              </a:rPr>
              <a:t>τερματιστεί μέσο λογισμικού που για μεγιστοποιημένη λειτουργία μπορεί να έχει έως 20</a:t>
            </a:r>
            <a:r>
              <a:rPr lang="en-US" dirty="0">
                <a:ea typeface="Calibri" panose="020F0502020204030204" pitchFamily="34" charset="0"/>
              </a:rPr>
              <a:t>mA.</a:t>
            </a:r>
            <a:endParaRPr lang="el-GR" dirty="0"/>
          </a:p>
          <a:p>
            <a:pPr marL="0" indent="0">
              <a:buNone/>
            </a:pPr>
            <a:endParaRPr lang="el-GR" dirty="0"/>
          </a:p>
        </p:txBody>
      </p:sp>
      <p:pic>
        <p:nvPicPr>
          <p:cNvPr id="5" name="Εικόνα 4">
            <a:extLst>
              <a:ext uri="{FF2B5EF4-FFF2-40B4-BE49-F238E27FC236}">
                <a16:creationId xmlns:a16="http://schemas.microsoft.com/office/drawing/2014/main" id="{144F996F-96C3-D290-7F08-46A345D3EF31}"/>
              </a:ext>
            </a:extLst>
          </p:cNvPr>
          <p:cNvPicPr>
            <a:picLocks noChangeAspect="1"/>
          </p:cNvPicPr>
          <p:nvPr/>
        </p:nvPicPr>
        <p:blipFill>
          <a:blip r:embed="rId2"/>
          <a:stretch>
            <a:fillRect/>
          </a:stretch>
        </p:blipFill>
        <p:spPr>
          <a:xfrm>
            <a:off x="3233906" y="3163712"/>
            <a:ext cx="4136690" cy="2995788"/>
          </a:xfrm>
          <a:prstGeom prst="rect">
            <a:avLst/>
          </a:prstGeom>
        </p:spPr>
      </p:pic>
      <p:sp>
        <p:nvSpPr>
          <p:cNvPr id="4" name="Θέση αριθμού διαφάνειας 3">
            <a:extLst>
              <a:ext uri="{FF2B5EF4-FFF2-40B4-BE49-F238E27FC236}">
                <a16:creationId xmlns:a16="http://schemas.microsoft.com/office/drawing/2014/main" id="{E4218796-3269-4C2C-3922-C02A8DAE2ADC}"/>
              </a:ext>
            </a:extLst>
          </p:cNvPr>
          <p:cNvSpPr>
            <a:spLocks noGrp="1"/>
          </p:cNvSpPr>
          <p:nvPr>
            <p:ph type="sldNum" sz="quarter" idx="12"/>
          </p:nvPr>
        </p:nvSpPr>
        <p:spPr/>
        <p:txBody>
          <a:bodyPr/>
          <a:lstStyle/>
          <a:p>
            <a:fld id="{519954A3-9DFD-4C44-94BA-B95130A3BA1C}" type="slidenum">
              <a:rPr lang="en-US" smtClean="0"/>
              <a:t>21</a:t>
            </a:fld>
            <a:endParaRPr lang="en-US" dirty="0"/>
          </a:p>
        </p:txBody>
      </p:sp>
    </p:spTree>
    <p:extLst>
      <p:ext uri="{BB962C8B-B14F-4D97-AF65-F5344CB8AC3E}">
        <p14:creationId xmlns:p14="http://schemas.microsoft.com/office/powerpoint/2010/main" val="242229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38C1DAB-FB4E-D3F2-BBF2-F1B39CDF0995}"/>
              </a:ext>
            </a:extLst>
          </p:cNvPr>
          <p:cNvSpPr>
            <a:spLocks noGrp="1"/>
          </p:cNvSpPr>
          <p:nvPr>
            <p:ph type="title"/>
          </p:nvPr>
        </p:nvSpPr>
        <p:spPr>
          <a:xfrm>
            <a:off x="677334" y="609600"/>
            <a:ext cx="5659966" cy="774700"/>
          </a:xfrm>
        </p:spPr>
        <p:txBody>
          <a:bodyPr/>
          <a:lstStyle/>
          <a:p>
            <a:r>
              <a:rPr lang="el-GR" dirty="0"/>
              <a:t>Αισθητήρας Θερμοκρασίας</a:t>
            </a:r>
          </a:p>
        </p:txBody>
      </p:sp>
      <p:sp>
        <p:nvSpPr>
          <p:cNvPr id="3" name="Θέση περιεχομένου 2">
            <a:extLst>
              <a:ext uri="{FF2B5EF4-FFF2-40B4-BE49-F238E27FC236}">
                <a16:creationId xmlns:a16="http://schemas.microsoft.com/office/drawing/2014/main" id="{43706145-859E-35D6-FFD6-2242E5271CD9}"/>
              </a:ext>
            </a:extLst>
          </p:cNvPr>
          <p:cNvSpPr>
            <a:spLocks noGrp="1"/>
          </p:cNvSpPr>
          <p:nvPr>
            <p:ph idx="1"/>
          </p:nvPr>
        </p:nvSpPr>
        <p:spPr>
          <a:xfrm>
            <a:off x="677334" y="1233489"/>
            <a:ext cx="8695266" cy="5192711"/>
          </a:xfrm>
        </p:spPr>
        <p:txBody>
          <a:bodyPr/>
          <a:lstStyle/>
          <a:p>
            <a:r>
              <a:rPr lang="el-GR" dirty="0"/>
              <a:t>Ουσιαστικά είναι ένας απλός θερμίστορ</a:t>
            </a:r>
            <a:r>
              <a:rPr lang="en-US" dirty="0"/>
              <a:t> </a:t>
            </a:r>
            <a:r>
              <a:rPr lang="el-GR" dirty="0"/>
              <a:t>της εταιρίας </a:t>
            </a:r>
            <a:r>
              <a:rPr lang="en-US" dirty="0"/>
              <a:t>Dallas Semiconductor. </a:t>
            </a:r>
            <a:r>
              <a:rPr lang="el-GR" dirty="0"/>
              <a:t>Το εύρος τροφοδοσίας είναι 3,0 V έως 5,5 V, καθιστώντας το ευέλικτο και εύκολο στη χρήση σε διάφορα συστήματα.</a:t>
            </a:r>
            <a:endParaRPr lang="en-US" dirty="0"/>
          </a:p>
          <a:p>
            <a:r>
              <a:rPr lang="el-GR" dirty="0"/>
              <a:t>Ο αισθητήρας λειτουργεί σε περίπου 1,5 mA κατά την ενεργή λειτουργία. </a:t>
            </a:r>
            <a:endParaRPr lang="en-US" dirty="0"/>
          </a:p>
          <a:p>
            <a:r>
              <a:rPr lang="el-GR" dirty="0"/>
              <a:t>Σε αντίθεση με το MAX30102 έχει σύνδεση 1-</a:t>
            </a:r>
            <a:r>
              <a:rPr lang="en-US" dirty="0"/>
              <a:t>wire</a:t>
            </a:r>
            <a:r>
              <a:rPr lang="el-GR" dirty="0"/>
              <a:t>, απλοποιώντας τη σύνδεση με τον ελεγκτή χρησιμοποιώντας φυσικά και συνδέσεις για GND, Vcc.</a:t>
            </a:r>
          </a:p>
        </p:txBody>
      </p:sp>
      <p:pic>
        <p:nvPicPr>
          <p:cNvPr id="7" name="Εικόνα 6">
            <a:extLst>
              <a:ext uri="{FF2B5EF4-FFF2-40B4-BE49-F238E27FC236}">
                <a16:creationId xmlns:a16="http://schemas.microsoft.com/office/drawing/2014/main" id="{2D7642CF-66A3-C475-333B-1CB3223FBBE7}"/>
              </a:ext>
            </a:extLst>
          </p:cNvPr>
          <p:cNvPicPr>
            <a:picLocks noChangeAspect="1"/>
          </p:cNvPicPr>
          <p:nvPr/>
        </p:nvPicPr>
        <p:blipFill>
          <a:blip r:embed="rId2"/>
          <a:stretch>
            <a:fillRect/>
          </a:stretch>
        </p:blipFill>
        <p:spPr>
          <a:xfrm rot="2565678">
            <a:off x="4483019" y="3341292"/>
            <a:ext cx="1261356" cy="3365762"/>
          </a:xfrm>
          <a:prstGeom prst="rect">
            <a:avLst/>
          </a:prstGeom>
        </p:spPr>
      </p:pic>
      <p:sp>
        <p:nvSpPr>
          <p:cNvPr id="4" name="Θέση αριθμού διαφάνειας 3">
            <a:extLst>
              <a:ext uri="{FF2B5EF4-FFF2-40B4-BE49-F238E27FC236}">
                <a16:creationId xmlns:a16="http://schemas.microsoft.com/office/drawing/2014/main" id="{03208BDE-8694-198F-9636-F9CB2DB0E6D0}"/>
              </a:ext>
            </a:extLst>
          </p:cNvPr>
          <p:cNvSpPr>
            <a:spLocks noGrp="1"/>
          </p:cNvSpPr>
          <p:nvPr>
            <p:ph type="sldNum" sz="quarter" idx="12"/>
          </p:nvPr>
        </p:nvSpPr>
        <p:spPr/>
        <p:txBody>
          <a:bodyPr/>
          <a:lstStyle/>
          <a:p>
            <a:fld id="{519954A3-9DFD-4C44-94BA-B95130A3BA1C}" type="slidenum">
              <a:rPr lang="en-US" smtClean="0"/>
              <a:t>22</a:t>
            </a:fld>
            <a:endParaRPr lang="en-US" dirty="0"/>
          </a:p>
        </p:txBody>
      </p:sp>
    </p:spTree>
    <p:extLst>
      <p:ext uri="{BB962C8B-B14F-4D97-AF65-F5344CB8AC3E}">
        <p14:creationId xmlns:p14="http://schemas.microsoft.com/office/powerpoint/2010/main" val="215082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51CB9D4-318F-6BAD-8F7C-128AB306DDBC}"/>
              </a:ext>
            </a:extLst>
          </p:cNvPr>
          <p:cNvSpPr>
            <a:spLocks noGrp="1"/>
          </p:cNvSpPr>
          <p:nvPr>
            <p:ph type="title"/>
          </p:nvPr>
        </p:nvSpPr>
        <p:spPr/>
        <p:txBody>
          <a:bodyPr/>
          <a:lstStyle/>
          <a:p>
            <a:r>
              <a:rPr lang="el-GR" dirty="0"/>
              <a:t>Επιταχυνσιόμετρο</a:t>
            </a:r>
          </a:p>
        </p:txBody>
      </p:sp>
      <p:sp>
        <p:nvSpPr>
          <p:cNvPr id="3" name="Θέση περιεχομένου 2">
            <a:extLst>
              <a:ext uri="{FF2B5EF4-FFF2-40B4-BE49-F238E27FC236}">
                <a16:creationId xmlns:a16="http://schemas.microsoft.com/office/drawing/2014/main" id="{95D2620C-DA0C-41DD-23F5-4ED9C382DC6D}"/>
              </a:ext>
            </a:extLst>
          </p:cNvPr>
          <p:cNvSpPr>
            <a:spLocks noGrp="1"/>
          </p:cNvSpPr>
          <p:nvPr>
            <p:ph idx="1"/>
          </p:nvPr>
        </p:nvSpPr>
        <p:spPr>
          <a:xfrm>
            <a:off x="732368" y="1270000"/>
            <a:ext cx="8596668" cy="3880773"/>
          </a:xfrm>
        </p:spPr>
        <p:txBody>
          <a:bodyPr/>
          <a:lstStyle/>
          <a:p>
            <a:r>
              <a:rPr lang="en-US" dirty="0"/>
              <a:t>O </a:t>
            </a:r>
            <a:r>
              <a:rPr lang="el-GR" dirty="0"/>
              <a:t>αισθητήρας λειτουργεί σε τροφοδοτικό από 2,0 V έως 3,6 V (συνήθως 2,5 V με 23 μA), είναι εξοπλισμένος με ανίχνευση δραστηριότητας/αδράνειας και δυνατότητες ανίχνευσης ελεύθερης πτώσης, που επιτρέπουν την καταγραφή τέτοιων δεδομένων.</a:t>
            </a:r>
          </a:p>
          <a:p>
            <a:r>
              <a:rPr lang="el-GR" dirty="0"/>
              <a:t>Φιλικό προς την εφαρμογή με γρήγορη προσέγγιση FIFO 32 επιπέδων.</a:t>
            </a:r>
            <a:r>
              <a:rPr lang="en-US" dirty="0"/>
              <a:t> </a:t>
            </a:r>
            <a:endParaRPr lang="el-GR" dirty="0"/>
          </a:p>
        </p:txBody>
      </p:sp>
      <p:pic>
        <p:nvPicPr>
          <p:cNvPr id="5" name="Εικόνα 4">
            <a:extLst>
              <a:ext uri="{FF2B5EF4-FFF2-40B4-BE49-F238E27FC236}">
                <a16:creationId xmlns:a16="http://schemas.microsoft.com/office/drawing/2014/main" id="{E9DA2834-78E7-8592-5097-B7396FF04DB6}"/>
              </a:ext>
            </a:extLst>
          </p:cNvPr>
          <p:cNvPicPr>
            <a:picLocks noChangeAspect="1"/>
          </p:cNvPicPr>
          <p:nvPr/>
        </p:nvPicPr>
        <p:blipFill>
          <a:blip r:embed="rId2"/>
          <a:stretch>
            <a:fillRect/>
          </a:stretch>
        </p:blipFill>
        <p:spPr>
          <a:xfrm>
            <a:off x="3699477" y="3292642"/>
            <a:ext cx="2552381" cy="2342857"/>
          </a:xfrm>
          <a:prstGeom prst="rect">
            <a:avLst/>
          </a:prstGeom>
        </p:spPr>
      </p:pic>
      <p:sp>
        <p:nvSpPr>
          <p:cNvPr id="4" name="Θέση αριθμού διαφάνειας 3">
            <a:extLst>
              <a:ext uri="{FF2B5EF4-FFF2-40B4-BE49-F238E27FC236}">
                <a16:creationId xmlns:a16="http://schemas.microsoft.com/office/drawing/2014/main" id="{43F1F8D0-19AD-F7A2-9C2B-FE721CE73FCC}"/>
              </a:ext>
            </a:extLst>
          </p:cNvPr>
          <p:cNvSpPr>
            <a:spLocks noGrp="1"/>
          </p:cNvSpPr>
          <p:nvPr>
            <p:ph type="sldNum" sz="quarter" idx="12"/>
          </p:nvPr>
        </p:nvSpPr>
        <p:spPr/>
        <p:txBody>
          <a:bodyPr/>
          <a:lstStyle/>
          <a:p>
            <a:fld id="{519954A3-9DFD-4C44-94BA-B95130A3BA1C}" type="slidenum">
              <a:rPr lang="en-US" smtClean="0"/>
              <a:t>23</a:t>
            </a:fld>
            <a:endParaRPr lang="en-US" dirty="0"/>
          </a:p>
        </p:txBody>
      </p:sp>
    </p:spTree>
    <p:extLst>
      <p:ext uri="{BB962C8B-B14F-4D97-AF65-F5344CB8AC3E}">
        <p14:creationId xmlns:p14="http://schemas.microsoft.com/office/powerpoint/2010/main" val="1683301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DCC389C-093E-C8C1-5CA6-45E72FC1C1EE}"/>
              </a:ext>
            </a:extLst>
          </p:cNvPr>
          <p:cNvSpPr>
            <a:spLocks noGrp="1"/>
          </p:cNvSpPr>
          <p:nvPr>
            <p:ph type="title"/>
          </p:nvPr>
        </p:nvSpPr>
        <p:spPr>
          <a:xfrm>
            <a:off x="677334" y="609600"/>
            <a:ext cx="7603066" cy="800100"/>
          </a:xfrm>
        </p:spPr>
        <p:txBody>
          <a:bodyPr/>
          <a:lstStyle/>
          <a:p>
            <a:r>
              <a:rPr lang="el-GR" dirty="0"/>
              <a:t>Ηλεκτροδερμικός (</a:t>
            </a:r>
            <a:r>
              <a:rPr lang="en-US" dirty="0"/>
              <a:t>EDA</a:t>
            </a:r>
            <a:r>
              <a:rPr lang="el-GR" dirty="0"/>
              <a:t>) Αισθητήρας</a:t>
            </a:r>
          </a:p>
        </p:txBody>
      </p:sp>
      <p:sp>
        <p:nvSpPr>
          <p:cNvPr id="3" name="Θέση περιεχομένου 2">
            <a:extLst>
              <a:ext uri="{FF2B5EF4-FFF2-40B4-BE49-F238E27FC236}">
                <a16:creationId xmlns:a16="http://schemas.microsoft.com/office/drawing/2014/main" id="{0F6B3374-A466-6ADE-8D3C-97C3ADBAA9F2}"/>
              </a:ext>
            </a:extLst>
          </p:cNvPr>
          <p:cNvSpPr>
            <a:spLocks noGrp="1"/>
          </p:cNvSpPr>
          <p:nvPr>
            <p:ph idx="1"/>
          </p:nvPr>
        </p:nvSpPr>
        <p:spPr>
          <a:xfrm>
            <a:off x="677334" y="1436689"/>
            <a:ext cx="8860366" cy="4100511"/>
          </a:xfrm>
        </p:spPr>
        <p:txBody>
          <a:bodyPr/>
          <a:lstStyle/>
          <a:p>
            <a:r>
              <a:rPr lang="el-GR" dirty="0"/>
              <a:t>Για τη διασύνδεση με τον αισθητήρα Grove-GSR, απαιτούνται δύο ενισχυτές LM324 από την Texas Instruments, συνδεδεμένοι μέσω ενός τυπικού SMD Grove με τέσσερις γραμμές για συμβατότητα. Ωστόσο, είναι δυνατή η απευθείας</a:t>
            </a:r>
            <a:r>
              <a:rPr lang="en-US" dirty="0"/>
              <a:t> (directly)</a:t>
            </a:r>
            <a:r>
              <a:rPr lang="el-GR" dirty="0"/>
              <a:t> σύνδεση με τον ελεγκτή, εξαλείφοντας την ανάγκη για βύσματα. </a:t>
            </a:r>
            <a:endParaRPr lang="en-US" dirty="0"/>
          </a:p>
          <a:p>
            <a:r>
              <a:rPr lang="el-GR" dirty="0"/>
              <a:t>Ο αισθητήρας λειτουργεί σε 3,3 V έως 5 V, αντλώντας συνήθως 1,5 mA και ανιχνεύει την Ηλεκτροδερμική Δραστηριότητα (EDA) με μια διεπαφή δακτύλου.</a:t>
            </a:r>
          </a:p>
        </p:txBody>
      </p:sp>
      <p:pic>
        <p:nvPicPr>
          <p:cNvPr id="6" name="Εικόνα 5">
            <a:extLst>
              <a:ext uri="{FF2B5EF4-FFF2-40B4-BE49-F238E27FC236}">
                <a16:creationId xmlns:a16="http://schemas.microsoft.com/office/drawing/2014/main" id="{A5EDD8E1-8694-1FD1-9E57-90CB34454114}"/>
              </a:ext>
            </a:extLst>
          </p:cNvPr>
          <p:cNvPicPr>
            <a:picLocks noChangeAspect="1"/>
          </p:cNvPicPr>
          <p:nvPr/>
        </p:nvPicPr>
        <p:blipFill>
          <a:blip r:embed="rId2"/>
          <a:stretch>
            <a:fillRect/>
          </a:stretch>
        </p:blipFill>
        <p:spPr>
          <a:xfrm>
            <a:off x="3178124" y="3556760"/>
            <a:ext cx="3858785" cy="2007429"/>
          </a:xfrm>
          <a:prstGeom prst="rect">
            <a:avLst/>
          </a:prstGeom>
        </p:spPr>
      </p:pic>
      <p:sp>
        <p:nvSpPr>
          <p:cNvPr id="4" name="Θέση αριθμού διαφάνειας 3">
            <a:extLst>
              <a:ext uri="{FF2B5EF4-FFF2-40B4-BE49-F238E27FC236}">
                <a16:creationId xmlns:a16="http://schemas.microsoft.com/office/drawing/2014/main" id="{4FB3B430-7755-6FB6-8A90-BA9444F4CF71}"/>
              </a:ext>
            </a:extLst>
          </p:cNvPr>
          <p:cNvSpPr>
            <a:spLocks noGrp="1"/>
          </p:cNvSpPr>
          <p:nvPr>
            <p:ph type="sldNum" sz="quarter" idx="12"/>
          </p:nvPr>
        </p:nvSpPr>
        <p:spPr/>
        <p:txBody>
          <a:bodyPr/>
          <a:lstStyle/>
          <a:p>
            <a:fld id="{519954A3-9DFD-4C44-94BA-B95130A3BA1C}" type="slidenum">
              <a:rPr lang="en-US" smtClean="0"/>
              <a:t>24</a:t>
            </a:fld>
            <a:endParaRPr lang="en-US" dirty="0"/>
          </a:p>
        </p:txBody>
      </p:sp>
    </p:spTree>
    <p:extLst>
      <p:ext uri="{BB962C8B-B14F-4D97-AF65-F5344CB8AC3E}">
        <p14:creationId xmlns:p14="http://schemas.microsoft.com/office/powerpoint/2010/main" val="2774536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ADFBCD6-F000-0F02-9EBA-4383185435BF}"/>
              </a:ext>
            </a:extLst>
          </p:cNvPr>
          <p:cNvSpPr>
            <a:spLocks noGrp="1"/>
          </p:cNvSpPr>
          <p:nvPr>
            <p:ph type="title"/>
          </p:nvPr>
        </p:nvSpPr>
        <p:spPr>
          <a:xfrm>
            <a:off x="732368" y="213057"/>
            <a:ext cx="5837766" cy="774700"/>
          </a:xfrm>
        </p:spPr>
        <p:txBody>
          <a:bodyPr/>
          <a:lstStyle/>
          <a:p>
            <a:r>
              <a:rPr lang="el-GR" dirty="0"/>
              <a:t>Αισθητήρας Πίεσης Αίματος</a:t>
            </a:r>
          </a:p>
        </p:txBody>
      </p:sp>
      <p:sp>
        <p:nvSpPr>
          <p:cNvPr id="3" name="Θέση περιεχομένου 2">
            <a:extLst>
              <a:ext uri="{FF2B5EF4-FFF2-40B4-BE49-F238E27FC236}">
                <a16:creationId xmlns:a16="http://schemas.microsoft.com/office/drawing/2014/main" id="{0232B210-B9BC-00B3-05BA-DBF31D71FF5E}"/>
              </a:ext>
            </a:extLst>
          </p:cNvPr>
          <p:cNvSpPr>
            <a:spLocks noGrp="1"/>
          </p:cNvSpPr>
          <p:nvPr>
            <p:ph idx="1"/>
          </p:nvPr>
        </p:nvSpPr>
        <p:spPr>
          <a:xfrm>
            <a:off x="732368" y="825499"/>
            <a:ext cx="8596668" cy="5819443"/>
          </a:xfrm>
        </p:spPr>
        <p:txBody>
          <a:bodyPr/>
          <a:lstStyle/>
          <a:p>
            <a:r>
              <a:rPr lang="el-GR" dirty="0"/>
              <a:t>Το πιεσόμετρο απαιτεί από τον χρήστη να αποφεύγει την άσκηση για ακριβείς μετρήσεις. </a:t>
            </a:r>
            <a:endParaRPr lang="en-US" dirty="0"/>
          </a:p>
          <a:p>
            <a:r>
              <a:rPr lang="el-GR" dirty="0"/>
              <a:t>Χρησιμοποιούμε τον αισθητήρα Texas Instruments TIDM-BPM, ο οποίος ενσωματώνει ρυθμιστή για σταθερότητα τάσης, συγκριτικό για σύγκριση παλιών δεδομένων και ενισχυτή. </a:t>
            </a:r>
            <a:endParaRPr lang="en-US" dirty="0"/>
          </a:p>
          <a:p>
            <a:r>
              <a:rPr lang="el-GR" dirty="0"/>
              <a:t>Το σύστημα λειτουργεί με τροφοδοτικό 6V, επαναφορτιζόμενη μέσω μπαταρίας υποσυστήματος.</a:t>
            </a:r>
            <a:endParaRPr lang="en-US" dirty="0"/>
          </a:p>
          <a:p>
            <a:r>
              <a:rPr lang="el-GR" dirty="0"/>
              <a:t>Η ενσωματωμένη οθόνη LCD του αισθητήρα δεν χρησιμοποιείται, καθώς έχουμε ξεχωριστή οθόνη για εμφάνιση δεδομένων.</a:t>
            </a:r>
            <a:r>
              <a:rPr lang="en-US" dirty="0"/>
              <a:t> </a:t>
            </a:r>
            <a:endParaRPr lang="el-GR" dirty="0"/>
          </a:p>
        </p:txBody>
      </p:sp>
      <p:pic>
        <p:nvPicPr>
          <p:cNvPr id="6" name="Εικόνα 5">
            <a:extLst>
              <a:ext uri="{FF2B5EF4-FFF2-40B4-BE49-F238E27FC236}">
                <a16:creationId xmlns:a16="http://schemas.microsoft.com/office/drawing/2014/main" id="{FE516FA4-2B2D-5AF0-D2C0-C63AA309FEA4}"/>
              </a:ext>
            </a:extLst>
          </p:cNvPr>
          <p:cNvPicPr>
            <a:picLocks noChangeAspect="1"/>
          </p:cNvPicPr>
          <p:nvPr/>
        </p:nvPicPr>
        <p:blipFill>
          <a:blip r:embed="rId2"/>
          <a:stretch>
            <a:fillRect/>
          </a:stretch>
        </p:blipFill>
        <p:spPr>
          <a:xfrm>
            <a:off x="3292609" y="3807264"/>
            <a:ext cx="3476185" cy="2628336"/>
          </a:xfrm>
          <a:prstGeom prst="rect">
            <a:avLst/>
          </a:prstGeom>
        </p:spPr>
      </p:pic>
      <p:sp>
        <p:nvSpPr>
          <p:cNvPr id="4" name="Θέση αριθμού διαφάνειας 3">
            <a:extLst>
              <a:ext uri="{FF2B5EF4-FFF2-40B4-BE49-F238E27FC236}">
                <a16:creationId xmlns:a16="http://schemas.microsoft.com/office/drawing/2014/main" id="{E2BEECA7-E84A-4B0F-9ECB-841CB20E4B68}"/>
              </a:ext>
            </a:extLst>
          </p:cNvPr>
          <p:cNvSpPr>
            <a:spLocks noGrp="1"/>
          </p:cNvSpPr>
          <p:nvPr>
            <p:ph type="sldNum" sz="quarter" idx="12"/>
          </p:nvPr>
        </p:nvSpPr>
        <p:spPr/>
        <p:txBody>
          <a:bodyPr/>
          <a:lstStyle/>
          <a:p>
            <a:fld id="{519954A3-9DFD-4C44-94BA-B95130A3BA1C}" type="slidenum">
              <a:rPr lang="en-US" smtClean="0"/>
              <a:t>25</a:t>
            </a:fld>
            <a:endParaRPr lang="en-US" dirty="0"/>
          </a:p>
        </p:txBody>
      </p:sp>
    </p:spTree>
    <p:extLst>
      <p:ext uri="{BB962C8B-B14F-4D97-AF65-F5344CB8AC3E}">
        <p14:creationId xmlns:p14="http://schemas.microsoft.com/office/powerpoint/2010/main" val="7388293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2CF0FE0-9CBA-AA19-7959-3CB03D1949B1}"/>
              </a:ext>
            </a:extLst>
          </p:cNvPr>
          <p:cNvSpPr>
            <a:spLocks noGrp="1"/>
          </p:cNvSpPr>
          <p:nvPr>
            <p:ph type="title"/>
          </p:nvPr>
        </p:nvSpPr>
        <p:spPr>
          <a:xfrm>
            <a:off x="681568" y="2336800"/>
            <a:ext cx="7463366" cy="698500"/>
          </a:xfrm>
        </p:spPr>
        <p:txBody>
          <a:bodyPr/>
          <a:lstStyle/>
          <a:p>
            <a:r>
              <a:rPr lang="el-GR" dirty="0"/>
              <a:t>Άλλες Συνδέσεις και Υποσυστήματα</a:t>
            </a:r>
          </a:p>
        </p:txBody>
      </p:sp>
      <p:sp>
        <p:nvSpPr>
          <p:cNvPr id="3" name="Θέση περιεχομένου 2">
            <a:extLst>
              <a:ext uri="{FF2B5EF4-FFF2-40B4-BE49-F238E27FC236}">
                <a16:creationId xmlns:a16="http://schemas.microsoft.com/office/drawing/2014/main" id="{E254BA4E-B4CD-1994-B07D-C09321C1B42E}"/>
              </a:ext>
            </a:extLst>
          </p:cNvPr>
          <p:cNvSpPr>
            <a:spLocks noGrp="1"/>
          </p:cNvSpPr>
          <p:nvPr>
            <p:ph idx="1"/>
          </p:nvPr>
        </p:nvSpPr>
        <p:spPr>
          <a:xfrm>
            <a:off x="681568" y="3035299"/>
            <a:ext cx="5113866" cy="2813957"/>
          </a:xfrm>
        </p:spPr>
        <p:txBody>
          <a:bodyPr/>
          <a:lstStyle/>
          <a:p>
            <a:r>
              <a:rPr lang="el-GR" dirty="0"/>
              <a:t>Οθόνη-</a:t>
            </a:r>
            <a:r>
              <a:rPr lang="en-US" dirty="0"/>
              <a:t> </a:t>
            </a:r>
            <a:r>
              <a:rPr lang="en-US" b="1" dirty="0"/>
              <a:t>ER-TFTM050-3 TFT LCD Module</a:t>
            </a:r>
            <a:endParaRPr lang="el-GR" b="1" dirty="0"/>
          </a:p>
          <a:p>
            <a:r>
              <a:rPr lang="en-US" dirty="0"/>
              <a:t>Wi-Fi SoC- </a:t>
            </a:r>
            <a:r>
              <a:rPr lang="en-US" b="1" dirty="0"/>
              <a:t>ESP8266 Wi-Fi SoC</a:t>
            </a:r>
          </a:p>
          <a:p>
            <a:r>
              <a:rPr lang="en-US" dirty="0"/>
              <a:t>SD Card- </a:t>
            </a:r>
            <a:r>
              <a:rPr lang="en-US" b="1" dirty="0"/>
              <a:t>SanDisk Ultra microSD UHS  </a:t>
            </a:r>
          </a:p>
          <a:p>
            <a:r>
              <a:rPr lang="el-GR" dirty="0"/>
              <a:t>Μικροελεγκτής- </a:t>
            </a:r>
            <a:r>
              <a:rPr lang="en-US" b="1" dirty="0"/>
              <a:t>STM32F722xx</a:t>
            </a:r>
            <a:r>
              <a:rPr lang="en-US" dirty="0"/>
              <a:t> </a:t>
            </a:r>
            <a:endParaRPr lang="el-GR" dirty="0"/>
          </a:p>
          <a:p>
            <a:r>
              <a:rPr lang="el-GR" dirty="0"/>
              <a:t>Μπαταρία </a:t>
            </a:r>
          </a:p>
          <a:p>
            <a:r>
              <a:rPr lang="el-GR" dirty="0"/>
              <a:t>Ανεμιστήρας-</a:t>
            </a:r>
            <a:r>
              <a:rPr lang="en-US" dirty="0"/>
              <a:t> </a:t>
            </a:r>
            <a:r>
              <a:rPr lang="en-US" b="1" dirty="0"/>
              <a:t>Sunon 25x25x6</a:t>
            </a:r>
            <a:endParaRPr lang="el-GR" b="1" dirty="0"/>
          </a:p>
          <a:p>
            <a:endParaRPr lang="el-GR" dirty="0"/>
          </a:p>
        </p:txBody>
      </p:sp>
      <p:sp>
        <p:nvSpPr>
          <p:cNvPr id="4" name="Θέση αριθμού διαφάνειας 3">
            <a:extLst>
              <a:ext uri="{FF2B5EF4-FFF2-40B4-BE49-F238E27FC236}">
                <a16:creationId xmlns:a16="http://schemas.microsoft.com/office/drawing/2014/main" id="{5BE3814F-A988-BAC2-CEB5-2F0F3D20AC7C}"/>
              </a:ext>
            </a:extLst>
          </p:cNvPr>
          <p:cNvSpPr>
            <a:spLocks noGrp="1"/>
          </p:cNvSpPr>
          <p:nvPr>
            <p:ph type="sldNum" sz="quarter" idx="12"/>
          </p:nvPr>
        </p:nvSpPr>
        <p:spPr/>
        <p:txBody>
          <a:bodyPr/>
          <a:lstStyle/>
          <a:p>
            <a:fld id="{519954A3-9DFD-4C44-94BA-B95130A3BA1C}" type="slidenum">
              <a:rPr lang="en-US" smtClean="0"/>
              <a:t>26</a:t>
            </a:fld>
            <a:endParaRPr lang="en-US" dirty="0"/>
          </a:p>
        </p:txBody>
      </p:sp>
    </p:spTree>
    <p:extLst>
      <p:ext uri="{BB962C8B-B14F-4D97-AF65-F5344CB8AC3E}">
        <p14:creationId xmlns:p14="http://schemas.microsoft.com/office/powerpoint/2010/main" val="37808766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6938EE3-B0EC-B1AC-9FB0-0B1F8B9E57D9}"/>
              </a:ext>
            </a:extLst>
          </p:cNvPr>
          <p:cNvSpPr>
            <a:spLocks noGrp="1"/>
          </p:cNvSpPr>
          <p:nvPr>
            <p:ph type="title"/>
          </p:nvPr>
        </p:nvSpPr>
        <p:spPr>
          <a:xfrm>
            <a:off x="677334" y="609600"/>
            <a:ext cx="1481666" cy="673100"/>
          </a:xfrm>
        </p:spPr>
        <p:txBody>
          <a:bodyPr/>
          <a:lstStyle/>
          <a:p>
            <a:r>
              <a:rPr lang="el-GR" dirty="0"/>
              <a:t>Οθόνη</a:t>
            </a:r>
          </a:p>
        </p:txBody>
      </p:sp>
      <p:sp>
        <p:nvSpPr>
          <p:cNvPr id="3" name="Θέση περιεχομένου 2">
            <a:extLst>
              <a:ext uri="{FF2B5EF4-FFF2-40B4-BE49-F238E27FC236}">
                <a16:creationId xmlns:a16="http://schemas.microsoft.com/office/drawing/2014/main" id="{5F8553EE-FF16-BE85-5848-DB1DC5DB6EAB}"/>
              </a:ext>
            </a:extLst>
          </p:cNvPr>
          <p:cNvSpPr>
            <a:spLocks noGrp="1"/>
          </p:cNvSpPr>
          <p:nvPr>
            <p:ph idx="1"/>
          </p:nvPr>
        </p:nvSpPr>
        <p:spPr>
          <a:xfrm>
            <a:off x="677334" y="1282700"/>
            <a:ext cx="8596668" cy="3880773"/>
          </a:xfrm>
        </p:spPr>
        <p:txBody>
          <a:bodyPr/>
          <a:lstStyle/>
          <a:p>
            <a:r>
              <a:rPr lang="el-GR" dirty="0"/>
              <a:t>Για οθόνη θα χρειαστούμε είσοδο SPI που θα έχει δυνατότητα σύνδεσης με το μικροελεγκτή. Η οθόνη που θα χρησιμοποιηθεί είναι μία ER-TFTM050-3 TFT LCD Module. Μπορεί να συνδεθεί σε διαφορετικούς ελεγκτές. Με ανάλυση 800 x 480 </a:t>
            </a:r>
            <a:r>
              <a:rPr lang="en-US" dirty="0"/>
              <a:t>Pixels</a:t>
            </a:r>
            <a:r>
              <a:rPr lang="el-GR" dirty="0"/>
              <a:t>.</a:t>
            </a:r>
          </a:p>
          <a:p>
            <a:endParaRPr lang="el-GR" dirty="0"/>
          </a:p>
          <a:p>
            <a:endParaRPr lang="el-GR" dirty="0"/>
          </a:p>
        </p:txBody>
      </p:sp>
      <p:pic>
        <p:nvPicPr>
          <p:cNvPr id="5" name="Εικόνα 4">
            <a:extLst>
              <a:ext uri="{FF2B5EF4-FFF2-40B4-BE49-F238E27FC236}">
                <a16:creationId xmlns:a16="http://schemas.microsoft.com/office/drawing/2014/main" id="{FEB2660E-BD21-4F7D-D3CC-7D4774626978}"/>
              </a:ext>
            </a:extLst>
          </p:cNvPr>
          <p:cNvPicPr>
            <a:picLocks noChangeAspect="1"/>
          </p:cNvPicPr>
          <p:nvPr/>
        </p:nvPicPr>
        <p:blipFill>
          <a:blip r:embed="rId2"/>
          <a:stretch>
            <a:fillRect/>
          </a:stretch>
        </p:blipFill>
        <p:spPr>
          <a:xfrm>
            <a:off x="2749525" y="2788921"/>
            <a:ext cx="4452285" cy="2374552"/>
          </a:xfrm>
          <a:prstGeom prst="rect">
            <a:avLst/>
          </a:prstGeom>
        </p:spPr>
      </p:pic>
      <p:sp>
        <p:nvSpPr>
          <p:cNvPr id="4" name="Θέση αριθμού διαφάνειας 3">
            <a:extLst>
              <a:ext uri="{FF2B5EF4-FFF2-40B4-BE49-F238E27FC236}">
                <a16:creationId xmlns:a16="http://schemas.microsoft.com/office/drawing/2014/main" id="{87177973-1461-50B9-CDB9-C3159228D4F8}"/>
              </a:ext>
            </a:extLst>
          </p:cNvPr>
          <p:cNvSpPr>
            <a:spLocks noGrp="1"/>
          </p:cNvSpPr>
          <p:nvPr>
            <p:ph type="sldNum" sz="quarter" idx="12"/>
          </p:nvPr>
        </p:nvSpPr>
        <p:spPr/>
        <p:txBody>
          <a:bodyPr/>
          <a:lstStyle/>
          <a:p>
            <a:fld id="{519954A3-9DFD-4C44-94BA-B95130A3BA1C}" type="slidenum">
              <a:rPr lang="en-US" smtClean="0"/>
              <a:t>27</a:t>
            </a:fld>
            <a:endParaRPr lang="en-US" dirty="0"/>
          </a:p>
        </p:txBody>
      </p:sp>
    </p:spTree>
    <p:extLst>
      <p:ext uri="{BB962C8B-B14F-4D97-AF65-F5344CB8AC3E}">
        <p14:creationId xmlns:p14="http://schemas.microsoft.com/office/powerpoint/2010/main" val="19158077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9397388-915A-87DA-EB0B-D8886202EAE6}"/>
              </a:ext>
            </a:extLst>
          </p:cNvPr>
          <p:cNvSpPr>
            <a:spLocks noGrp="1"/>
          </p:cNvSpPr>
          <p:nvPr>
            <p:ph type="title"/>
          </p:nvPr>
        </p:nvSpPr>
        <p:spPr>
          <a:xfrm>
            <a:off x="668868" y="190500"/>
            <a:ext cx="4174066" cy="812800"/>
          </a:xfrm>
        </p:spPr>
        <p:txBody>
          <a:bodyPr/>
          <a:lstStyle/>
          <a:p>
            <a:r>
              <a:rPr lang="en-US" dirty="0"/>
              <a:t>Wi-Fi SoC (Module)</a:t>
            </a:r>
            <a:endParaRPr lang="el-GR" dirty="0"/>
          </a:p>
        </p:txBody>
      </p:sp>
      <p:sp>
        <p:nvSpPr>
          <p:cNvPr id="3" name="Θέση περιεχομένου 2">
            <a:extLst>
              <a:ext uri="{FF2B5EF4-FFF2-40B4-BE49-F238E27FC236}">
                <a16:creationId xmlns:a16="http://schemas.microsoft.com/office/drawing/2014/main" id="{B2AD0E32-45C2-62AF-2752-17E0862738A2}"/>
              </a:ext>
            </a:extLst>
          </p:cNvPr>
          <p:cNvSpPr>
            <a:spLocks noGrp="1"/>
          </p:cNvSpPr>
          <p:nvPr>
            <p:ph idx="1"/>
          </p:nvPr>
        </p:nvSpPr>
        <p:spPr>
          <a:xfrm>
            <a:off x="702736" y="884006"/>
            <a:ext cx="8596668" cy="5631094"/>
          </a:xfrm>
        </p:spPr>
        <p:txBody>
          <a:bodyPr/>
          <a:lstStyle/>
          <a:p>
            <a:r>
              <a:rPr lang="el-GR" dirty="0"/>
              <a:t>Για διεπαφή κινητού και κοινή χρήση δεδομένων, θα χρησιμοποιήσουμε το ESP8266 Wi-Fi SoC από την Espressif Systems. Λειτουργεί σε 5V έως 3,3V, είναι κατάλληλο για διάφορα περιβάλλοντα. </a:t>
            </a:r>
            <a:endParaRPr lang="en-US" dirty="0"/>
          </a:p>
          <a:p>
            <a:r>
              <a:rPr lang="el-GR" dirty="0"/>
              <a:t>Αυτό το αυτόνομο S</a:t>
            </a:r>
            <a:r>
              <a:rPr lang="en-US" dirty="0"/>
              <a:t>o</a:t>
            </a:r>
            <a:r>
              <a:rPr lang="el-GR" dirty="0"/>
              <a:t>C με ενσωματωμένη στοίβα TCP/IP παρέχει πρόσβαση σε οποιονδήποτε μικροελεγκτή στο δίκτυο Wi</a:t>
            </a:r>
            <a:r>
              <a:rPr lang="en-US" dirty="0"/>
              <a:t>-</a:t>
            </a:r>
            <a:r>
              <a:rPr lang="el-GR" dirty="0"/>
              <a:t>Fi μας. </a:t>
            </a:r>
            <a:endParaRPr lang="en-US" dirty="0"/>
          </a:p>
          <a:p>
            <a:r>
              <a:rPr lang="el-GR" dirty="0"/>
              <a:t>Το ESP8266 μπορεί να φιλοξενήσει εφαρμογές ή να ξεφορτώσει λειτουργίες Wi-Fi από άλλο επεξεργαστή, διευκολύνοντας την υλοποίηση. </a:t>
            </a:r>
            <a:endParaRPr lang="en-US" dirty="0"/>
          </a:p>
          <a:p>
            <a:r>
              <a:rPr lang="el-GR" dirty="0"/>
              <a:t>Το προ-προγραμματισμένο σύνολο εντολών υλικού/λογισμικού και η ισχυρή ικανότητα επεξεργασίας επιτρέπουν την απρόσκοπτη ενσωμάτωση με αισθητήρες και άλλες συσκευές μέσω GPIO.</a:t>
            </a:r>
            <a:endParaRPr lang="en-US" dirty="0"/>
          </a:p>
          <a:p>
            <a:pPr marL="0" indent="0">
              <a:buNone/>
            </a:pPr>
            <a:endParaRPr lang="el-GR" dirty="0"/>
          </a:p>
        </p:txBody>
      </p:sp>
      <p:pic>
        <p:nvPicPr>
          <p:cNvPr id="6" name="Εικόνα 5">
            <a:extLst>
              <a:ext uri="{FF2B5EF4-FFF2-40B4-BE49-F238E27FC236}">
                <a16:creationId xmlns:a16="http://schemas.microsoft.com/office/drawing/2014/main" id="{99BED0FD-4C43-46E6-8013-34D90BC95E34}"/>
              </a:ext>
            </a:extLst>
          </p:cNvPr>
          <p:cNvPicPr>
            <a:picLocks noChangeAspect="1"/>
          </p:cNvPicPr>
          <p:nvPr/>
        </p:nvPicPr>
        <p:blipFill>
          <a:blip r:embed="rId2"/>
          <a:stretch>
            <a:fillRect/>
          </a:stretch>
        </p:blipFill>
        <p:spPr>
          <a:xfrm>
            <a:off x="3700120" y="4142642"/>
            <a:ext cx="2285628" cy="2124462"/>
          </a:xfrm>
          <a:prstGeom prst="rect">
            <a:avLst/>
          </a:prstGeom>
        </p:spPr>
      </p:pic>
      <p:sp>
        <p:nvSpPr>
          <p:cNvPr id="4" name="Θέση αριθμού διαφάνειας 3">
            <a:extLst>
              <a:ext uri="{FF2B5EF4-FFF2-40B4-BE49-F238E27FC236}">
                <a16:creationId xmlns:a16="http://schemas.microsoft.com/office/drawing/2014/main" id="{A31500BD-E6AA-79C9-617F-F9B65BEDF677}"/>
              </a:ext>
            </a:extLst>
          </p:cNvPr>
          <p:cNvSpPr>
            <a:spLocks noGrp="1"/>
          </p:cNvSpPr>
          <p:nvPr>
            <p:ph type="sldNum" sz="quarter" idx="12"/>
          </p:nvPr>
        </p:nvSpPr>
        <p:spPr/>
        <p:txBody>
          <a:bodyPr/>
          <a:lstStyle/>
          <a:p>
            <a:fld id="{519954A3-9DFD-4C44-94BA-B95130A3BA1C}" type="slidenum">
              <a:rPr lang="en-US" smtClean="0"/>
              <a:t>28</a:t>
            </a:fld>
            <a:endParaRPr lang="en-US" dirty="0"/>
          </a:p>
        </p:txBody>
      </p:sp>
    </p:spTree>
    <p:extLst>
      <p:ext uri="{BB962C8B-B14F-4D97-AF65-F5344CB8AC3E}">
        <p14:creationId xmlns:p14="http://schemas.microsoft.com/office/powerpoint/2010/main" val="30952373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13A7D4E-2510-0088-E126-B1A298D50B37}"/>
              </a:ext>
            </a:extLst>
          </p:cNvPr>
          <p:cNvSpPr>
            <a:spLocks noGrp="1"/>
          </p:cNvSpPr>
          <p:nvPr>
            <p:ph type="title"/>
          </p:nvPr>
        </p:nvSpPr>
        <p:spPr/>
        <p:txBody>
          <a:bodyPr/>
          <a:lstStyle/>
          <a:p>
            <a:r>
              <a:rPr lang="el-GR" dirty="0"/>
              <a:t>Μικροελεγκτής</a:t>
            </a:r>
          </a:p>
        </p:txBody>
      </p:sp>
      <p:sp>
        <p:nvSpPr>
          <p:cNvPr id="3" name="Θέση περιεχομένου 2">
            <a:extLst>
              <a:ext uri="{FF2B5EF4-FFF2-40B4-BE49-F238E27FC236}">
                <a16:creationId xmlns:a16="http://schemas.microsoft.com/office/drawing/2014/main" id="{97E61464-CCB0-F3D0-A430-8AF5B27AB976}"/>
              </a:ext>
            </a:extLst>
          </p:cNvPr>
          <p:cNvSpPr>
            <a:spLocks noGrp="1"/>
          </p:cNvSpPr>
          <p:nvPr>
            <p:ph idx="1"/>
          </p:nvPr>
        </p:nvSpPr>
        <p:spPr>
          <a:xfrm>
            <a:off x="677334" y="1270000"/>
            <a:ext cx="8596668" cy="5422900"/>
          </a:xfrm>
        </p:spPr>
        <p:txBody>
          <a:bodyPr/>
          <a:lstStyle/>
          <a:p>
            <a:r>
              <a:rPr lang="el-GR" dirty="0"/>
              <a:t>Ο μικροελεγκτής STM32F722xx, που λειτουργεί σε εύρος 4-26 MHz, ενσωματώνει διασύνδεση βύσματος 4 καλωδίων, συνδεσιμότητα 1 καλωδίου, I</a:t>
            </a:r>
            <a:r>
              <a:rPr lang="el-GR" sz="1800" baseline="30000" dirty="0">
                <a:effectLst/>
                <a:ea typeface="Calibri" panose="020F0502020204030204" pitchFamily="34" charset="0"/>
              </a:rPr>
              <a:t>2</a:t>
            </a:r>
            <a:r>
              <a:rPr lang="el-GR" dirty="0"/>
              <a:t>C,USB</a:t>
            </a:r>
            <a:r>
              <a:rPr lang="en-US" dirty="0"/>
              <a:t> </a:t>
            </a:r>
            <a:r>
              <a:rPr lang="el-GR" dirty="0"/>
              <a:t>και </a:t>
            </a:r>
            <a:r>
              <a:rPr lang="en-US" dirty="0"/>
              <a:t>SPI</a:t>
            </a:r>
            <a:r>
              <a:rPr lang="el-GR" dirty="0"/>
              <a:t> μαζί με υποστήριξη για UART μέσω 4 USART. </a:t>
            </a:r>
          </a:p>
          <a:p>
            <a:r>
              <a:rPr lang="el-GR" dirty="0"/>
              <a:t>Διαθέτοντας ευέλικτες λειτουργίες ρολογιού, συμπεριλαμβανομένων επιλογών χαμηλότερης ισχύος, διαθέτει ADC για αναλογική ανίχνευση, χρονοδιακόπτες και λειτουργίες χαμηλής κατανάλωσης. </a:t>
            </a:r>
          </a:p>
          <a:p>
            <a:r>
              <a:rPr lang="el-GR" dirty="0"/>
              <a:t>Η έξοδος 1,7V - 3,6V για γενικές εισόδους/εξόδους εξασφαλίζει αποτελεσματική λειτουργία, με ρεύμα ανάλογο με τις συχνότητες λειτουργίας. Ιδανικό για χειρισμό διακοπών και απρόσκοπτη ενσωμάτωση με τους παρεχόμενους αισθητήρες στο σύστημα.</a:t>
            </a:r>
          </a:p>
          <a:p>
            <a:pPr marL="0" indent="0">
              <a:buNone/>
            </a:pPr>
            <a:endParaRPr lang="el-GR" dirty="0"/>
          </a:p>
        </p:txBody>
      </p:sp>
      <p:sp>
        <p:nvSpPr>
          <p:cNvPr id="4" name="Θέση αριθμού διαφάνειας 3">
            <a:extLst>
              <a:ext uri="{FF2B5EF4-FFF2-40B4-BE49-F238E27FC236}">
                <a16:creationId xmlns:a16="http://schemas.microsoft.com/office/drawing/2014/main" id="{C0F2BB5A-6A0B-CA0D-8705-D4A9D0AA0228}"/>
              </a:ext>
            </a:extLst>
          </p:cNvPr>
          <p:cNvSpPr>
            <a:spLocks noGrp="1"/>
          </p:cNvSpPr>
          <p:nvPr>
            <p:ph type="sldNum" sz="quarter" idx="12"/>
          </p:nvPr>
        </p:nvSpPr>
        <p:spPr/>
        <p:txBody>
          <a:bodyPr/>
          <a:lstStyle/>
          <a:p>
            <a:fld id="{519954A3-9DFD-4C44-94BA-B95130A3BA1C}" type="slidenum">
              <a:rPr lang="en-US" smtClean="0"/>
              <a:t>29</a:t>
            </a:fld>
            <a:endParaRPr lang="en-US" dirty="0"/>
          </a:p>
        </p:txBody>
      </p:sp>
    </p:spTree>
    <p:extLst>
      <p:ext uri="{BB962C8B-B14F-4D97-AF65-F5344CB8AC3E}">
        <p14:creationId xmlns:p14="http://schemas.microsoft.com/office/powerpoint/2010/main" val="19151766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8DDA1C0-5E39-5E85-41A7-C45FCFE18598}"/>
              </a:ext>
            </a:extLst>
          </p:cNvPr>
          <p:cNvSpPr>
            <a:spLocks noGrp="1"/>
          </p:cNvSpPr>
          <p:nvPr>
            <p:ph type="title"/>
          </p:nvPr>
        </p:nvSpPr>
        <p:spPr/>
        <p:txBody>
          <a:bodyPr/>
          <a:lstStyle/>
          <a:p>
            <a:r>
              <a:rPr lang="el-GR" dirty="0"/>
              <a:t>Αρχιτεκτονική Μικροελεγκτή</a:t>
            </a:r>
          </a:p>
        </p:txBody>
      </p:sp>
      <p:pic>
        <p:nvPicPr>
          <p:cNvPr id="4" name="Θέση περιεχομένου 3">
            <a:extLst>
              <a:ext uri="{FF2B5EF4-FFF2-40B4-BE49-F238E27FC236}">
                <a16:creationId xmlns:a16="http://schemas.microsoft.com/office/drawing/2014/main" id="{7D34B9DA-8F83-F256-9CA2-2110C49AE0CE}"/>
              </a:ext>
            </a:extLst>
          </p:cNvPr>
          <p:cNvPicPr>
            <a:picLocks noGrp="1" noChangeAspect="1"/>
          </p:cNvPicPr>
          <p:nvPr>
            <p:ph idx="1"/>
          </p:nvPr>
        </p:nvPicPr>
        <p:blipFill>
          <a:blip r:embed="rId2"/>
          <a:stretch>
            <a:fillRect/>
          </a:stretch>
        </p:blipFill>
        <p:spPr>
          <a:xfrm>
            <a:off x="3163933" y="1507855"/>
            <a:ext cx="3866524" cy="4740545"/>
          </a:xfrm>
          <a:prstGeom prst="rect">
            <a:avLst/>
          </a:prstGeom>
        </p:spPr>
      </p:pic>
      <p:sp>
        <p:nvSpPr>
          <p:cNvPr id="3" name="Θέση αριθμού διαφάνειας 2">
            <a:extLst>
              <a:ext uri="{FF2B5EF4-FFF2-40B4-BE49-F238E27FC236}">
                <a16:creationId xmlns:a16="http://schemas.microsoft.com/office/drawing/2014/main" id="{606B1F44-02D8-0498-2E86-AD055AADCA62}"/>
              </a:ext>
            </a:extLst>
          </p:cNvPr>
          <p:cNvSpPr>
            <a:spLocks noGrp="1"/>
          </p:cNvSpPr>
          <p:nvPr>
            <p:ph type="sldNum" sz="quarter" idx="12"/>
          </p:nvPr>
        </p:nvSpPr>
        <p:spPr/>
        <p:txBody>
          <a:bodyPr/>
          <a:lstStyle/>
          <a:p>
            <a:fld id="{519954A3-9DFD-4C44-94BA-B95130A3BA1C}" type="slidenum">
              <a:rPr lang="en-US" smtClean="0"/>
              <a:t>30</a:t>
            </a:fld>
            <a:endParaRPr lang="en-US" dirty="0"/>
          </a:p>
        </p:txBody>
      </p:sp>
    </p:spTree>
    <p:extLst>
      <p:ext uri="{BB962C8B-B14F-4D97-AF65-F5344CB8AC3E}">
        <p14:creationId xmlns:p14="http://schemas.microsoft.com/office/powerpoint/2010/main" val="40055989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92F2E53-7C34-5D25-AC6E-B889588177B9}"/>
              </a:ext>
            </a:extLst>
          </p:cNvPr>
          <p:cNvSpPr>
            <a:spLocks noGrp="1"/>
          </p:cNvSpPr>
          <p:nvPr>
            <p:ph type="title"/>
          </p:nvPr>
        </p:nvSpPr>
        <p:spPr>
          <a:xfrm>
            <a:off x="701525" y="232227"/>
            <a:ext cx="8596668" cy="3309257"/>
          </a:xfrm>
        </p:spPr>
        <p:txBody>
          <a:bodyPr>
            <a:normAutofit fontScale="90000"/>
          </a:bodyPr>
          <a:lstStyle/>
          <a:p>
            <a:r>
              <a:rPr lang="el-GR" sz="4000" dirty="0"/>
              <a:t>Μπαταρία</a:t>
            </a:r>
            <a:br>
              <a:rPr lang="el-GR" dirty="0"/>
            </a:br>
            <a:r>
              <a:rPr lang="el-GR" sz="18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Για μπαταρία θα χρησιμοποιήσουμε μία σε τιμή των 3 </a:t>
            </a:r>
            <a:r>
              <a:rPr lang="en-US" sz="18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Watt</a:t>
            </a:r>
            <a:r>
              <a:rPr lang="el-GR" sz="18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 που σύμφωνα με τις μετρήσεις μας θεωρητικά είναι μεγάλη από αυτή που χρειαζόμαστε για το σύστημα μας. Αλλά λόγο ασφάλειας για ένα τέτοια σύστημα θα επαρκεί το 3 </a:t>
            </a:r>
            <a:r>
              <a:rPr lang="en-US" sz="18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Watt</a:t>
            </a:r>
            <a:r>
              <a:rPr lang="el-GR" sz="18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 κάποιας μη συγκεκριμένης εταιρίας. Επειδή δεν έχει μία πάρα πολύ μεγάλη τιμή ο χρόνος για φόρτωσης δεν θα είναι πάρα πολύ μεγάλος.</a:t>
            </a:r>
            <a:br>
              <a:rPr lang="el-GR" sz="18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br>
            <a:r>
              <a:rPr lang="el-GR" sz="18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 </a:t>
            </a:r>
            <a:br>
              <a:rPr lang="el-GR" sz="18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br>
            <a:r>
              <a:rPr lang="el-GR" sz="18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Αυτή η απόδοση έχει ως λόγο και το πιεσόμετρο που θα είναι ένα </a:t>
            </a:r>
            <a:r>
              <a:rPr lang="en-US" sz="18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I</a:t>
            </a:r>
            <a:r>
              <a:rPr lang="el-GR" sz="18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a:t>
            </a:r>
            <a:r>
              <a:rPr lang="en-US" sz="18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O</a:t>
            </a:r>
            <a:r>
              <a:rPr lang="el-GR" sz="18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 με διασύνδεση στο κεντρικό σύστημα την έννοια να μπορεί να φορτώνεται και αυτό αλλά με αποτέλεσμα να μην χάνεται η πιστότητα του υλικού.</a:t>
            </a:r>
            <a:br>
              <a:rPr lang="el-GR" sz="1800" dirty="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rPr>
            </a:br>
            <a:endParaRPr lang="el-GR" dirty="0">
              <a:solidFill>
                <a:schemeClr val="tx1">
                  <a:lumMod val="75000"/>
                  <a:lumOff val="25000"/>
                </a:schemeClr>
              </a:solidFill>
            </a:endParaRPr>
          </a:p>
        </p:txBody>
      </p:sp>
      <p:sp>
        <p:nvSpPr>
          <p:cNvPr id="3" name="Θέση περιεχομένου 2">
            <a:extLst>
              <a:ext uri="{FF2B5EF4-FFF2-40B4-BE49-F238E27FC236}">
                <a16:creationId xmlns:a16="http://schemas.microsoft.com/office/drawing/2014/main" id="{613016BD-363A-6064-DC4A-DDA67867C51C}"/>
              </a:ext>
            </a:extLst>
          </p:cNvPr>
          <p:cNvSpPr>
            <a:spLocks noGrp="1"/>
          </p:cNvSpPr>
          <p:nvPr>
            <p:ph idx="1"/>
          </p:nvPr>
        </p:nvSpPr>
        <p:spPr>
          <a:xfrm>
            <a:off x="749907" y="3104017"/>
            <a:ext cx="8596668" cy="3880773"/>
          </a:xfrm>
        </p:spPr>
        <p:txBody>
          <a:bodyPr>
            <a:normAutofit/>
          </a:bodyPr>
          <a:lstStyle/>
          <a:p>
            <a:pPr marL="0" indent="0">
              <a:buNone/>
            </a:pPr>
            <a:r>
              <a:rPr lang="el-GR" sz="3600" dirty="0">
                <a:solidFill>
                  <a:schemeClr val="accent1"/>
                </a:solidFill>
              </a:rPr>
              <a:t>Ανεμιστήρας</a:t>
            </a:r>
          </a:p>
          <a:p>
            <a:pPr marL="0" indent="0">
              <a:buNone/>
            </a:pPr>
            <a:r>
              <a:rPr lang="el-GR" sz="1800" dirty="0">
                <a:effectLst/>
                <a:ea typeface="Calibri" panose="020F0502020204030204" pitchFamily="34" charset="0"/>
                <a:cs typeface="Times New Roman" panose="02020603050405020304" pitchFamily="18" charset="0"/>
              </a:rPr>
              <a:t>Σύμφωνα με το </a:t>
            </a:r>
            <a:r>
              <a:rPr lang="en-US" sz="1800" dirty="0">
                <a:effectLst/>
                <a:ea typeface="Calibri" panose="020F0502020204030204" pitchFamily="34" charset="0"/>
                <a:cs typeface="Times New Roman" panose="02020603050405020304" pitchFamily="18" charset="0"/>
              </a:rPr>
              <a:t>datasheet </a:t>
            </a:r>
            <a:r>
              <a:rPr lang="el-GR" sz="1800" dirty="0">
                <a:effectLst/>
                <a:ea typeface="Calibri" panose="020F0502020204030204" pitchFamily="34" charset="0"/>
                <a:cs typeface="Times New Roman" panose="02020603050405020304" pitchFamily="18" charset="0"/>
              </a:rPr>
              <a:t>η εταιρία περιλαμβάνει ανεμιστήρες σε διαφορετικό μέγεθος. Θα χρησιμοποιήσουμε το ανεμιστήρα 25</a:t>
            </a:r>
            <a:r>
              <a:rPr lang="en-US" sz="1800" dirty="0">
                <a:effectLst/>
                <a:ea typeface="Calibri" panose="020F0502020204030204" pitchFamily="34" charset="0"/>
                <a:cs typeface="Times New Roman" panose="02020603050405020304" pitchFamily="18" charset="0"/>
              </a:rPr>
              <a:t>x</a:t>
            </a:r>
            <a:r>
              <a:rPr lang="el-GR" sz="1800" dirty="0">
                <a:effectLst/>
                <a:ea typeface="Calibri" panose="020F0502020204030204" pitchFamily="34" charset="0"/>
                <a:cs typeface="Times New Roman" panose="02020603050405020304" pitchFamily="18" charset="0"/>
              </a:rPr>
              <a:t>25</a:t>
            </a:r>
            <a:r>
              <a:rPr lang="en-US" sz="1800" dirty="0">
                <a:effectLst/>
                <a:ea typeface="Calibri" panose="020F0502020204030204" pitchFamily="34" charset="0"/>
                <a:cs typeface="Times New Roman" panose="02020603050405020304" pitchFamily="18" charset="0"/>
              </a:rPr>
              <a:t>x</a:t>
            </a:r>
            <a:r>
              <a:rPr lang="el-GR" sz="1800" dirty="0">
                <a:effectLst/>
                <a:ea typeface="Calibri" panose="020F0502020204030204" pitchFamily="34" charset="0"/>
                <a:cs typeface="Times New Roman" panose="02020603050405020304" pitchFamily="18" charset="0"/>
              </a:rPr>
              <a:t>6 </a:t>
            </a:r>
            <a:r>
              <a:rPr lang="en-US" sz="1800" dirty="0">
                <a:effectLst/>
                <a:ea typeface="Calibri" panose="020F0502020204030204" pitchFamily="34" charset="0"/>
                <a:cs typeface="Times New Roman" panose="02020603050405020304" pitchFamily="18" charset="0"/>
              </a:rPr>
              <a:t>mm </a:t>
            </a:r>
            <a:r>
              <a:rPr lang="el-GR" sz="1800" dirty="0">
                <a:effectLst/>
                <a:ea typeface="Calibri" panose="020F0502020204030204" pitchFamily="34" charset="0"/>
                <a:cs typeface="Times New Roman" panose="02020603050405020304" pitchFamily="18" charset="0"/>
              </a:rPr>
              <a:t>αφού έχει το μέγεθος που χρειαζόμαστε αλλά και </a:t>
            </a:r>
            <a:r>
              <a:rPr lang="en-US" sz="1800" dirty="0">
                <a:effectLst/>
                <a:ea typeface="Calibri" panose="020F0502020204030204" pitchFamily="34" charset="0"/>
                <a:cs typeface="Times New Roman" panose="02020603050405020304" pitchFamily="18" charset="0"/>
              </a:rPr>
              <a:t>Watt </a:t>
            </a:r>
            <a:r>
              <a:rPr lang="el-GR" sz="1800" dirty="0">
                <a:effectLst/>
                <a:ea typeface="Calibri" panose="020F0502020204030204" pitchFamily="34" charset="0"/>
                <a:cs typeface="Times New Roman" panose="02020603050405020304" pitchFamily="18" charset="0"/>
              </a:rPr>
              <a:t>σε επίπεδο 0,38 που είναι επαρκείς και για την μπαταρία που διαθέτουμε.</a:t>
            </a:r>
          </a:p>
          <a:p>
            <a:pPr marL="0" indent="0">
              <a:buNone/>
            </a:pPr>
            <a:endParaRPr lang="el-GR" sz="3600" dirty="0">
              <a:solidFill>
                <a:schemeClr val="accent1"/>
              </a:solidFill>
            </a:endParaRPr>
          </a:p>
        </p:txBody>
      </p:sp>
      <p:pic>
        <p:nvPicPr>
          <p:cNvPr id="5" name="Εικόνα 4">
            <a:extLst>
              <a:ext uri="{FF2B5EF4-FFF2-40B4-BE49-F238E27FC236}">
                <a16:creationId xmlns:a16="http://schemas.microsoft.com/office/drawing/2014/main" id="{6BE5AAC2-B205-C4B2-3A5F-9B22A75AF776}"/>
              </a:ext>
            </a:extLst>
          </p:cNvPr>
          <p:cNvPicPr>
            <a:picLocks noChangeAspect="1"/>
          </p:cNvPicPr>
          <p:nvPr/>
        </p:nvPicPr>
        <p:blipFill>
          <a:blip r:embed="rId2"/>
          <a:stretch>
            <a:fillRect/>
          </a:stretch>
        </p:blipFill>
        <p:spPr>
          <a:xfrm>
            <a:off x="3964143" y="4853858"/>
            <a:ext cx="2023049" cy="2004142"/>
          </a:xfrm>
          <a:prstGeom prst="rect">
            <a:avLst/>
          </a:prstGeom>
        </p:spPr>
      </p:pic>
      <p:sp>
        <p:nvSpPr>
          <p:cNvPr id="4" name="Θέση αριθμού διαφάνειας 3">
            <a:extLst>
              <a:ext uri="{FF2B5EF4-FFF2-40B4-BE49-F238E27FC236}">
                <a16:creationId xmlns:a16="http://schemas.microsoft.com/office/drawing/2014/main" id="{4C0E9672-EBD1-0EA8-E7AA-47EBEC5FB8FD}"/>
              </a:ext>
            </a:extLst>
          </p:cNvPr>
          <p:cNvSpPr>
            <a:spLocks noGrp="1"/>
          </p:cNvSpPr>
          <p:nvPr>
            <p:ph type="sldNum" sz="quarter" idx="12"/>
          </p:nvPr>
        </p:nvSpPr>
        <p:spPr/>
        <p:txBody>
          <a:bodyPr/>
          <a:lstStyle/>
          <a:p>
            <a:fld id="{519954A3-9DFD-4C44-94BA-B95130A3BA1C}" type="slidenum">
              <a:rPr lang="en-US" smtClean="0"/>
              <a:t>31</a:t>
            </a:fld>
            <a:endParaRPr lang="en-US" dirty="0"/>
          </a:p>
        </p:txBody>
      </p:sp>
    </p:spTree>
    <p:extLst>
      <p:ext uri="{BB962C8B-B14F-4D97-AF65-F5344CB8AC3E}">
        <p14:creationId xmlns:p14="http://schemas.microsoft.com/office/powerpoint/2010/main" val="16430078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0DDBA75-809B-DC6F-6088-6732D970A315}"/>
              </a:ext>
            </a:extLst>
          </p:cNvPr>
          <p:cNvSpPr>
            <a:spLocks noGrp="1"/>
          </p:cNvSpPr>
          <p:nvPr>
            <p:ph type="title"/>
          </p:nvPr>
        </p:nvSpPr>
        <p:spPr>
          <a:xfrm>
            <a:off x="687011" y="1589764"/>
            <a:ext cx="5636380" cy="769257"/>
          </a:xfrm>
        </p:spPr>
        <p:txBody>
          <a:bodyPr>
            <a:normAutofit fontScale="90000"/>
          </a:bodyPr>
          <a:lstStyle/>
          <a:p>
            <a:r>
              <a:rPr lang="el-GR" dirty="0">
                <a:solidFill>
                  <a:schemeClr val="accent5"/>
                </a:solidFill>
              </a:rPr>
              <a:t>Αρχιτεκτονική Λογισμικού (1)</a:t>
            </a:r>
          </a:p>
        </p:txBody>
      </p:sp>
      <p:sp>
        <p:nvSpPr>
          <p:cNvPr id="3" name="Θέση περιεχομένου 2">
            <a:extLst>
              <a:ext uri="{FF2B5EF4-FFF2-40B4-BE49-F238E27FC236}">
                <a16:creationId xmlns:a16="http://schemas.microsoft.com/office/drawing/2014/main" id="{097DF9D3-7AD9-8563-71F2-8B6A66F72875}"/>
              </a:ext>
            </a:extLst>
          </p:cNvPr>
          <p:cNvSpPr>
            <a:spLocks noGrp="1"/>
          </p:cNvSpPr>
          <p:nvPr>
            <p:ph idx="1"/>
          </p:nvPr>
        </p:nvSpPr>
        <p:spPr>
          <a:xfrm>
            <a:off x="687011" y="2359021"/>
            <a:ext cx="8205409" cy="2139958"/>
          </a:xfrm>
        </p:spPr>
        <p:txBody>
          <a:bodyPr/>
          <a:lstStyle/>
          <a:p>
            <a:pPr marL="0" indent="0">
              <a:buNone/>
            </a:pPr>
            <a:r>
              <a:rPr lang="el-GR" dirty="0"/>
              <a:t>   Όπως κάναμε στην αρχιτεκτονική υλικού αυτή τη φορά θα έχουμε την ίδια φιλοσοφία και για το λογισμικό με στόχο να περιγράψουμε την επιφάνεια λογισμικό με λεπτομέρειες. </a:t>
            </a:r>
          </a:p>
          <a:p>
            <a:pPr marL="0" indent="0">
              <a:buNone/>
            </a:pPr>
            <a:r>
              <a:rPr lang="el-GR" dirty="0"/>
              <a:t>   Έτσι θα έχουμε πετύχει ουσιαστικά να παρουσιάσουμε το ολόκληρο σύστημα και την διασύνδεση αυτών των 2 αρχιτεκτονικών.</a:t>
            </a:r>
          </a:p>
        </p:txBody>
      </p:sp>
      <p:sp>
        <p:nvSpPr>
          <p:cNvPr id="4" name="Θέση αριθμού διαφάνειας 3">
            <a:extLst>
              <a:ext uri="{FF2B5EF4-FFF2-40B4-BE49-F238E27FC236}">
                <a16:creationId xmlns:a16="http://schemas.microsoft.com/office/drawing/2014/main" id="{E70D5621-1342-3CD6-684A-DFE485D605C1}"/>
              </a:ext>
            </a:extLst>
          </p:cNvPr>
          <p:cNvSpPr>
            <a:spLocks noGrp="1"/>
          </p:cNvSpPr>
          <p:nvPr>
            <p:ph type="sldNum" sz="quarter" idx="12"/>
          </p:nvPr>
        </p:nvSpPr>
        <p:spPr/>
        <p:txBody>
          <a:bodyPr/>
          <a:lstStyle/>
          <a:p>
            <a:fld id="{519954A3-9DFD-4C44-94BA-B95130A3BA1C}" type="slidenum">
              <a:rPr lang="en-US" smtClean="0"/>
              <a:t>32</a:t>
            </a:fld>
            <a:endParaRPr lang="en-US" dirty="0"/>
          </a:p>
        </p:txBody>
      </p:sp>
    </p:spTree>
    <p:extLst>
      <p:ext uri="{BB962C8B-B14F-4D97-AF65-F5344CB8AC3E}">
        <p14:creationId xmlns:p14="http://schemas.microsoft.com/office/powerpoint/2010/main" val="6301474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15856E8-BF32-A559-93B2-1350B171AF87}"/>
              </a:ext>
            </a:extLst>
          </p:cNvPr>
          <p:cNvSpPr>
            <a:spLocks noGrp="1"/>
          </p:cNvSpPr>
          <p:nvPr>
            <p:ph type="title"/>
          </p:nvPr>
        </p:nvSpPr>
        <p:spPr>
          <a:xfrm>
            <a:off x="677334" y="609600"/>
            <a:ext cx="6304037" cy="740229"/>
          </a:xfrm>
        </p:spPr>
        <p:txBody>
          <a:bodyPr/>
          <a:lstStyle/>
          <a:p>
            <a:r>
              <a:rPr lang="el-GR" dirty="0">
                <a:solidFill>
                  <a:schemeClr val="accent5"/>
                </a:solidFill>
              </a:rPr>
              <a:t>Αρχιτεκτονική Λογισμικού (2)</a:t>
            </a:r>
          </a:p>
        </p:txBody>
      </p:sp>
      <p:pic>
        <p:nvPicPr>
          <p:cNvPr id="4" name="Θέση περιεχομένου 3">
            <a:extLst>
              <a:ext uri="{FF2B5EF4-FFF2-40B4-BE49-F238E27FC236}">
                <a16:creationId xmlns:a16="http://schemas.microsoft.com/office/drawing/2014/main" id="{D763A829-31D3-1366-9032-94D55A24187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37057" y="1358428"/>
            <a:ext cx="4798801" cy="5126226"/>
          </a:xfrm>
          <a:prstGeom prst="rect">
            <a:avLst/>
          </a:prstGeom>
          <a:noFill/>
          <a:ln>
            <a:noFill/>
          </a:ln>
        </p:spPr>
      </p:pic>
      <p:sp>
        <p:nvSpPr>
          <p:cNvPr id="3" name="Θέση αριθμού διαφάνειας 2">
            <a:extLst>
              <a:ext uri="{FF2B5EF4-FFF2-40B4-BE49-F238E27FC236}">
                <a16:creationId xmlns:a16="http://schemas.microsoft.com/office/drawing/2014/main" id="{9F46AC69-C99D-8D61-5F89-36A488D59FDE}"/>
              </a:ext>
            </a:extLst>
          </p:cNvPr>
          <p:cNvSpPr>
            <a:spLocks noGrp="1"/>
          </p:cNvSpPr>
          <p:nvPr>
            <p:ph type="sldNum" sz="quarter" idx="12"/>
          </p:nvPr>
        </p:nvSpPr>
        <p:spPr/>
        <p:txBody>
          <a:bodyPr/>
          <a:lstStyle/>
          <a:p>
            <a:fld id="{519954A3-9DFD-4C44-94BA-B95130A3BA1C}" type="slidenum">
              <a:rPr lang="en-US" smtClean="0"/>
              <a:t>33</a:t>
            </a:fld>
            <a:endParaRPr lang="en-US" dirty="0"/>
          </a:p>
        </p:txBody>
      </p:sp>
    </p:spTree>
    <p:extLst>
      <p:ext uri="{BB962C8B-B14F-4D97-AF65-F5344CB8AC3E}">
        <p14:creationId xmlns:p14="http://schemas.microsoft.com/office/powerpoint/2010/main" val="36548402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3B60281-B63C-2EC3-5701-E8BE2496FE81}"/>
              </a:ext>
            </a:extLst>
          </p:cNvPr>
          <p:cNvSpPr>
            <a:spLocks noGrp="1"/>
          </p:cNvSpPr>
          <p:nvPr>
            <p:ph type="title"/>
          </p:nvPr>
        </p:nvSpPr>
        <p:spPr>
          <a:xfrm>
            <a:off x="677334" y="2162628"/>
            <a:ext cx="5621866" cy="609600"/>
          </a:xfrm>
        </p:spPr>
        <p:txBody>
          <a:bodyPr>
            <a:normAutofit fontScale="90000"/>
          </a:bodyPr>
          <a:lstStyle/>
          <a:p>
            <a:r>
              <a:rPr lang="el-GR" dirty="0"/>
              <a:t>Υποσυστήματα Λογισμικού</a:t>
            </a:r>
          </a:p>
        </p:txBody>
      </p:sp>
      <p:sp>
        <p:nvSpPr>
          <p:cNvPr id="3" name="Θέση περιεχομένου 2">
            <a:extLst>
              <a:ext uri="{FF2B5EF4-FFF2-40B4-BE49-F238E27FC236}">
                <a16:creationId xmlns:a16="http://schemas.microsoft.com/office/drawing/2014/main" id="{0B69847C-62FD-C197-8D13-FD64AE301543}"/>
              </a:ext>
            </a:extLst>
          </p:cNvPr>
          <p:cNvSpPr>
            <a:spLocks noGrp="1"/>
          </p:cNvSpPr>
          <p:nvPr>
            <p:ph idx="1"/>
          </p:nvPr>
        </p:nvSpPr>
        <p:spPr>
          <a:xfrm>
            <a:off x="677334" y="2886303"/>
            <a:ext cx="5418666" cy="2716211"/>
          </a:xfrm>
        </p:spPr>
        <p:txBody>
          <a:bodyPr/>
          <a:lstStyle/>
          <a:p>
            <a:r>
              <a:rPr lang="el-GR" dirty="0"/>
              <a:t>Λειτουργικό Σύστημα</a:t>
            </a:r>
          </a:p>
          <a:p>
            <a:r>
              <a:rPr lang="el-GR" dirty="0"/>
              <a:t>Βάση Δεδομένων</a:t>
            </a:r>
          </a:p>
          <a:p>
            <a:pPr marL="0" indent="0">
              <a:buNone/>
            </a:pPr>
            <a:r>
              <a:rPr lang="el-GR" sz="1800" dirty="0">
                <a:solidFill>
                  <a:schemeClr val="accent1"/>
                </a:solidFill>
              </a:rPr>
              <a:t>     •</a:t>
            </a:r>
            <a:r>
              <a:rPr lang="el-GR" sz="1800" dirty="0">
                <a:solidFill>
                  <a:schemeClr val="accent5"/>
                </a:solidFill>
              </a:rPr>
              <a:t> </a:t>
            </a:r>
            <a:r>
              <a:rPr lang="el-GR" sz="1800" dirty="0"/>
              <a:t>Αναζήτηση στη Βάση Δεδομένων</a:t>
            </a:r>
            <a:endParaRPr lang="el-GR" dirty="0"/>
          </a:p>
          <a:p>
            <a:r>
              <a:rPr lang="el-GR" dirty="0"/>
              <a:t>Γραφικό Περιβάλλον Χρήστη</a:t>
            </a:r>
          </a:p>
          <a:p>
            <a:pPr marL="0" indent="0">
              <a:buNone/>
            </a:pPr>
            <a:r>
              <a:rPr lang="el-GR" sz="1800" dirty="0">
                <a:solidFill>
                  <a:schemeClr val="accent5"/>
                </a:solidFill>
              </a:rPr>
              <a:t>     </a:t>
            </a:r>
            <a:r>
              <a:rPr lang="el-GR" sz="1800" dirty="0">
                <a:solidFill>
                  <a:schemeClr val="accent1"/>
                </a:solidFill>
              </a:rPr>
              <a:t>•</a:t>
            </a:r>
            <a:r>
              <a:rPr lang="el-GR" sz="1800" dirty="0">
                <a:solidFill>
                  <a:schemeClr val="accent5"/>
                </a:solidFill>
              </a:rPr>
              <a:t> </a:t>
            </a:r>
            <a:r>
              <a:rPr lang="el-GR" sz="1800" dirty="0"/>
              <a:t>Σχεδίαση στην Οθόνη</a:t>
            </a:r>
          </a:p>
          <a:p>
            <a:pPr marL="0" indent="0">
              <a:buNone/>
            </a:pPr>
            <a:r>
              <a:rPr lang="el-GR" dirty="0">
                <a:solidFill>
                  <a:schemeClr val="accent1"/>
                </a:solidFill>
              </a:rPr>
              <a:t>     </a:t>
            </a:r>
            <a:r>
              <a:rPr lang="el-GR" sz="1800" dirty="0">
                <a:solidFill>
                  <a:schemeClr val="accent1"/>
                </a:solidFill>
              </a:rPr>
              <a:t>•</a:t>
            </a:r>
            <a:r>
              <a:rPr lang="el-GR" sz="1800" dirty="0">
                <a:solidFill>
                  <a:schemeClr val="accent5"/>
                </a:solidFill>
              </a:rPr>
              <a:t> </a:t>
            </a:r>
            <a:r>
              <a:rPr lang="el-GR" sz="1800" dirty="0"/>
              <a:t>Σχεδίαση στην Εφαρμογή</a:t>
            </a:r>
            <a:endParaRPr lang="el-GR" dirty="0"/>
          </a:p>
        </p:txBody>
      </p:sp>
      <p:sp>
        <p:nvSpPr>
          <p:cNvPr id="4" name="Θέση αριθμού διαφάνειας 3">
            <a:extLst>
              <a:ext uri="{FF2B5EF4-FFF2-40B4-BE49-F238E27FC236}">
                <a16:creationId xmlns:a16="http://schemas.microsoft.com/office/drawing/2014/main" id="{9DF9147D-C1D3-B74B-AFF4-721B201C8FD9}"/>
              </a:ext>
            </a:extLst>
          </p:cNvPr>
          <p:cNvSpPr>
            <a:spLocks noGrp="1"/>
          </p:cNvSpPr>
          <p:nvPr>
            <p:ph type="sldNum" sz="quarter" idx="12"/>
          </p:nvPr>
        </p:nvSpPr>
        <p:spPr/>
        <p:txBody>
          <a:bodyPr/>
          <a:lstStyle/>
          <a:p>
            <a:fld id="{519954A3-9DFD-4C44-94BA-B95130A3BA1C}" type="slidenum">
              <a:rPr lang="en-US" smtClean="0"/>
              <a:t>34</a:t>
            </a:fld>
            <a:endParaRPr lang="en-US" dirty="0"/>
          </a:p>
        </p:txBody>
      </p:sp>
    </p:spTree>
    <p:extLst>
      <p:ext uri="{BB962C8B-B14F-4D97-AF65-F5344CB8AC3E}">
        <p14:creationId xmlns:p14="http://schemas.microsoft.com/office/powerpoint/2010/main" val="2430433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C4F60B59-6D06-8780-D123-4B74212B677D}"/>
              </a:ext>
            </a:extLst>
          </p:cNvPr>
          <p:cNvSpPr>
            <a:spLocks noGrp="1"/>
          </p:cNvSpPr>
          <p:nvPr>
            <p:ph type="title"/>
          </p:nvPr>
        </p:nvSpPr>
        <p:spPr/>
        <p:txBody>
          <a:bodyPr/>
          <a:lstStyle/>
          <a:p>
            <a:r>
              <a:rPr lang="el-GR" dirty="0"/>
              <a:t>Λειτουργικό Σύστημα</a:t>
            </a:r>
          </a:p>
        </p:txBody>
      </p:sp>
      <p:sp>
        <p:nvSpPr>
          <p:cNvPr id="3" name="Θέση περιεχομένου 2">
            <a:extLst>
              <a:ext uri="{FF2B5EF4-FFF2-40B4-BE49-F238E27FC236}">
                <a16:creationId xmlns:a16="http://schemas.microsoft.com/office/drawing/2014/main" id="{340284D9-F883-1216-C5B9-02EA02CF8F35}"/>
              </a:ext>
            </a:extLst>
          </p:cNvPr>
          <p:cNvSpPr>
            <a:spLocks noGrp="1"/>
          </p:cNvSpPr>
          <p:nvPr>
            <p:ph idx="1"/>
          </p:nvPr>
        </p:nvSpPr>
        <p:spPr>
          <a:xfrm>
            <a:off x="657982" y="1488613"/>
            <a:ext cx="8596668" cy="4984758"/>
          </a:xfrm>
        </p:spPr>
        <p:txBody>
          <a:bodyPr/>
          <a:lstStyle/>
          <a:p>
            <a:r>
              <a:rPr lang="el-GR" dirty="0"/>
              <a:t>Για λειτουργικό σύστημα θα χρησιμοποιήσουμε το </a:t>
            </a:r>
            <a:r>
              <a:rPr lang="en-US" dirty="0"/>
              <a:t>Zephyr OS</a:t>
            </a:r>
            <a:r>
              <a:rPr lang="el-GR" dirty="0"/>
              <a:t>, Έχει έμφαση σε μικροελεγκτές, όπως υποστηρίζει και διάφορες αρχιτεκτονικές με την άδεια Apache 2.0.</a:t>
            </a:r>
          </a:p>
          <a:p>
            <a:r>
              <a:rPr lang="el-GR" dirty="0"/>
              <a:t>Περιέχει τις βιβλιοθήκες, τα προγράμματα οδήγησης συσκευών, τις στοίβες πρωτοκόλλων, τα συστήματα αρχείων και τις ενημερώσεις υλικού-λογισμικού, που απαιτούνται για την ανάπτυξη πλήρους λογισμικού εφαρμογής.</a:t>
            </a:r>
          </a:p>
          <a:p>
            <a:endParaRPr lang="el-GR" dirty="0"/>
          </a:p>
          <a:p>
            <a:endParaRPr lang="el-GR" dirty="0"/>
          </a:p>
          <a:p>
            <a:pPr marL="0" indent="0">
              <a:buNone/>
            </a:pPr>
            <a:endParaRPr lang="el-GR" dirty="0"/>
          </a:p>
        </p:txBody>
      </p:sp>
      <p:pic>
        <p:nvPicPr>
          <p:cNvPr id="6" name="Εικόνα 5">
            <a:extLst>
              <a:ext uri="{FF2B5EF4-FFF2-40B4-BE49-F238E27FC236}">
                <a16:creationId xmlns:a16="http://schemas.microsoft.com/office/drawing/2014/main" id="{20316F78-2A47-5B0C-7E16-5201B2085809}"/>
              </a:ext>
            </a:extLst>
          </p:cNvPr>
          <p:cNvPicPr>
            <a:picLocks noChangeAspect="1"/>
          </p:cNvPicPr>
          <p:nvPr/>
        </p:nvPicPr>
        <p:blipFill>
          <a:blip r:embed="rId2"/>
          <a:stretch>
            <a:fillRect/>
          </a:stretch>
        </p:blipFill>
        <p:spPr>
          <a:xfrm>
            <a:off x="3400651" y="3805482"/>
            <a:ext cx="3619048" cy="1980952"/>
          </a:xfrm>
          <a:prstGeom prst="rect">
            <a:avLst/>
          </a:prstGeom>
        </p:spPr>
      </p:pic>
      <p:sp>
        <p:nvSpPr>
          <p:cNvPr id="4" name="Θέση αριθμού διαφάνειας 3">
            <a:extLst>
              <a:ext uri="{FF2B5EF4-FFF2-40B4-BE49-F238E27FC236}">
                <a16:creationId xmlns:a16="http://schemas.microsoft.com/office/drawing/2014/main" id="{9749357C-31D9-8992-49FB-F8F51B38CA01}"/>
              </a:ext>
            </a:extLst>
          </p:cNvPr>
          <p:cNvSpPr>
            <a:spLocks noGrp="1"/>
          </p:cNvSpPr>
          <p:nvPr>
            <p:ph type="sldNum" sz="quarter" idx="12"/>
          </p:nvPr>
        </p:nvSpPr>
        <p:spPr/>
        <p:txBody>
          <a:bodyPr/>
          <a:lstStyle/>
          <a:p>
            <a:fld id="{519954A3-9DFD-4C44-94BA-B95130A3BA1C}" type="slidenum">
              <a:rPr lang="en-US" smtClean="0"/>
              <a:t>35</a:t>
            </a:fld>
            <a:endParaRPr lang="en-US" dirty="0"/>
          </a:p>
        </p:txBody>
      </p:sp>
    </p:spTree>
    <p:extLst>
      <p:ext uri="{BB962C8B-B14F-4D97-AF65-F5344CB8AC3E}">
        <p14:creationId xmlns:p14="http://schemas.microsoft.com/office/powerpoint/2010/main" val="17572413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B659A57-307D-4AEA-B0EE-952D5FD803B7}"/>
              </a:ext>
            </a:extLst>
          </p:cNvPr>
          <p:cNvSpPr>
            <a:spLocks noGrp="1"/>
          </p:cNvSpPr>
          <p:nvPr>
            <p:ph type="title"/>
          </p:nvPr>
        </p:nvSpPr>
        <p:spPr/>
        <p:txBody>
          <a:bodyPr/>
          <a:lstStyle/>
          <a:p>
            <a:r>
              <a:rPr lang="el-GR" dirty="0"/>
              <a:t>Βάση Δεδομένων</a:t>
            </a:r>
          </a:p>
        </p:txBody>
      </p:sp>
      <p:sp>
        <p:nvSpPr>
          <p:cNvPr id="3" name="Θέση περιεχομένου 2">
            <a:extLst>
              <a:ext uri="{FF2B5EF4-FFF2-40B4-BE49-F238E27FC236}">
                <a16:creationId xmlns:a16="http://schemas.microsoft.com/office/drawing/2014/main" id="{A45299BA-E2B5-B0E0-3264-31B64E8306CA}"/>
              </a:ext>
            </a:extLst>
          </p:cNvPr>
          <p:cNvSpPr>
            <a:spLocks noGrp="1"/>
          </p:cNvSpPr>
          <p:nvPr>
            <p:ph idx="1"/>
          </p:nvPr>
        </p:nvSpPr>
        <p:spPr>
          <a:xfrm>
            <a:off x="677334" y="1270000"/>
            <a:ext cx="8596668" cy="5111750"/>
          </a:xfrm>
        </p:spPr>
        <p:txBody>
          <a:bodyPr/>
          <a:lstStyle/>
          <a:p>
            <a:r>
              <a:rPr lang="el-GR" dirty="0"/>
              <a:t>Το σύστημα χρησιμοποιεί βάση δεδομένων </a:t>
            </a:r>
            <a:r>
              <a:rPr lang="el-GR" dirty="0" err="1"/>
              <a:t>NoSQL</a:t>
            </a:r>
            <a:r>
              <a:rPr lang="el-GR" dirty="0"/>
              <a:t> για επεκτάσιμη και αποδοτική συμπεριφορά.</a:t>
            </a:r>
          </a:p>
          <a:p>
            <a:r>
              <a:rPr lang="el-GR" dirty="0"/>
              <a:t>Διαχειρίζεται μεγάλο όγκο δεδομένων, απαραίτητο λόγω των παρεχόμενων χαρακτηριστικών.</a:t>
            </a:r>
          </a:p>
          <a:p>
            <a:r>
              <a:rPr lang="el-GR" dirty="0"/>
              <a:t>Δεν έχει σταθερή δομή όπως οι SQL βάσεις δεδομένων, λειτουργεί δυναμικά και προσφέρει οριζόντια κλιμάκωση και γρήγορα queries.</a:t>
            </a:r>
          </a:p>
          <a:p>
            <a:r>
              <a:rPr lang="el-GR" dirty="0"/>
              <a:t>Επιτυγχάνει μηδενικό χρόνο αδράνειας (zero downtime) σε πιθανές ενημερώσεις, χρησιμοποιώντας το cloud, επιτρέποντας τη λειτουργία του συστήματος κατά τη διάρκεια αλλαγών στην εφαρμογή και το σύστημα.</a:t>
            </a:r>
          </a:p>
        </p:txBody>
      </p:sp>
      <p:pic>
        <p:nvPicPr>
          <p:cNvPr id="5" name="Εικόνα 4">
            <a:extLst>
              <a:ext uri="{FF2B5EF4-FFF2-40B4-BE49-F238E27FC236}">
                <a16:creationId xmlns:a16="http://schemas.microsoft.com/office/drawing/2014/main" id="{5B6B985C-C6F3-B1C8-254B-DA77EEFC2330}"/>
              </a:ext>
            </a:extLst>
          </p:cNvPr>
          <p:cNvPicPr>
            <a:picLocks noChangeAspect="1"/>
          </p:cNvPicPr>
          <p:nvPr/>
        </p:nvPicPr>
        <p:blipFill>
          <a:blip r:embed="rId2"/>
          <a:stretch>
            <a:fillRect/>
          </a:stretch>
        </p:blipFill>
        <p:spPr>
          <a:xfrm>
            <a:off x="3470906" y="4467309"/>
            <a:ext cx="3009524" cy="1352381"/>
          </a:xfrm>
          <a:prstGeom prst="rect">
            <a:avLst/>
          </a:prstGeom>
        </p:spPr>
      </p:pic>
      <p:sp>
        <p:nvSpPr>
          <p:cNvPr id="4" name="Θέση αριθμού διαφάνειας 3">
            <a:extLst>
              <a:ext uri="{FF2B5EF4-FFF2-40B4-BE49-F238E27FC236}">
                <a16:creationId xmlns:a16="http://schemas.microsoft.com/office/drawing/2014/main" id="{CE152428-5979-1DF1-6CE1-E1CA78AE0992}"/>
              </a:ext>
            </a:extLst>
          </p:cNvPr>
          <p:cNvSpPr>
            <a:spLocks noGrp="1"/>
          </p:cNvSpPr>
          <p:nvPr>
            <p:ph type="sldNum" sz="quarter" idx="12"/>
          </p:nvPr>
        </p:nvSpPr>
        <p:spPr/>
        <p:txBody>
          <a:bodyPr/>
          <a:lstStyle/>
          <a:p>
            <a:fld id="{519954A3-9DFD-4C44-94BA-B95130A3BA1C}" type="slidenum">
              <a:rPr lang="en-US" smtClean="0"/>
              <a:t>36</a:t>
            </a:fld>
            <a:endParaRPr lang="en-US" dirty="0"/>
          </a:p>
        </p:txBody>
      </p:sp>
    </p:spTree>
    <p:extLst>
      <p:ext uri="{BB962C8B-B14F-4D97-AF65-F5344CB8AC3E}">
        <p14:creationId xmlns:p14="http://schemas.microsoft.com/office/powerpoint/2010/main" val="39129551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E0D2B93-E754-0308-19E1-3C7FEF8F7416}"/>
              </a:ext>
            </a:extLst>
          </p:cNvPr>
          <p:cNvSpPr>
            <a:spLocks noGrp="1"/>
          </p:cNvSpPr>
          <p:nvPr>
            <p:ph type="title"/>
          </p:nvPr>
        </p:nvSpPr>
        <p:spPr>
          <a:xfrm>
            <a:off x="668868" y="2935286"/>
            <a:ext cx="6761691" cy="628650"/>
          </a:xfrm>
        </p:spPr>
        <p:txBody>
          <a:bodyPr>
            <a:normAutofit fontScale="90000"/>
          </a:bodyPr>
          <a:lstStyle/>
          <a:p>
            <a:r>
              <a:rPr lang="el-GR" dirty="0"/>
              <a:t>Αναζήτηση στη Βάση Δεδομένων</a:t>
            </a:r>
          </a:p>
        </p:txBody>
      </p:sp>
      <p:sp>
        <p:nvSpPr>
          <p:cNvPr id="3" name="Θέση περιεχομένου 2">
            <a:extLst>
              <a:ext uri="{FF2B5EF4-FFF2-40B4-BE49-F238E27FC236}">
                <a16:creationId xmlns:a16="http://schemas.microsoft.com/office/drawing/2014/main" id="{53063AEF-1F60-3783-5935-C03DB6E089A7}"/>
              </a:ext>
            </a:extLst>
          </p:cNvPr>
          <p:cNvSpPr>
            <a:spLocks noGrp="1"/>
          </p:cNvSpPr>
          <p:nvPr>
            <p:ph idx="1"/>
          </p:nvPr>
        </p:nvSpPr>
        <p:spPr>
          <a:xfrm>
            <a:off x="668868" y="3608389"/>
            <a:ext cx="8447616" cy="1116011"/>
          </a:xfrm>
        </p:spPr>
        <p:txBody>
          <a:bodyPr/>
          <a:lstStyle/>
          <a:p>
            <a:pPr marL="0" indent="0">
              <a:buNone/>
            </a:pPr>
            <a:r>
              <a:rPr lang="el-GR" dirty="0"/>
              <a:t>Η αναζήτηση δεδομένων στη βάση μας θα γίνεται μέσω φιλικής επιφάνειας </a:t>
            </a:r>
            <a:r>
              <a:rPr lang="en-US" dirty="0"/>
              <a:t>GUI</a:t>
            </a:r>
            <a:r>
              <a:rPr lang="el-GR" dirty="0"/>
              <a:t> που θα βασίζεται σε </a:t>
            </a:r>
            <a:r>
              <a:rPr lang="en-US" dirty="0"/>
              <a:t>NoSQL </a:t>
            </a:r>
            <a:r>
              <a:rPr lang="el-GR" dirty="0"/>
              <a:t>και θα περιέχει διάφορες λειτουργίες για τροποποιημένες αναζήτησής (</a:t>
            </a:r>
            <a:r>
              <a:rPr lang="en-US" dirty="0"/>
              <a:t>triggers, procedures</a:t>
            </a:r>
            <a:r>
              <a:rPr lang="el-GR" dirty="0"/>
              <a:t>)</a:t>
            </a:r>
            <a:r>
              <a:rPr lang="en-US" dirty="0"/>
              <a:t>.</a:t>
            </a:r>
            <a:endParaRPr lang="el-GR" dirty="0"/>
          </a:p>
        </p:txBody>
      </p:sp>
      <p:sp>
        <p:nvSpPr>
          <p:cNvPr id="4" name="Θέση αριθμού διαφάνειας 3">
            <a:extLst>
              <a:ext uri="{FF2B5EF4-FFF2-40B4-BE49-F238E27FC236}">
                <a16:creationId xmlns:a16="http://schemas.microsoft.com/office/drawing/2014/main" id="{E05C96A2-CAAE-8521-0506-BDA33752F835}"/>
              </a:ext>
            </a:extLst>
          </p:cNvPr>
          <p:cNvSpPr>
            <a:spLocks noGrp="1"/>
          </p:cNvSpPr>
          <p:nvPr>
            <p:ph type="sldNum" sz="quarter" idx="12"/>
          </p:nvPr>
        </p:nvSpPr>
        <p:spPr/>
        <p:txBody>
          <a:bodyPr/>
          <a:lstStyle/>
          <a:p>
            <a:fld id="{519954A3-9DFD-4C44-94BA-B95130A3BA1C}" type="slidenum">
              <a:rPr lang="en-US" smtClean="0"/>
              <a:t>37</a:t>
            </a:fld>
            <a:endParaRPr lang="en-US" dirty="0"/>
          </a:p>
        </p:txBody>
      </p:sp>
    </p:spTree>
    <p:extLst>
      <p:ext uri="{BB962C8B-B14F-4D97-AF65-F5344CB8AC3E}">
        <p14:creationId xmlns:p14="http://schemas.microsoft.com/office/powerpoint/2010/main" val="19502037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C8501B4-E9FA-DBBA-CEEE-9EE41596CCAF}"/>
              </a:ext>
            </a:extLst>
          </p:cNvPr>
          <p:cNvSpPr>
            <a:spLocks noGrp="1"/>
          </p:cNvSpPr>
          <p:nvPr>
            <p:ph type="title"/>
          </p:nvPr>
        </p:nvSpPr>
        <p:spPr>
          <a:xfrm>
            <a:off x="677335" y="1384301"/>
            <a:ext cx="6104466" cy="752475"/>
          </a:xfrm>
        </p:spPr>
        <p:txBody>
          <a:bodyPr/>
          <a:lstStyle/>
          <a:p>
            <a:r>
              <a:rPr lang="el-GR" dirty="0"/>
              <a:t>Γραφικό Περιβάλλον Χρήστη</a:t>
            </a:r>
          </a:p>
        </p:txBody>
      </p:sp>
      <p:sp>
        <p:nvSpPr>
          <p:cNvPr id="3" name="Θέση περιεχομένου 2">
            <a:extLst>
              <a:ext uri="{FF2B5EF4-FFF2-40B4-BE49-F238E27FC236}">
                <a16:creationId xmlns:a16="http://schemas.microsoft.com/office/drawing/2014/main" id="{74744DE2-5456-59F7-8176-415EDB13EBC6}"/>
              </a:ext>
            </a:extLst>
          </p:cNvPr>
          <p:cNvSpPr>
            <a:spLocks noGrp="1"/>
          </p:cNvSpPr>
          <p:nvPr>
            <p:ph idx="1"/>
          </p:nvPr>
        </p:nvSpPr>
        <p:spPr>
          <a:xfrm>
            <a:off x="677335" y="2160589"/>
            <a:ext cx="6390216" cy="4087811"/>
          </a:xfrm>
        </p:spPr>
        <p:txBody>
          <a:bodyPr/>
          <a:lstStyle/>
          <a:p>
            <a:pPr marL="0" indent="0">
              <a:buNone/>
            </a:pPr>
            <a:r>
              <a:rPr lang="el-GR" sz="1800" dirty="0">
                <a:effectLst/>
                <a:ea typeface="Calibri" panose="020F0502020204030204" pitchFamily="34" charset="0"/>
                <a:cs typeface="Times New Roman" panose="02020603050405020304" pitchFamily="18" charset="0"/>
              </a:rPr>
              <a:t>Για την ανάπτυξη της </a:t>
            </a:r>
            <a:r>
              <a:rPr lang="en-US" sz="1800" dirty="0">
                <a:effectLst/>
                <a:ea typeface="Calibri" panose="020F0502020204030204" pitchFamily="34" charset="0"/>
                <a:cs typeface="Times New Roman" panose="02020603050405020304" pitchFamily="18" charset="0"/>
              </a:rPr>
              <a:t>GUI </a:t>
            </a:r>
            <a:r>
              <a:rPr lang="el-GR" sz="1800" dirty="0">
                <a:effectLst/>
                <a:ea typeface="Calibri" panose="020F0502020204030204" pitchFamily="34" charset="0"/>
                <a:cs typeface="Times New Roman" panose="02020603050405020304" pitchFamily="18" charset="0"/>
              </a:rPr>
              <a:t>θα χρησιμοποιήσουμε την εφαρμογή </a:t>
            </a:r>
            <a:r>
              <a:rPr lang="en-US" sz="1800" dirty="0">
                <a:effectLst/>
                <a:ea typeface="Calibri" panose="020F0502020204030204" pitchFamily="34" charset="0"/>
                <a:cs typeface="Times New Roman" panose="02020603050405020304" pitchFamily="18" charset="0"/>
              </a:rPr>
              <a:t>Flutter </a:t>
            </a:r>
            <a:r>
              <a:rPr lang="el-GR" sz="1800" dirty="0">
                <a:effectLst/>
                <a:ea typeface="Calibri" panose="020F0502020204030204" pitchFamily="34" charset="0"/>
                <a:cs typeface="Times New Roman" panose="02020603050405020304" pitchFamily="18" charset="0"/>
              </a:rPr>
              <a:t>που υποστηρίζει την βάση δεδομένων </a:t>
            </a:r>
            <a:r>
              <a:rPr lang="en-US" sz="1800" dirty="0">
                <a:effectLst/>
                <a:ea typeface="Calibri" panose="020F0502020204030204" pitchFamily="34" charset="0"/>
                <a:cs typeface="Times New Roman" panose="02020603050405020304" pitchFamily="18" charset="0"/>
              </a:rPr>
              <a:t>NoSQL </a:t>
            </a:r>
            <a:r>
              <a:rPr lang="el-GR" sz="1800" dirty="0">
                <a:effectLst/>
                <a:ea typeface="Calibri" panose="020F0502020204030204" pitchFamily="34" charset="0"/>
                <a:cs typeface="Times New Roman" panose="02020603050405020304" pitchFamily="18" charset="0"/>
              </a:rPr>
              <a:t>αλλά και ενσωματωμένα συστήματα </a:t>
            </a:r>
          </a:p>
          <a:p>
            <a:pPr marL="0" indent="0">
              <a:buNone/>
            </a:pPr>
            <a:endParaRPr lang="el-GR" dirty="0"/>
          </a:p>
        </p:txBody>
      </p:sp>
      <p:pic>
        <p:nvPicPr>
          <p:cNvPr id="5" name="Εικόνα 4">
            <a:extLst>
              <a:ext uri="{FF2B5EF4-FFF2-40B4-BE49-F238E27FC236}">
                <a16:creationId xmlns:a16="http://schemas.microsoft.com/office/drawing/2014/main" id="{BE5FC55D-B393-16F8-7952-48BE63D686CD}"/>
              </a:ext>
            </a:extLst>
          </p:cNvPr>
          <p:cNvPicPr>
            <a:picLocks noChangeAspect="1"/>
          </p:cNvPicPr>
          <p:nvPr/>
        </p:nvPicPr>
        <p:blipFill>
          <a:blip r:embed="rId2"/>
          <a:stretch>
            <a:fillRect/>
          </a:stretch>
        </p:blipFill>
        <p:spPr>
          <a:xfrm>
            <a:off x="1825625" y="3562350"/>
            <a:ext cx="4064000" cy="2286000"/>
          </a:xfrm>
          <a:prstGeom prst="rect">
            <a:avLst/>
          </a:prstGeom>
        </p:spPr>
      </p:pic>
      <p:sp>
        <p:nvSpPr>
          <p:cNvPr id="4" name="Θέση αριθμού διαφάνειας 3">
            <a:extLst>
              <a:ext uri="{FF2B5EF4-FFF2-40B4-BE49-F238E27FC236}">
                <a16:creationId xmlns:a16="http://schemas.microsoft.com/office/drawing/2014/main" id="{9782F269-39F4-4CDC-ECFB-4193E8E09636}"/>
              </a:ext>
            </a:extLst>
          </p:cNvPr>
          <p:cNvSpPr>
            <a:spLocks noGrp="1"/>
          </p:cNvSpPr>
          <p:nvPr>
            <p:ph type="sldNum" sz="quarter" idx="12"/>
          </p:nvPr>
        </p:nvSpPr>
        <p:spPr/>
        <p:txBody>
          <a:bodyPr/>
          <a:lstStyle/>
          <a:p>
            <a:fld id="{519954A3-9DFD-4C44-94BA-B95130A3BA1C}" type="slidenum">
              <a:rPr lang="en-US" smtClean="0"/>
              <a:t>38</a:t>
            </a:fld>
            <a:endParaRPr lang="en-US" dirty="0"/>
          </a:p>
        </p:txBody>
      </p:sp>
    </p:spTree>
    <p:extLst>
      <p:ext uri="{BB962C8B-B14F-4D97-AF65-F5344CB8AC3E}">
        <p14:creationId xmlns:p14="http://schemas.microsoft.com/office/powerpoint/2010/main" val="7225133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59E49A9-73C4-C503-52F5-631CA156D4A2}"/>
              </a:ext>
            </a:extLst>
          </p:cNvPr>
          <p:cNvSpPr>
            <a:spLocks noGrp="1"/>
          </p:cNvSpPr>
          <p:nvPr>
            <p:ph type="title"/>
          </p:nvPr>
        </p:nvSpPr>
        <p:spPr>
          <a:xfrm>
            <a:off x="677334" y="609600"/>
            <a:ext cx="4561416" cy="704850"/>
          </a:xfrm>
        </p:spPr>
        <p:txBody>
          <a:bodyPr/>
          <a:lstStyle/>
          <a:p>
            <a:r>
              <a:rPr lang="el-GR" dirty="0"/>
              <a:t>Σχεδίαση στην Οθόνη</a:t>
            </a:r>
          </a:p>
        </p:txBody>
      </p:sp>
      <p:sp>
        <p:nvSpPr>
          <p:cNvPr id="3" name="Θέση περιεχομένου 2">
            <a:extLst>
              <a:ext uri="{FF2B5EF4-FFF2-40B4-BE49-F238E27FC236}">
                <a16:creationId xmlns:a16="http://schemas.microsoft.com/office/drawing/2014/main" id="{E36B94D7-E3E7-98E0-A1B0-2B6718169E16}"/>
              </a:ext>
            </a:extLst>
          </p:cNvPr>
          <p:cNvSpPr>
            <a:spLocks noGrp="1"/>
          </p:cNvSpPr>
          <p:nvPr>
            <p:ph idx="1"/>
          </p:nvPr>
        </p:nvSpPr>
        <p:spPr>
          <a:xfrm>
            <a:off x="677334" y="1314451"/>
            <a:ext cx="8596668" cy="3048000"/>
          </a:xfrm>
        </p:spPr>
        <p:txBody>
          <a:bodyPr/>
          <a:lstStyle/>
          <a:p>
            <a:r>
              <a:rPr lang="el-GR" dirty="0"/>
              <a:t>Η σχεδίαση του γραφικού περιβάλλοντος στο ενσωματωμένο σύστημα προβλέπει οθόνη 800x480, με διαφοροποιήσεις από μια κανονική σχεδίαση κινητού.</a:t>
            </a:r>
          </a:p>
          <a:p>
            <a:r>
              <a:rPr lang="el-GR" dirty="0"/>
              <a:t>Το αρχικό μενού ρύθμισης σχεδιάζεται για την άμεση ευκολία του χρήστη, περιλαμβάνοντας στρατηγικές για γρήγορη προσπέλαση. Στην αρχική οθόνη, το μενού είναι ορατό χωρίς περαιτέρω κλικ, ενώ η ανάλυση δεδομένων παλιών εξασκήσεων απαιτεί επιπλέον ενέργεια.</a:t>
            </a:r>
          </a:p>
          <a:p>
            <a:r>
              <a:rPr lang="el-GR" dirty="0"/>
              <a:t>Κάθε «κουμπί» σχεδιάζεται με έμφαση στην ευχαρίστηση του χρήστη, προσφέροντας μεγάλο όγκο επιλογών για απλό και ευανάγνωστο Interface.</a:t>
            </a:r>
          </a:p>
        </p:txBody>
      </p:sp>
      <p:sp>
        <p:nvSpPr>
          <p:cNvPr id="4" name="Θέση αριθμού διαφάνειας 3">
            <a:extLst>
              <a:ext uri="{FF2B5EF4-FFF2-40B4-BE49-F238E27FC236}">
                <a16:creationId xmlns:a16="http://schemas.microsoft.com/office/drawing/2014/main" id="{F112FE8C-11BD-4EE7-E6B5-D2F1C1B4B323}"/>
              </a:ext>
            </a:extLst>
          </p:cNvPr>
          <p:cNvSpPr>
            <a:spLocks noGrp="1"/>
          </p:cNvSpPr>
          <p:nvPr>
            <p:ph type="sldNum" sz="quarter" idx="12"/>
          </p:nvPr>
        </p:nvSpPr>
        <p:spPr/>
        <p:txBody>
          <a:bodyPr/>
          <a:lstStyle/>
          <a:p>
            <a:fld id="{519954A3-9DFD-4C44-94BA-B95130A3BA1C}" type="slidenum">
              <a:rPr lang="en-US" smtClean="0"/>
              <a:t>39</a:t>
            </a:fld>
            <a:endParaRPr lang="en-US" dirty="0"/>
          </a:p>
        </p:txBody>
      </p:sp>
    </p:spTree>
    <p:extLst>
      <p:ext uri="{BB962C8B-B14F-4D97-AF65-F5344CB8AC3E}">
        <p14:creationId xmlns:p14="http://schemas.microsoft.com/office/powerpoint/2010/main" val="19074198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49B7B35-2BAB-5212-CC20-187A07A1E6F1}"/>
              </a:ext>
            </a:extLst>
          </p:cNvPr>
          <p:cNvSpPr>
            <a:spLocks noGrp="1"/>
          </p:cNvSpPr>
          <p:nvPr>
            <p:ph type="title"/>
          </p:nvPr>
        </p:nvSpPr>
        <p:spPr>
          <a:xfrm>
            <a:off x="677334" y="609600"/>
            <a:ext cx="5256741" cy="695325"/>
          </a:xfrm>
        </p:spPr>
        <p:txBody>
          <a:bodyPr>
            <a:normAutofit fontScale="90000"/>
          </a:bodyPr>
          <a:lstStyle/>
          <a:p>
            <a:r>
              <a:rPr lang="el-GR" dirty="0"/>
              <a:t>Σχεδίαση στην Εφαρμογή</a:t>
            </a:r>
          </a:p>
        </p:txBody>
      </p:sp>
      <p:sp>
        <p:nvSpPr>
          <p:cNvPr id="3" name="Θέση περιεχομένου 2">
            <a:extLst>
              <a:ext uri="{FF2B5EF4-FFF2-40B4-BE49-F238E27FC236}">
                <a16:creationId xmlns:a16="http://schemas.microsoft.com/office/drawing/2014/main" id="{A47B2C2A-84E0-6640-4DA9-DAE4DED415BB}"/>
              </a:ext>
            </a:extLst>
          </p:cNvPr>
          <p:cNvSpPr>
            <a:spLocks noGrp="1"/>
          </p:cNvSpPr>
          <p:nvPr>
            <p:ph idx="1"/>
          </p:nvPr>
        </p:nvSpPr>
        <p:spPr>
          <a:xfrm>
            <a:off x="677334" y="1488613"/>
            <a:ext cx="8596668" cy="5074112"/>
          </a:xfrm>
        </p:spPr>
        <p:txBody>
          <a:bodyPr>
            <a:normAutofit/>
          </a:bodyPr>
          <a:lstStyle/>
          <a:p>
            <a:r>
              <a:rPr lang="el-GR" b="1" dirty="0">
                <a:solidFill>
                  <a:schemeClr val="accent2"/>
                </a:solidFill>
              </a:rPr>
              <a:t>Σύνδεση Εφαρμογής με το Υλικό</a:t>
            </a:r>
            <a:r>
              <a:rPr lang="en-US" dirty="0"/>
              <a:t>: </a:t>
            </a:r>
          </a:p>
          <a:p>
            <a:pPr>
              <a:buFont typeface="Wingdings" panose="05000000000000000000" pitchFamily="2" charset="2"/>
              <a:buChar char="§"/>
            </a:pPr>
            <a:r>
              <a:rPr lang="el-GR" sz="1600" dirty="0"/>
              <a:t>Εγγραφή και χρήση κωδικού προϊόντος για αντιστοίχιση.</a:t>
            </a:r>
            <a:r>
              <a:rPr lang="en-US" sz="1600" dirty="0"/>
              <a:t> </a:t>
            </a:r>
          </a:p>
          <a:p>
            <a:pPr>
              <a:buFont typeface="Wingdings" panose="05000000000000000000" pitchFamily="2" charset="2"/>
              <a:buChar char="§"/>
            </a:pPr>
            <a:r>
              <a:rPr lang="el-GR" sz="1600" dirty="0"/>
              <a:t>Χρήση εφαρμογής στο κινητό με λεπτομερές Interface.</a:t>
            </a:r>
            <a:endParaRPr lang="en-US" sz="1600" dirty="0"/>
          </a:p>
          <a:p>
            <a:r>
              <a:rPr lang="el-GR" b="1" dirty="0">
                <a:solidFill>
                  <a:schemeClr val="accent2"/>
                </a:solidFill>
              </a:rPr>
              <a:t>Δεδομένα στην Εφαρμογή</a:t>
            </a:r>
            <a:r>
              <a:rPr lang="en-US" dirty="0"/>
              <a:t>:</a:t>
            </a:r>
          </a:p>
          <a:p>
            <a:pPr>
              <a:buFont typeface="Wingdings" panose="05000000000000000000" pitchFamily="2" charset="2"/>
              <a:buChar char="§"/>
            </a:pPr>
            <a:r>
              <a:rPr lang="el-GR" sz="1600" dirty="0"/>
              <a:t>Παρουσίαση παλαιών δεδομένων από όλους τους αισθητήρες.</a:t>
            </a:r>
          </a:p>
          <a:p>
            <a:pPr>
              <a:buFont typeface="Wingdings" panose="05000000000000000000" pitchFamily="2" charset="2"/>
              <a:buChar char="§"/>
            </a:pPr>
            <a:r>
              <a:rPr lang="el-GR" sz="1600" dirty="0"/>
              <a:t>Αρχική οθόνη με menu προτιμήσεων από τη βάση δεδομένων.</a:t>
            </a:r>
          </a:p>
          <a:p>
            <a:pPr>
              <a:buFont typeface="Wingdings" panose="05000000000000000000" pitchFamily="2" charset="2"/>
              <a:buChar char="§"/>
            </a:pPr>
            <a:r>
              <a:rPr lang="el-GR" sz="1600" dirty="0"/>
              <a:t>Ανάπτυξη δεδομένων κατά ημερομηνία προτίμησης χρήστη.</a:t>
            </a:r>
            <a:endParaRPr lang="en-US" sz="1600" dirty="0"/>
          </a:p>
          <a:p>
            <a:r>
              <a:rPr lang="el-GR" b="1" dirty="0">
                <a:solidFill>
                  <a:schemeClr val="accent2"/>
                </a:solidFill>
              </a:rPr>
              <a:t>Διεπαφή Χρήστη</a:t>
            </a:r>
            <a:r>
              <a:rPr lang="el-GR" dirty="0"/>
              <a:t>:</a:t>
            </a:r>
          </a:p>
          <a:p>
            <a:pPr>
              <a:buFont typeface="Wingdings" panose="05000000000000000000" pitchFamily="2" charset="2"/>
              <a:buChar char="§"/>
            </a:pPr>
            <a:r>
              <a:rPr lang="el-GR" sz="1600" dirty="0"/>
              <a:t>Τρία μπάρες για εύκολη μετάβαση σε συγκεκριμένες ρυθμίσεις.</a:t>
            </a:r>
          </a:p>
          <a:p>
            <a:pPr>
              <a:buFont typeface="Wingdings" panose="05000000000000000000" pitchFamily="2" charset="2"/>
              <a:buChar char="§"/>
            </a:pPr>
            <a:r>
              <a:rPr lang="el-GR" sz="1600" dirty="0"/>
              <a:t>Προσαρμοσμένη διεργασία για απλή και γρήγορη επεξεργασία.</a:t>
            </a:r>
          </a:p>
          <a:p>
            <a:r>
              <a:rPr lang="el-GR" b="1" dirty="0">
                <a:solidFill>
                  <a:schemeClr val="accent2"/>
                </a:solidFill>
              </a:rPr>
              <a:t>Σκοπός Ανάπτυξης</a:t>
            </a:r>
            <a:r>
              <a:rPr lang="el-GR" dirty="0"/>
              <a:t>:</a:t>
            </a:r>
          </a:p>
          <a:p>
            <a:pPr>
              <a:buFont typeface="Wingdings" panose="05000000000000000000" pitchFamily="2" charset="2"/>
              <a:buChar char="§"/>
            </a:pPr>
            <a:r>
              <a:rPr lang="el-GR" sz="1600" dirty="0"/>
              <a:t>Διασύνδεση εφαρμογής με προϊόν για γρήγορη επεξεργασία.</a:t>
            </a:r>
            <a:endParaRPr lang="en-US" sz="1600" dirty="0"/>
          </a:p>
        </p:txBody>
      </p:sp>
      <p:sp>
        <p:nvSpPr>
          <p:cNvPr id="4" name="Θέση αριθμού διαφάνειας 3">
            <a:extLst>
              <a:ext uri="{FF2B5EF4-FFF2-40B4-BE49-F238E27FC236}">
                <a16:creationId xmlns:a16="http://schemas.microsoft.com/office/drawing/2014/main" id="{67B39723-C0BA-4C14-678D-E5F9FA73DF44}"/>
              </a:ext>
            </a:extLst>
          </p:cNvPr>
          <p:cNvSpPr>
            <a:spLocks noGrp="1"/>
          </p:cNvSpPr>
          <p:nvPr>
            <p:ph type="sldNum" sz="quarter" idx="12"/>
          </p:nvPr>
        </p:nvSpPr>
        <p:spPr/>
        <p:txBody>
          <a:bodyPr/>
          <a:lstStyle/>
          <a:p>
            <a:fld id="{519954A3-9DFD-4C44-94BA-B95130A3BA1C}" type="slidenum">
              <a:rPr lang="en-US" smtClean="0"/>
              <a:t>40</a:t>
            </a:fld>
            <a:endParaRPr lang="en-US" dirty="0"/>
          </a:p>
        </p:txBody>
      </p:sp>
    </p:spTree>
    <p:extLst>
      <p:ext uri="{BB962C8B-B14F-4D97-AF65-F5344CB8AC3E}">
        <p14:creationId xmlns:p14="http://schemas.microsoft.com/office/powerpoint/2010/main" val="26128025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3F6833C-9549-EA20-3CE4-D18E47B991B7}"/>
              </a:ext>
            </a:extLst>
          </p:cNvPr>
          <p:cNvSpPr>
            <a:spLocks noGrp="1"/>
          </p:cNvSpPr>
          <p:nvPr>
            <p:ph type="title"/>
          </p:nvPr>
        </p:nvSpPr>
        <p:spPr>
          <a:xfrm>
            <a:off x="677334" y="2304176"/>
            <a:ext cx="7426431" cy="690694"/>
          </a:xfrm>
        </p:spPr>
        <p:txBody>
          <a:bodyPr/>
          <a:lstStyle/>
          <a:p>
            <a:r>
              <a:rPr lang="el-GR" dirty="0">
                <a:solidFill>
                  <a:schemeClr val="accent5"/>
                </a:solidFill>
              </a:rPr>
              <a:t>Σχεδιασμός Συνολικού Συστήματος</a:t>
            </a:r>
          </a:p>
        </p:txBody>
      </p:sp>
      <p:sp>
        <p:nvSpPr>
          <p:cNvPr id="3" name="Θέση περιεχομένου 2">
            <a:extLst>
              <a:ext uri="{FF2B5EF4-FFF2-40B4-BE49-F238E27FC236}">
                <a16:creationId xmlns:a16="http://schemas.microsoft.com/office/drawing/2014/main" id="{79A2BC69-C625-0E32-DA59-2D70AD553113}"/>
              </a:ext>
            </a:extLst>
          </p:cNvPr>
          <p:cNvSpPr>
            <a:spLocks noGrp="1"/>
          </p:cNvSpPr>
          <p:nvPr>
            <p:ph idx="1"/>
          </p:nvPr>
        </p:nvSpPr>
        <p:spPr>
          <a:xfrm>
            <a:off x="677334" y="3199426"/>
            <a:ext cx="8542167" cy="3048974"/>
          </a:xfrm>
        </p:spPr>
        <p:txBody>
          <a:bodyPr/>
          <a:lstStyle/>
          <a:p>
            <a:pPr marL="0" indent="0">
              <a:buNone/>
            </a:pPr>
            <a:r>
              <a:rPr lang="el-GR" dirty="0"/>
              <a:t>Η σχεδίαση βασίζοντάς και στις υλοποιήσεις προηγουμένως, είναι η σωστή τοποθέτηση κάθε υλικού. Που κάθε υποσύστημα μπορεί να περιέχει κάποια άλλη διασύνδεση.</a:t>
            </a:r>
          </a:p>
          <a:p>
            <a:pPr marL="0" indent="0">
              <a:buNone/>
            </a:pPr>
            <a:r>
              <a:rPr lang="el-GR" dirty="0"/>
              <a:t>Ουσιαστικά, θα πρέπει να υπάρχει «η γέφυρα» μεταξύ των 2 αρχιτεκτονικών για να αποτελεί 1 σύστημα. Έτσι ώστε να μπορούμε να έχουμε και διασυνδέσεις και με άλλα υποσυστήματα (πιεσόμετρο).</a:t>
            </a:r>
          </a:p>
        </p:txBody>
      </p:sp>
      <p:sp>
        <p:nvSpPr>
          <p:cNvPr id="4" name="Θέση αριθμού διαφάνειας 3">
            <a:extLst>
              <a:ext uri="{FF2B5EF4-FFF2-40B4-BE49-F238E27FC236}">
                <a16:creationId xmlns:a16="http://schemas.microsoft.com/office/drawing/2014/main" id="{7BD90A48-E51D-8B21-0546-899FE55B6749}"/>
              </a:ext>
            </a:extLst>
          </p:cNvPr>
          <p:cNvSpPr>
            <a:spLocks noGrp="1"/>
          </p:cNvSpPr>
          <p:nvPr>
            <p:ph type="sldNum" sz="quarter" idx="12"/>
          </p:nvPr>
        </p:nvSpPr>
        <p:spPr/>
        <p:txBody>
          <a:bodyPr/>
          <a:lstStyle/>
          <a:p>
            <a:fld id="{519954A3-9DFD-4C44-94BA-B95130A3BA1C}" type="slidenum">
              <a:rPr lang="en-US" smtClean="0"/>
              <a:t>41</a:t>
            </a:fld>
            <a:endParaRPr lang="en-US" dirty="0"/>
          </a:p>
        </p:txBody>
      </p:sp>
    </p:spTree>
    <p:extLst>
      <p:ext uri="{BB962C8B-B14F-4D97-AF65-F5344CB8AC3E}">
        <p14:creationId xmlns:p14="http://schemas.microsoft.com/office/powerpoint/2010/main" val="15260588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521C56F-AD0C-6797-AE1C-F1D8D73C8EB7}"/>
              </a:ext>
            </a:extLst>
          </p:cNvPr>
          <p:cNvSpPr>
            <a:spLocks noGrp="1"/>
          </p:cNvSpPr>
          <p:nvPr>
            <p:ph type="title"/>
          </p:nvPr>
        </p:nvSpPr>
        <p:spPr>
          <a:xfrm>
            <a:off x="677334" y="609600"/>
            <a:ext cx="3986945" cy="665527"/>
          </a:xfrm>
        </p:spPr>
        <p:txBody>
          <a:bodyPr/>
          <a:lstStyle/>
          <a:p>
            <a:r>
              <a:rPr lang="el-GR" dirty="0"/>
              <a:t>Συνολικό Σύστημα</a:t>
            </a:r>
          </a:p>
        </p:txBody>
      </p:sp>
      <p:pic>
        <p:nvPicPr>
          <p:cNvPr id="4" name="Θέση περιεχομένου 3">
            <a:extLst>
              <a:ext uri="{FF2B5EF4-FFF2-40B4-BE49-F238E27FC236}">
                <a16:creationId xmlns:a16="http://schemas.microsoft.com/office/drawing/2014/main" id="{48082744-2557-8999-165F-7CD79FA70D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87818" y="1690805"/>
            <a:ext cx="3800212" cy="4284777"/>
          </a:xfrm>
          <a:prstGeom prst="rect">
            <a:avLst/>
          </a:prstGeom>
        </p:spPr>
      </p:pic>
      <p:sp>
        <p:nvSpPr>
          <p:cNvPr id="3" name="Θέση αριθμού διαφάνειας 2">
            <a:extLst>
              <a:ext uri="{FF2B5EF4-FFF2-40B4-BE49-F238E27FC236}">
                <a16:creationId xmlns:a16="http://schemas.microsoft.com/office/drawing/2014/main" id="{72BA8053-C537-BCF2-C3FA-255EEE64CC5A}"/>
              </a:ext>
            </a:extLst>
          </p:cNvPr>
          <p:cNvSpPr>
            <a:spLocks noGrp="1"/>
          </p:cNvSpPr>
          <p:nvPr>
            <p:ph type="sldNum" sz="quarter" idx="12"/>
          </p:nvPr>
        </p:nvSpPr>
        <p:spPr/>
        <p:txBody>
          <a:bodyPr/>
          <a:lstStyle/>
          <a:p>
            <a:fld id="{519954A3-9DFD-4C44-94BA-B95130A3BA1C}" type="slidenum">
              <a:rPr lang="en-US" smtClean="0"/>
              <a:t>42</a:t>
            </a:fld>
            <a:endParaRPr lang="en-US" dirty="0"/>
          </a:p>
        </p:txBody>
      </p:sp>
    </p:spTree>
    <p:extLst>
      <p:ext uri="{BB962C8B-B14F-4D97-AF65-F5344CB8AC3E}">
        <p14:creationId xmlns:p14="http://schemas.microsoft.com/office/powerpoint/2010/main" val="8278302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B9AFACF-B86E-FB9F-F5D0-1DC52855677E}"/>
              </a:ext>
            </a:extLst>
          </p:cNvPr>
          <p:cNvSpPr>
            <a:spLocks noGrp="1"/>
          </p:cNvSpPr>
          <p:nvPr>
            <p:ph type="title"/>
          </p:nvPr>
        </p:nvSpPr>
        <p:spPr>
          <a:xfrm>
            <a:off x="677333" y="19574"/>
            <a:ext cx="8047216" cy="606804"/>
          </a:xfrm>
        </p:spPr>
        <p:txBody>
          <a:bodyPr>
            <a:normAutofit fontScale="90000"/>
          </a:bodyPr>
          <a:lstStyle/>
          <a:p>
            <a:r>
              <a:rPr lang="el-GR" dirty="0"/>
              <a:t>Σημαντικές Λειτουργίες Μικροελεγκτή (1)</a:t>
            </a:r>
          </a:p>
        </p:txBody>
      </p:sp>
      <p:sp>
        <p:nvSpPr>
          <p:cNvPr id="3" name="Θέση περιεχομένου 2">
            <a:extLst>
              <a:ext uri="{FF2B5EF4-FFF2-40B4-BE49-F238E27FC236}">
                <a16:creationId xmlns:a16="http://schemas.microsoft.com/office/drawing/2014/main" id="{28403F4D-2AA8-5E51-6F7A-0F63CC56D15F}"/>
              </a:ext>
            </a:extLst>
          </p:cNvPr>
          <p:cNvSpPr>
            <a:spLocks noGrp="1"/>
          </p:cNvSpPr>
          <p:nvPr>
            <p:ph idx="1"/>
          </p:nvPr>
        </p:nvSpPr>
        <p:spPr>
          <a:xfrm>
            <a:off x="677333" y="626377"/>
            <a:ext cx="8953227" cy="5917035"/>
          </a:xfrm>
        </p:spPr>
        <p:txBody>
          <a:bodyPr>
            <a:normAutofit lnSpcReduction="10000"/>
          </a:bodyPr>
          <a:lstStyle/>
          <a:p>
            <a:r>
              <a:rPr lang="el-GR" dirty="0"/>
              <a:t>Ο μικροελεγκτής αφού αποτελεί ουσιαστικά το σύστημα περιέχει κάποιες σημαντικές λειτουργίες που κάποια θα μας απασχοληθούν ιδιαίτερα</a:t>
            </a:r>
            <a:r>
              <a:rPr lang="en-US" dirty="0"/>
              <a:t>:</a:t>
            </a:r>
          </a:p>
          <a:p>
            <a:pPr>
              <a:buFont typeface="Wingdings" panose="05000000000000000000" pitchFamily="2" charset="2"/>
              <a:buChar char="§"/>
            </a:pPr>
            <a:r>
              <a:rPr lang="el-GR" sz="1800" b="1" dirty="0">
                <a:solidFill>
                  <a:schemeClr val="accent2"/>
                </a:solidFill>
                <a:effectLst/>
                <a:ea typeface="Calibri" panose="020F0502020204030204" pitchFamily="34" charset="0"/>
                <a:cs typeface="Times New Roman" panose="02020603050405020304" pitchFamily="18" charset="0"/>
              </a:rPr>
              <a:t>Κατάσταση Εκτέλεσης</a:t>
            </a:r>
            <a:r>
              <a:rPr lang="el-GR" sz="1800" dirty="0">
                <a:effectLst/>
                <a:ea typeface="Calibri" panose="020F0502020204030204" pitchFamily="34" charset="0"/>
                <a:cs typeface="Times New Roman" panose="02020603050405020304" pitchFamily="18" charset="0"/>
              </a:rPr>
              <a:t>:</a:t>
            </a:r>
            <a:r>
              <a:rPr lang="en-US" sz="1800" dirty="0">
                <a:effectLst/>
                <a:ea typeface="Calibri" panose="020F0502020204030204" pitchFamily="34" charset="0"/>
                <a:cs typeface="Times New Roman" panose="02020603050405020304" pitchFamily="18" charset="0"/>
              </a:rPr>
              <a:t> </a:t>
            </a:r>
            <a:r>
              <a:rPr lang="el-GR" sz="1800" dirty="0">
                <a:effectLst/>
                <a:ea typeface="Calibri" panose="020F0502020204030204" pitchFamily="34" charset="0"/>
                <a:cs typeface="Times New Roman" panose="02020603050405020304" pitchFamily="18" charset="0"/>
              </a:rPr>
              <a:t>Στη κατάσταση Εκτέλεση, ο μικροελεγκτής εκτελεί ενεργά τον κώδικα εφαρμογής του. Λειτουργεί στο μέγιστο επίπεδο απόδοσης και κατανάλωσης ενέργειας. Τα περιφερειακά και τα ρολόγια που χρειάζονται για την εφαρμογή είναι ενεργά.</a:t>
            </a:r>
          </a:p>
          <a:p>
            <a:pPr>
              <a:buFont typeface="Wingdings" panose="05000000000000000000" pitchFamily="2" charset="2"/>
              <a:buChar char="§"/>
            </a:pPr>
            <a:r>
              <a:rPr lang="el-GR" sz="1800" b="1" dirty="0">
                <a:solidFill>
                  <a:schemeClr val="accent2"/>
                </a:solidFill>
                <a:effectLst/>
                <a:ea typeface="Calibri" panose="020F0502020204030204" pitchFamily="34" charset="0"/>
                <a:cs typeface="Times New Roman" panose="02020603050405020304" pitchFamily="18" charset="0"/>
              </a:rPr>
              <a:t>Κατάσταση Ύπνου</a:t>
            </a:r>
            <a:r>
              <a:rPr lang="el-GR" sz="1800" dirty="0">
                <a:effectLst/>
                <a:ea typeface="Calibri" panose="020F0502020204030204" pitchFamily="34" charset="0"/>
                <a:cs typeface="Times New Roman" panose="02020603050405020304" pitchFamily="18" charset="0"/>
              </a:rPr>
              <a:t>:</a:t>
            </a:r>
            <a:r>
              <a:rPr lang="en-US" sz="1800" dirty="0">
                <a:effectLst/>
                <a:ea typeface="Calibri" panose="020F0502020204030204" pitchFamily="34" charset="0"/>
                <a:cs typeface="Times New Roman" panose="02020603050405020304" pitchFamily="18" charset="0"/>
              </a:rPr>
              <a:t> </a:t>
            </a:r>
            <a:r>
              <a:rPr lang="en-US" dirty="0">
                <a:ea typeface="Calibri" panose="020F0502020204030204" pitchFamily="34" charset="0"/>
                <a:cs typeface="Times New Roman" panose="02020603050405020304" pitchFamily="18" charset="0"/>
              </a:rPr>
              <a:t>M</a:t>
            </a:r>
            <a:r>
              <a:rPr lang="el-GR" dirty="0">
                <a:ea typeface="Calibri" panose="020F0502020204030204" pitchFamily="34" charset="0"/>
                <a:cs typeface="Times New Roman" panose="02020603050405020304" pitchFamily="18" charset="0"/>
              </a:rPr>
              <a:t>ία</a:t>
            </a:r>
            <a:r>
              <a:rPr lang="el-GR" sz="1800" dirty="0">
                <a:effectLst/>
                <a:ea typeface="Calibri" panose="020F0502020204030204" pitchFamily="34" charset="0"/>
                <a:cs typeface="Times New Roman" panose="02020603050405020304" pitchFamily="18" charset="0"/>
              </a:rPr>
              <a:t> λειτουργία χαμηλής κατανάλωσης όπου η CPU είναι σταματημένη, αλλά τα περιφερειακά μπορούν να παραμείνουν ενεργά. </a:t>
            </a:r>
          </a:p>
          <a:p>
            <a:pPr>
              <a:buFont typeface="Wingdings" panose="05000000000000000000" pitchFamily="2" charset="2"/>
              <a:buChar char="§"/>
            </a:pPr>
            <a:r>
              <a:rPr lang="el-GR" sz="1800" b="1" dirty="0">
                <a:solidFill>
                  <a:schemeClr val="accent2"/>
                </a:solidFill>
                <a:effectLst/>
                <a:ea typeface="Calibri" panose="020F0502020204030204" pitchFamily="34" charset="0"/>
                <a:cs typeface="Times New Roman" panose="02020603050405020304" pitchFamily="18" charset="0"/>
              </a:rPr>
              <a:t>Λειτουργία Λειτουργίας Χαμηλής </a:t>
            </a:r>
            <a:r>
              <a:rPr lang="el-GR" b="1" dirty="0">
                <a:solidFill>
                  <a:schemeClr val="accent2"/>
                </a:solidFill>
                <a:ea typeface="Calibri" panose="020F0502020204030204" pitchFamily="34" charset="0"/>
                <a:cs typeface="Times New Roman" panose="02020603050405020304" pitchFamily="18" charset="0"/>
              </a:rPr>
              <a:t>Κ</a:t>
            </a:r>
            <a:r>
              <a:rPr lang="el-GR" sz="1800" b="1" dirty="0">
                <a:solidFill>
                  <a:schemeClr val="accent2"/>
                </a:solidFill>
                <a:effectLst/>
                <a:ea typeface="Calibri" panose="020F0502020204030204" pitchFamily="34" charset="0"/>
                <a:cs typeface="Times New Roman" panose="02020603050405020304" pitchFamily="18" charset="0"/>
              </a:rPr>
              <a:t>ατανάλωσης</a:t>
            </a:r>
            <a:r>
              <a:rPr lang="el-GR" sz="1800" dirty="0">
                <a:effectLst/>
                <a:ea typeface="Calibri" panose="020F0502020204030204" pitchFamily="34" charset="0"/>
                <a:cs typeface="Times New Roman" panose="02020603050405020304" pitchFamily="18" charset="0"/>
              </a:rPr>
              <a:t>: Μία παραλλαγή της λειτουργίας Run αλλά με χαμηλότερη κατανάλωση ενέργειας. Επιτρέπει στην CPU να λειτουργεί με μειωμένη συχνότητα και τα περιφερειακά μπορούν να ρυθμιστούν μεμονωμένα ώστε να λειτουργούν σε χαμηλότερες συχνότητες ή να απενεργοποιούνται όταν δεν χρειάζονται.</a:t>
            </a:r>
          </a:p>
          <a:p>
            <a:pPr>
              <a:buFont typeface="Wingdings" panose="05000000000000000000" pitchFamily="2" charset="2"/>
              <a:buChar char="§"/>
            </a:pPr>
            <a:r>
              <a:rPr lang="el-GR" sz="1800" b="1" dirty="0">
                <a:solidFill>
                  <a:schemeClr val="accent2"/>
                </a:solidFill>
                <a:effectLst/>
                <a:ea typeface="Calibri" panose="020F0502020204030204" pitchFamily="34" charset="0"/>
                <a:cs typeface="Times New Roman" panose="02020603050405020304" pitchFamily="18" charset="0"/>
              </a:rPr>
              <a:t>Λειτουργία Ύπνου Χαμηλής Κατανάλωσης</a:t>
            </a:r>
            <a:r>
              <a:rPr lang="el-GR" sz="1800" dirty="0">
                <a:effectLst/>
                <a:ea typeface="Calibri" panose="020F0502020204030204" pitchFamily="34" charset="0"/>
                <a:cs typeface="Times New Roman" panose="02020603050405020304" pitchFamily="18" charset="0"/>
              </a:rPr>
              <a:t>: Μειώνει περαιτέρω την κατανάλωση ενέργειας επιτρέποντάς σας να απενεργοποιήσετε επιλεκτικά περιφερειακά και να μειώσετε τη συχνότητα της CPU.</a:t>
            </a:r>
            <a:endParaRPr lang="en-US" sz="1800" dirty="0">
              <a:effectLst/>
              <a:ea typeface="Calibri" panose="020F0502020204030204" pitchFamily="34" charset="0"/>
              <a:cs typeface="Times New Roman" panose="02020603050405020304" pitchFamily="18" charset="0"/>
            </a:endParaRPr>
          </a:p>
          <a:p>
            <a:pPr>
              <a:buFont typeface="Wingdings" panose="05000000000000000000" pitchFamily="2" charset="2"/>
              <a:buChar char="§"/>
            </a:pPr>
            <a:r>
              <a:rPr lang="el-GR" sz="1800" b="1" dirty="0">
                <a:solidFill>
                  <a:schemeClr val="accent2"/>
                </a:solidFill>
                <a:effectLst/>
                <a:ea typeface="Calibri" panose="020F0502020204030204" pitchFamily="34" charset="0"/>
                <a:cs typeface="Times New Roman" panose="02020603050405020304" pitchFamily="18" charset="0"/>
              </a:rPr>
              <a:t>Λειτουργία Διακοπής </a:t>
            </a:r>
            <a:r>
              <a:rPr lang="el-GR" b="1" dirty="0">
                <a:solidFill>
                  <a:schemeClr val="accent2"/>
                </a:solidFill>
                <a:ea typeface="Calibri" panose="020F0502020204030204" pitchFamily="34" charset="0"/>
                <a:cs typeface="Times New Roman" panose="02020603050405020304" pitchFamily="18" charset="0"/>
              </a:rPr>
              <a:t>Χ</a:t>
            </a:r>
            <a:r>
              <a:rPr lang="el-GR" sz="1800" b="1" dirty="0">
                <a:solidFill>
                  <a:schemeClr val="accent2"/>
                </a:solidFill>
                <a:effectLst/>
                <a:ea typeface="Calibri" panose="020F0502020204030204" pitchFamily="34" charset="0"/>
                <a:cs typeface="Times New Roman" panose="02020603050405020304" pitchFamily="18" charset="0"/>
              </a:rPr>
              <a:t>αμηλής </a:t>
            </a:r>
            <a:r>
              <a:rPr lang="el-GR" b="1" dirty="0">
                <a:solidFill>
                  <a:schemeClr val="accent2"/>
                </a:solidFill>
                <a:ea typeface="Calibri" panose="020F0502020204030204" pitchFamily="34" charset="0"/>
                <a:cs typeface="Times New Roman" panose="02020603050405020304" pitchFamily="18" charset="0"/>
              </a:rPr>
              <a:t>Κα</a:t>
            </a:r>
            <a:r>
              <a:rPr lang="el-GR" sz="1800" b="1" dirty="0">
                <a:solidFill>
                  <a:schemeClr val="accent2"/>
                </a:solidFill>
                <a:effectLst/>
                <a:ea typeface="Calibri" panose="020F0502020204030204" pitchFamily="34" charset="0"/>
                <a:cs typeface="Times New Roman" panose="02020603050405020304" pitchFamily="18" charset="0"/>
              </a:rPr>
              <a:t>τανάλωσης </a:t>
            </a:r>
            <a:r>
              <a:rPr lang="el-GR" b="1" dirty="0">
                <a:solidFill>
                  <a:schemeClr val="accent2"/>
                </a:solidFill>
                <a:ea typeface="Calibri" panose="020F0502020204030204" pitchFamily="34" charset="0"/>
                <a:cs typeface="Times New Roman" panose="02020603050405020304" pitchFamily="18" charset="0"/>
              </a:rPr>
              <a:t>Ε</a:t>
            </a:r>
            <a:r>
              <a:rPr lang="el-GR" sz="1800" b="1" dirty="0">
                <a:solidFill>
                  <a:schemeClr val="accent2"/>
                </a:solidFill>
                <a:effectLst/>
                <a:ea typeface="Calibri" panose="020F0502020204030204" pitchFamily="34" charset="0"/>
                <a:cs typeface="Times New Roman" panose="02020603050405020304" pitchFamily="18" charset="0"/>
              </a:rPr>
              <a:t>νέργειας</a:t>
            </a:r>
            <a:r>
              <a:rPr lang="el-GR" sz="1800" dirty="0">
                <a:effectLst/>
                <a:ea typeface="Calibri" panose="020F0502020204030204" pitchFamily="34" charset="0"/>
                <a:cs typeface="Times New Roman" panose="02020603050405020304" pitchFamily="18" charset="0"/>
              </a:rPr>
              <a:t>: η CPU και τα περισσότερα περιφερειακά είναι σταματημένα. Αυτή η λειτουργία ελαχιστοποιεί την κατανάλωση ενέργειας και εξωτερικές διακοπές ή συγκεκριμένα συμβάντα μπορούν να αφυπνίσουν τον μικροελεγκτή.</a:t>
            </a:r>
          </a:p>
          <a:p>
            <a:pPr marL="0" indent="0">
              <a:buNone/>
            </a:pPr>
            <a:endParaRPr lang="el-GR" dirty="0"/>
          </a:p>
        </p:txBody>
      </p:sp>
      <p:sp>
        <p:nvSpPr>
          <p:cNvPr id="4" name="Θέση αριθμού διαφάνειας 3">
            <a:extLst>
              <a:ext uri="{FF2B5EF4-FFF2-40B4-BE49-F238E27FC236}">
                <a16:creationId xmlns:a16="http://schemas.microsoft.com/office/drawing/2014/main" id="{BD96AF0F-24DE-47C3-0517-D408FF283E89}"/>
              </a:ext>
            </a:extLst>
          </p:cNvPr>
          <p:cNvSpPr>
            <a:spLocks noGrp="1"/>
          </p:cNvSpPr>
          <p:nvPr>
            <p:ph type="sldNum" sz="quarter" idx="12"/>
          </p:nvPr>
        </p:nvSpPr>
        <p:spPr/>
        <p:txBody>
          <a:bodyPr/>
          <a:lstStyle/>
          <a:p>
            <a:fld id="{519954A3-9DFD-4C44-94BA-B95130A3BA1C}" type="slidenum">
              <a:rPr lang="en-US" smtClean="0"/>
              <a:t>43</a:t>
            </a:fld>
            <a:endParaRPr lang="en-US" dirty="0"/>
          </a:p>
        </p:txBody>
      </p:sp>
    </p:spTree>
    <p:extLst>
      <p:ext uri="{BB962C8B-B14F-4D97-AF65-F5344CB8AC3E}">
        <p14:creationId xmlns:p14="http://schemas.microsoft.com/office/powerpoint/2010/main" val="13785722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B9AFACF-B86E-FB9F-F5D0-1DC52855677E}"/>
              </a:ext>
            </a:extLst>
          </p:cNvPr>
          <p:cNvSpPr>
            <a:spLocks noGrp="1"/>
          </p:cNvSpPr>
          <p:nvPr>
            <p:ph type="title"/>
          </p:nvPr>
        </p:nvSpPr>
        <p:spPr>
          <a:xfrm>
            <a:off x="677333" y="19574"/>
            <a:ext cx="8047216" cy="606804"/>
          </a:xfrm>
        </p:spPr>
        <p:txBody>
          <a:bodyPr>
            <a:normAutofit fontScale="90000"/>
          </a:bodyPr>
          <a:lstStyle/>
          <a:p>
            <a:r>
              <a:rPr lang="el-GR" dirty="0"/>
              <a:t>Σημαντικές Λειτουργίες Μικροελεγκτή (2)</a:t>
            </a:r>
          </a:p>
        </p:txBody>
      </p:sp>
      <p:sp>
        <p:nvSpPr>
          <p:cNvPr id="3" name="Θέση περιεχομένου 2">
            <a:extLst>
              <a:ext uri="{FF2B5EF4-FFF2-40B4-BE49-F238E27FC236}">
                <a16:creationId xmlns:a16="http://schemas.microsoft.com/office/drawing/2014/main" id="{28403F4D-2AA8-5E51-6F7A-0F63CC56D15F}"/>
              </a:ext>
            </a:extLst>
          </p:cNvPr>
          <p:cNvSpPr>
            <a:spLocks noGrp="1"/>
          </p:cNvSpPr>
          <p:nvPr>
            <p:ph idx="1"/>
          </p:nvPr>
        </p:nvSpPr>
        <p:spPr>
          <a:xfrm>
            <a:off x="677333" y="626377"/>
            <a:ext cx="8953227" cy="5917035"/>
          </a:xfrm>
        </p:spPr>
        <p:txBody>
          <a:bodyPr>
            <a:normAutofit/>
          </a:bodyPr>
          <a:lstStyle/>
          <a:p>
            <a:r>
              <a:rPr lang="el-GR" b="1" dirty="0">
                <a:solidFill>
                  <a:schemeClr val="accent2"/>
                </a:solidFill>
              </a:rPr>
              <a:t>Λειτουργία Αναμονής</a:t>
            </a:r>
            <a:r>
              <a:rPr lang="en-US" dirty="0"/>
              <a:t>:</a:t>
            </a:r>
            <a:r>
              <a:rPr lang="el-GR" dirty="0"/>
              <a:t> Απενεργοποιεί το κύριο ρυθμιστή,</a:t>
            </a:r>
            <a:r>
              <a:rPr lang="en-US" dirty="0"/>
              <a:t> </a:t>
            </a:r>
            <a:r>
              <a:rPr lang="el-GR" dirty="0"/>
              <a:t>που με αυτό τον τρόπο μειώνεται η κατανάλωση. Μόνο κάποιες λειτουργίες και το κύριο ρολόι (</a:t>
            </a:r>
            <a:r>
              <a:rPr lang="en-US" dirty="0"/>
              <a:t>RTC</a:t>
            </a:r>
            <a:r>
              <a:rPr lang="el-GR" dirty="0"/>
              <a:t>) είναι </a:t>
            </a:r>
            <a:r>
              <a:rPr lang="el-GR" dirty="0" err="1"/>
              <a:t>ενεργό.Το</a:t>
            </a:r>
            <a:r>
              <a:rPr lang="el-GR" dirty="0"/>
              <a:t> σύστημά μας διαθέτει λειτουργίες MR, LPR και </a:t>
            </a:r>
            <a:r>
              <a:rPr lang="el-GR" dirty="0" err="1"/>
              <a:t>power</a:t>
            </a:r>
            <a:r>
              <a:rPr lang="el-GR" dirty="0"/>
              <a:t> </a:t>
            </a:r>
            <a:r>
              <a:rPr lang="el-GR" dirty="0" err="1"/>
              <a:t>down</a:t>
            </a:r>
            <a:r>
              <a:rPr lang="el-GR" dirty="0"/>
              <a:t>. </a:t>
            </a:r>
            <a:endParaRPr lang="en-US" dirty="0"/>
          </a:p>
          <a:p>
            <a:pPr>
              <a:buFont typeface="Wingdings" panose="05000000000000000000" pitchFamily="2" charset="2"/>
              <a:buChar char="§"/>
            </a:pPr>
            <a:r>
              <a:rPr lang="el-GR" dirty="0"/>
              <a:t>Η λειτουργία MR</a:t>
            </a:r>
            <a:r>
              <a:rPr lang="en-US" dirty="0"/>
              <a:t> (main regulator)</a:t>
            </a:r>
            <a:r>
              <a:rPr lang="el-GR" dirty="0"/>
              <a:t> χρησιμοποιείται είτε στην κανονική λειτουργία είτε στην </a:t>
            </a:r>
            <a:r>
              <a:rPr lang="el-GR" dirty="0" err="1"/>
              <a:t>υπερ</a:t>
            </a:r>
            <a:r>
              <a:rPr lang="el-GR" dirty="0"/>
              <a:t>-οδήγηση, παρέχοντας διαφορετική κλιμάκωση τάσης για βέλτιστη απόδοση. Η </a:t>
            </a:r>
            <a:r>
              <a:rPr lang="el-GR" dirty="0" err="1"/>
              <a:t>over-drive</a:t>
            </a:r>
            <a:r>
              <a:rPr lang="el-GR" dirty="0"/>
              <a:t> επιτρέπει υψηλότερη συχνότητα. </a:t>
            </a:r>
            <a:endParaRPr lang="en-US" dirty="0"/>
          </a:p>
          <a:p>
            <a:pPr>
              <a:buFont typeface="Wingdings" panose="05000000000000000000" pitchFamily="2" charset="2"/>
              <a:buChar char="§"/>
            </a:pPr>
            <a:r>
              <a:rPr lang="el-GR" dirty="0"/>
              <a:t>Η λειτουργία LPR</a:t>
            </a:r>
            <a:r>
              <a:rPr lang="en-US" dirty="0"/>
              <a:t> (Low Power Reset)</a:t>
            </a:r>
            <a:r>
              <a:rPr lang="el-GR" dirty="0"/>
              <a:t> χρησιμοποιείται σε κατάσταση αναμονής, απενεργοποιώντας τον πυρήνα και με μηδενική κατανάλωση ενέργειας.</a:t>
            </a:r>
            <a:endParaRPr lang="en-US" dirty="0"/>
          </a:p>
          <a:p>
            <a:pPr>
              <a:buFont typeface="Wingdings" panose="05000000000000000000" pitchFamily="2" charset="2"/>
              <a:buChar char="§"/>
            </a:pPr>
            <a:r>
              <a:rPr lang="el-GR" dirty="0"/>
              <a:t> </a:t>
            </a:r>
            <a:r>
              <a:rPr lang="el-GR" sz="1800" dirty="0">
                <a:effectLst/>
                <a:ea typeface="Calibri" panose="020F0502020204030204" pitchFamily="34" charset="0"/>
                <a:cs typeface="Times New Roman" panose="02020603050405020304" pitchFamily="18" charset="0"/>
              </a:rPr>
              <a:t>Η τιμή TIMEOUT_DURATION θα πρέπει να επιλεγεί με βάση τον αναμενόμενο χρόνο απόκρισης από την εξωτερική συσκευή και τις απαιτήσεις της εφαρμογής. </a:t>
            </a:r>
          </a:p>
          <a:p>
            <a:endParaRPr lang="el-GR" dirty="0">
              <a:cs typeface="Times New Roman" panose="02020603050405020304" pitchFamily="18" charset="0"/>
            </a:endParaRPr>
          </a:p>
          <a:p>
            <a:endParaRPr lang="el-GR" dirty="0">
              <a:cs typeface="Times New Roman" panose="02020603050405020304" pitchFamily="18" charset="0"/>
            </a:endParaRPr>
          </a:p>
          <a:p>
            <a:endParaRPr lang="el-GR" dirty="0">
              <a:cs typeface="Times New Roman" panose="02020603050405020304" pitchFamily="18" charset="0"/>
            </a:endParaRPr>
          </a:p>
          <a:p>
            <a:pPr marL="0" indent="0">
              <a:buNone/>
            </a:pPr>
            <a:r>
              <a:rPr lang="el-GR" dirty="0">
                <a:cs typeface="Times New Roman" panose="02020603050405020304" pitchFamily="18" charset="0"/>
              </a:rPr>
              <a:t> </a:t>
            </a:r>
            <a:endParaRPr lang="en-US" dirty="0">
              <a:cs typeface="Times New Roman" panose="02020603050405020304" pitchFamily="18" charset="0"/>
            </a:endParaRPr>
          </a:p>
          <a:p>
            <a:pPr marL="0" indent="0">
              <a:buNone/>
            </a:pPr>
            <a:r>
              <a:rPr lang="el-GR" dirty="0">
                <a:cs typeface="Times New Roman" panose="02020603050405020304" pitchFamily="18" charset="0"/>
              </a:rPr>
              <a:t>Από αυτά τα </a:t>
            </a:r>
            <a:r>
              <a:rPr lang="en-US" dirty="0">
                <a:cs typeface="Times New Roman" panose="02020603050405020304" pitchFamily="18" charset="0"/>
              </a:rPr>
              <a:t>mode</a:t>
            </a:r>
            <a:r>
              <a:rPr lang="el-GR" dirty="0">
                <a:cs typeface="Times New Roman" panose="02020603050405020304" pitchFamily="18" charset="0"/>
              </a:rPr>
              <a:t>, οι σημαντικότερες λειτουργίες είναι η εκτέλεση, αναμονή και χαμηλής κατανάλωσης.</a:t>
            </a:r>
            <a:endParaRPr lang="el-GR" dirty="0"/>
          </a:p>
        </p:txBody>
      </p:sp>
      <p:pic>
        <p:nvPicPr>
          <p:cNvPr id="4" name="Εικόνα 3">
            <a:extLst>
              <a:ext uri="{FF2B5EF4-FFF2-40B4-BE49-F238E27FC236}">
                <a16:creationId xmlns:a16="http://schemas.microsoft.com/office/drawing/2014/main" id="{B431C8A5-1437-E0C3-2248-F27C0B0F1C4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15558" y="4264402"/>
            <a:ext cx="4676775" cy="962025"/>
          </a:xfrm>
          <a:prstGeom prst="rect">
            <a:avLst/>
          </a:prstGeom>
          <a:noFill/>
          <a:ln>
            <a:noFill/>
          </a:ln>
        </p:spPr>
      </p:pic>
      <p:sp>
        <p:nvSpPr>
          <p:cNvPr id="5" name="Θέση αριθμού διαφάνειας 4">
            <a:extLst>
              <a:ext uri="{FF2B5EF4-FFF2-40B4-BE49-F238E27FC236}">
                <a16:creationId xmlns:a16="http://schemas.microsoft.com/office/drawing/2014/main" id="{DCFDB2F2-B43D-0846-99FF-2F88C3EE52A9}"/>
              </a:ext>
            </a:extLst>
          </p:cNvPr>
          <p:cNvSpPr>
            <a:spLocks noGrp="1"/>
          </p:cNvSpPr>
          <p:nvPr>
            <p:ph type="sldNum" sz="quarter" idx="12"/>
          </p:nvPr>
        </p:nvSpPr>
        <p:spPr/>
        <p:txBody>
          <a:bodyPr/>
          <a:lstStyle/>
          <a:p>
            <a:fld id="{519954A3-9DFD-4C44-94BA-B95130A3BA1C}" type="slidenum">
              <a:rPr lang="en-US" smtClean="0"/>
              <a:t>44</a:t>
            </a:fld>
            <a:endParaRPr lang="en-US" dirty="0"/>
          </a:p>
        </p:txBody>
      </p:sp>
    </p:spTree>
    <p:extLst>
      <p:ext uri="{BB962C8B-B14F-4D97-AF65-F5344CB8AC3E}">
        <p14:creationId xmlns:p14="http://schemas.microsoft.com/office/powerpoint/2010/main" val="23535978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6057EA4-FA01-81FE-5044-958C6068BFAC}"/>
              </a:ext>
            </a:extLst>
          </p:cNvPr>
          <p:cNvSpPr>
            <a:spLocks noGrp="1"/>
          </p:cNvSpPr>
          <p:nvPr>
            <p:ph type="title"/>
          </p:nvPr>
        </p:nvSpPr>
        <p:spPr>
          <a:xfrm>
            <a:off x="677334" y="1393038"/>
            <a:ext cx="5899635" cy="631971"/>
          </a:xfrm>
        </p:spPr>
        <p:txBody>
          <a:bodyPr>
            <a:normAutofit fontScale="90000"/>
          </a:bodyPr>
          <a:lstStyle/>
          <a:p>
            <a:r>
              <a:rPr lang="el-GR" dirty="0">
                <a:solidFill>
                  <a:schemeClr val="accent5"/>
                </a:solidFill>
              </a:rPr>
              <a:t>Σχεδιασμός Υποσυστημάτων</a:t>
            </a:r>
          </a:p>
        </p:txBody>
      </p:sp>
      <p:sp>
        <p:nvSpPr>
          <p:cNvPr id="3" name="Θέση περιεχομένου 2">
            <a:extLst>
              <a:ext uri="{FF2B5EF4-FFF2-40B4-BE49-F238E27FC236}">
                <a16:creationId xmlns:a16="http://schemas.microsoft.com/office/drawing/2014/main" id="{32948A1A-07E4-8A6D-BC89-07BD1F9D8572}"/>
              </a:ext>
            </a:extLst>
          </p:cNvPr>
          <p:cNvSpPr>
            <a:spLocks noGrp="1"/>
          </p:cNvSpPr>
          <p:nvPr>
            <p:ph idx="1"/>
          </p:nvPr>
        </p:nvSpPr>
        <p:spPr>
          <a:xfrm>
            <a:off x="677334" y="2025009"/>
            <a:ext cx="8596668" cy="3880773"/>
          </a:xfrm>
        </p:spPr>
        <p:txBody>
          <a:bodyPr/>
          <a:lstStyle/>
          <a:p>
            <a:pPr marL="0" indent="0">
              <a:buNone/>
            </a:pPr>
            <a:r>
              <a:rPr lang="el-GR" dirty="0"/>
              <a:t>Τα υποσυστήματα αποτελούνται από τις διαφορετικές λειτουργίες που παρέχει το ολόκληρο σύστημα μαζί και με τα περιφερειακά όπως το πιεσόμετρο στο συγκεκριμένο παράδειγμα. Η σύνδεση θα γίνεται μέσο του με μετατροπέα σε UART. Ο ελεγκτής περιέχει της λειτουργίες με την έννοια να μπορούμε να συνδέσουμε τα Ι/Ο στον </a:t>
            </a:r>
            <a:r>
              <a:rPr lang="el-GR" dirty="0" err="1"/>
              <a:t>microcontroller</a:t>
            </a:r>
            <a:r>
              <a:rPr lang="el-GR" dirty="0"/>
              <a:t> με αποτέλεσμα να είναι και σωστό να χρησιμοποιήσουμε και </a:t>
            </a:r>
            <a:r>
              <a:rPr lang="el-GR" dirty="0" err="1"/>
              <a:t>πολυπλέκτες</a:t>
            </a:r>
            <a:r>
              <a:rPr lang="el-GR" dirty="0"/>
              <a:t>. Σε περίπτωση που θέλουμε να χρησιμοποιήσουμε λειτουργίες συγκεκριμένων αισθητήρων ή όλων. Εκτός από αυτό έχουμε πρωτόκολλα όπως I</a:t>
            </a:r>
            <a:r>
              <a:rPr lang="el-GR" sz="1800" baseline="30000" dirty="0">
                <a:effectLst/>
                <a:ea typeface="Calibri" panose="020F0502020204030204" pitchFamily="34" charset="0"/>
              </a:rPr>
              <a:t>2</a:t>
            </a:r>
            <a:r>
              <a:rPr lang="el-GR" dirty="0"/>
              <a:t>C και SPI. </a:t>
            </a:r>
            <a:endParaRPr lang="en-US" dirty="0"/>
          </a:p>
          <a:p>
            <a:pPr marL="0" indent="0">
              <a:buNone/>
            </a:pPr>
            <a:r>
              <a:rPr lang="el-GR" dirty="0"/>
              <a:t>Στην συνέχεια θα πρέπει να περιγράψουμε τα υποσυστήματα με τις έννοιες αρχιτεκτονική, σύνδεση και λεπτομέρειες λειτουργιών. </a:t>
            </a:r>
          </a:p>
        </p:txBody>
      </p:sp>
      <p:sp>
        <p:nvSpPr>
          <p:cNvPr id="4" name="Θέση αριθμού διαφάνειας 3">
            <a:extLst>
              <a:ext uri="{FF2B5EF4-FFF2-40B4-BE49-F238E27FC236}">
                <a16:creationId xmlns:a16="http://schemas.microsoft.com/office/drawing/2014/main" id="{9271C59C-5EFD-4F58-0806-D8212E716E70}"/>
              </a:ext>
            </a:extLst>
          </p:cNvPr>
          <p:cNvSpPr>
            <a:spLocks noGrp="1"/>
          </p:cNvSpPr>
          <p:nvPr>
            <p:ph type="sldNum" sz="quarter" idx="12"/>
          </p:nvPr>
        </p:nvSpPr>
        <p:spPr/>
        <p:txBody>
          <a:bodyPr/>
          <a:lstStyle/>
          <a:p>
            <a:fld id="{519954A3-9DFD-4C44-94BA-B95130A3BA1C}" type="slidenum">
              <a:rPr lang="en-US" smtClean="0"/>
              <a:t>45</a:t>
            </a:fld>
            <a:endParaRPr lang="en-US" dirty="0"/>
          </a:p>
        </p:txBody>
      </p:sp>
    </p:spTree>
    <p:extLst>
      <p:ext uri="{BB962C8B-B14F-4D97-AF65-F5344CB8AC3E}">
        <p14:creationId xmlns:p14="http://schemas.microsoft.com/office/powerpoint/2010/main" val="21496628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CE7E70A-8398-6CB4-A834-ED3E58753C9D}"/>
              </a:ext>
            </a:extLst>
          </p:cNvPr>
          <p:cNvSpPr>
            <a:spLocks noGrp="1"/>
          </p:cNvSpPr>
          <p:nvPr>
            <p:ph type="title"/>
          </p:nvPr>
        </p:nvSpPr>
        <p:spPr>
          <a:xfrm>
            <a:off x="733883" y="1775670"/>
            <a:ext cx="3416494" cy="732639"/>
          </a:xfrm>
        </p:spPr>
        <p:txBody>
          <a:bodyPr/>
          <a:lstStyle/>
          <a:p>
            <a:r>
              <a:rPr lang="el-GR" dirty="0"/>
              <a:t>Μικροελεγκτής</a:t>
            </a:r>
          </a:p>
        </p:txBody>
      </p:sp>
      <p:sp>
        <p:nvSpPr>
          <p:cNvPr id="3" name="Θέση περιεχομένου 2">
            <a:extLst>
              <a:ext uri="{FF2B5EF4-FFF2-40B4-BE49-F238E27FC236}">
                <a16:creationId xmlns:a16="http://schemas.microsoft.com/office/drawing/2014/main" id="{859EAD67-62FF-4D1E-AC8A-558541F08806}"/>
              </a:ext>
            </a:extLst>
          </p:cNvPr>
          <p:cNvSpPr>
            <a:spLocks noGrp="1"/>
          </p:cNvSpPr>
          <p:nvPr>
            <p:ph idx="1"/>
          </p:nvPr>
        </p:nvSpPr>
        <p:spPr>
          <a:xfrm>
            <a:off x="677334" y="2568853"/>
            <a:ext cx="8751892" cy="2456153"/>
          </a:xfrm>
        </p:spPr>
        <p:txBody>
          <a:bodyPr/>
          <a:lstStyle/>
          <a:p>
            <a:r>
              <a:rPr lang="el-GR" dirty="0"/>
              <a:t>Αποτελείται από μνήμες RAM, ROM με </a:t>
            </a:r>
            <a:r>
              <a:rPr lang="el-GR" dirty="0" err="1"/>
              <a:t>busses</a:t>
            </a:r>
            <a:r>
              <a:rPr lang="el-GR" dirty="0"/>
              <a:t> από τα </a:t>
            </a:r>
            <a:r>
              <a:rPr lang="el-GR" dirty="0" err="1"/>
              <a:t>ports</a:t>
            </a:r>
            <a:r>
              <a:rPr lang="el-GR" dirty="0"/>
              <a:t> και flash μνήμη για να υπάρχει χώρος αποθήκευσης. </a:t>
            </a:r>
          </a:p>
          <a:p>
            <a:r>
              <a:rPr lang="el-GR" dirty="0"/>
              <a:t>Ο μικροελεγκτής λειτουργεί σε κύκλους που υπαγορεύονται από το υλικό-λογισμικό του χρήστη. Ακολουθεί μια αρχιτεκτονική του </a:t>
            </a:r>
            <a:r>
              <a:rPr lang="el-GR" dirty="0" err="1"/>
              <a:t>Harvard</a:t>
            </a:r>
            <a:r>
              <a:rPr lang="el-GR" dirty="0"/>
              <a:t>, που σημαίνει ότι έχει ξεχωριστούς διαύλους για οδηγίες και δεδομένα προγράμματος. Αυτή η αρχιτεκτονική βελτιώνει την απόδοση του μικροελεγκτή   επιτρέποντας ταυτόχρονη ανάκτηση εντολών και πρόσβαση δεδομένων.</a:t>
            </a:r>
          </a:p>
        </p:txBody>
      </p:sp>
      <p:sp>
        <p:nvSpPr>
          <p:cNvPr id="4" name="Θέση αριθμού διαφάνειας 3">
            <a:extLst>
              <a:ext uri="{FF2B5EF4-FFF2-40B4-BE49-F238E27FC236}">
                <a16:creationId xmlns:a16="http://schemas.microsoft.com/office/drawing/2014/main" id="{3EED1651-BB48-B79E-80D9-BF7BBCE48E5A}"/>
              </a:ext>
            </a:extLst>
          </p:cNvPr>
          <p:cNvSpPr>
            <a:spLocks noGrp="1"/>
          </p:cNvSpPr>
          <p:nvPr>
            <p:ph type="sldNum" sz="quarter" idx="12"/>
          </p:nvPr>
        </p:nvSpPr>
        <p:spPr/>
        <p:txBody>
          <a:bodyPr/>
          <a:lstStyle/>
          <a:p>
            <a:fld id="{519954A3-9DFD-4C44-94BA-B95130A3BA1C}" type="slidenum">
              <a:rPr lang="en-US" smtClean="0"/>
              <a:t>46</a:t>
            </a:fld>
            <a:endParaRPr lang="en-US" dirty="0"/>
          </a:p>
        </p:txBody>
      </p:sp>
    </p:spTree>
    <p:extLst>
      <p:ext uri="{BB962C8B-B14F-4D97-AF65-F5344CB8AC3E}">
        <p14:creationId xmlns:p14="http://schemas.microsoft.com/office/powerpoint/2010/main" val="33953857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13A609C-DCD4-0E12-12C6-F848F05C44D1}"/>
              </a:ext>
            </a:extLst>
          </p:cNvPr>
          <p:cNvSpPr>
            <a:spLocks noGrp="1"/>
          </p:cNvSpPr>
          <p:nvPr>
            <p:ph type="title"/>
          </p:nvPr>
        </p:nvSpPr>
        <p:spPr>
          <a:xfrm>
            <a:off x="677334" y="1733724"/>
            <a:ext cx="5597631" cy="736400"/>
          </a:xfrm>
        </p:spPr>
        <p:txBody>
          <a:bodyPr/>
          <a:lstStyle/>
          <a:p>
            <a:r>
              <a:rPr lang="el-GR" dirty="0"/>
              <a:t>Αισθητήρας Θερμοκρασίας</a:t>
            </a:r>
          </a:p>
        </p:txBody>
      </p:sp>
      <p:sp>
        <p:nvSpPr>
          <p:cNvPr id="3" name="Θέση περιεχομένου 2">
            <a:extLst>
              <a:ext uri="{FF2B5EF4-FFF2-40B4-BE49-F238E27FC236}">
                <a16:creationId xmlns:a16="http://schemas.microsoft.com/office/drawing/2014/main" id="{5E763A43-FD58-0563-4A5A-60A9DB9C091A}"/>
              </a:ext>
            </a:extLst>
          </p:cNvPr>
          <p:cNvSpPr>
            <a:spLocks noGrp="1"/>
          </p:cNvSpPr>
          <p:nvPr>
            <p:ph idx="1"/>
          </p:nvPr>
        </p:nvSpPr>
        <p:spPr>
          <a:xfrm>
            <a:off x="677334" y="2470124"/>
            <a:ext cx="8869338" cy="2393393"/>
          </a:xfrm>
        </p:spPr>
        <p:txBody>
          <a:bodyPr/>
          <a:lstStyle/>
          <a:p>
            <a:r>
              <a:rPr lang="el-GR" dirty="0"/>
              <a:t>Περιλαμβάνει 2 Triggers για χαμηλή και υψηλή θερμοκρασία. αναφέρονται σε τιμές κατωφλίου για παρακολούθηση θερμοκρασίας. Αυτοί οι </a:t>
            </a:r>
            <a:r>
              <a:rPr lang="el-GR" dirty="0" err="1"/>
              <a:t>ενεργοποιητές</a:t>
            </a:r>
            <a:r>
              <a:rPr lang="el-GR" dirty="0"/>
              <a:t> χρησιμοποιούνται για τον καθορισμό ορίων θερμοκρασίας και μπορούν να γίνουν ενέργειες όταν η θερμοκρασία ξεπεράσει ή πέσει κάτω από αυτές τις προκαθορισμένες τιμές. </a:t>
            </a:r>
          </a:p>
          <a:p>
            <a:r>
              <a:rPr lang="el-GR" dirty="0"/>
              <a:t>Με “SCRATCHPAD” που ουσιαστικά είναι μία μνήμη γρήγορης πρόσβασης με μία μνήμη λογικής για διαχείριση του 1-wire. </a:t>
            </a:r>
          </a:p>
        </p:txBody>
      </p:sp>
      <p:sp>
        <p:nvSpPr>
          <p:cNvPr id="4" name="Θέση αριθμού διαφάνειας 3">
            <a:extLst>
              <a:ext uri="{FF2B5EF4-FFF2-40B4-BE49-F238E27FC236}">
                <a16:creationId xmlns:a16="http://schemas.microsoft.com/office/drawing/2014/main" id="{6A684031-5DC5-0908-6F9D-21E38019BB64}"/>
              </a:ext>
            </a:extLst>
          </p:cNvPr>
          <p:cNvSpPr>
            <a:spLocks noGrp="1"/>
          </p:cNvSpPr>
          <p:nvPr>
            <p:ph type="sldNum" sz="quarter" idx="12"/>
          </p:nvPr>
        </p:nvSpPr>
        <p:spPr/>
        <p:txBody>
          <a:bodyPr/>
          <a:lstStyle/>
          <a:p>
            <a:fld id="{519954A3-9DFD-4C44-94BA-B95130A3BA1C}" type="slidenum">
              <a:rPr lang="en-US" smtClean="0"/>
              <a:t>47</a:t>
            </a:fld>
            <a:endParaRPr lang="en-US" dirty="0"/>
          </a:p>
        </p:txBody>
      </p:sp>
    </p:spTree>
    <p:extLst>
      <p:ext uri="{BB962C8B-B14F-4D97-AF65-F5344CB8AC3E}">
        <p14:creationId xmlns:p14="http://schemas.microsoft.com/office/powerpoint/2010/main" val="25303991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6AF99BD-BCD3-4C80-1D1B-D844904CA7A3}"/>
              </a:ext>
            </a:extLst>
          </p:cNvPr>
          <p:cNvSpPr>
            <a:spLocks noGrp="1"/>
          </p:cNvSpPr>
          <p:nvPr>
            <p:ph type="title"/>
          </p:nvPr>
        </p:nvSpPr>
        <p:spPr>
          <a:xfrm>
            <a:off x="677334" y="1503450"/>
            <a:ext cx="8676391" cy="657139"/>
          </a:xfrm>
        </p:spPr>
        <p:txBody>
          <a:bodyPr/>
          <a:lstStyle/>
          <a:p>
            <a:r>
              <a:rPr lang="el-GR" dirty="0"/>
              <a:t>Αισθητήρας Καρδιακών Παλμών και </a:t>
            </a:r>
            <a:r>
              <a:rPr lang="en-US" dirty="0"/>
              <a:t>SpO2</a:t>
            </a:r>
            <a:endParaRPr lang="el-GR" dirty="0"/>
          </a:p>
        </p:txBody>
      </p:sp>
      <p:sp>
        <p:nvSpPr>
          <p:cNvPr id="3" name="Θέση περιεχομένου 2">
            <a:extLst>
              <a:ext uri="{FF2B5EF4-FFF2-40B4-BE49-F238E27FC236}">
                <a16:creationId xmlns:a16="http://schemas.microsoft.com/office/drawing/2014/main" id="{93D73E46-EAA5-35C2-DA57-03E862520E10}"/>
              </a:ext>
            </a:extLst>
          </p:cNvPr>
          <p:cNvSpPr>
            <a:spLocks noGrp="1"/>
          </p:cNvSpPr>
          <p:nvPr>
            <p:ph idx="1"/>
          </p:nvPr>
        </p:nvSpPr>
        <p:spPr/>
        <p:txBody>
          <a:bodyPr>
            <a:normAutofit/>
          </a:bodyPr>
          <a:lstStyle/>
          <a:p>
            <a:r>
              <a:rPr lang="el-GR" dirty="0"/>
              <a:t>Λειτουργεί εκπέμποντας κόκκινο και υπέρυθρο φως στο δέρμα και ανιχνεύοντας τα διαφορετικά επίπεδα απορρόφησης που προκαλούνται από τη παλμική ροή του αίματος. Τα αναλογικά σήματα επεξεργάζονται και μετατρέπονται σε ψηφιακά δεδομένα, παρέχοντας μετρήσεις καρδιακών παλμών και SpO2. </a:t>
            </a:r>
          </a:p>
          <a:p>
            <a:r>
              <a:rPr lang="el-GR" dirty="0"/>
              <a:t>Ο αισθητήρας λειτουργεί σε κύκλους, με ρυθμιζόμενους ρυθμούς δειγματοληψίας και προγραμματιζόμενο ρεύμα LED για βελτιστοποίηση της κατανάλωσης ενέργειας και της ακρίβειας μέτρησης. </a:t>
            </a:r>
          </a:p>
          <a:p>
            <a:r>
              <a:rPr lang="el-GR" dirty="0"/>
              <a:t>Περιέχει μία FIFO αρχιτεκτονική που μέσο αυτής γίνεται η σύνδεση στο δίαυλο. Με τα LED Drivers να παίρνουν το σήμα από το μικροελεγκτή ώστε να αναγνωρίζεται στο LED της συσκευής που περιέχει.</a:t>
            </a:r>
          </a:p>
        </p:txBody>
      </p:sp>
      <p:sp>
        <p:nvSpPr>
          <p:cNvPr id="4" name="Θέση αριθμού διαφάνειας 3">
            <a:extLst>
              <a:ext uri="{FF2B5EF4-FFF2-40B4-BE49-F238E27FC236}">
                <a16:creationId xmlns:a16="http://schemas.microsoft.com/office/drawing/2014/main" id="{D5C8C769-FAF8-CA36-4B1E-CFFA6A0EB8BB}"/>
              </a:ext>
            </a:extLst>
          </p:cNvPr>
          <p:cNvSpPr>
            <a:spLocks noGrp="1"/>
          </p:cNvSpPr>
          <p:nvPr>
            <p:ph type="sldNum" sz="quarter" idx="12"/>
          </p:nvPr>
        </p:nvSpPr>
        <p:spPr/>
        <p:txBody>
          <a:bodyPr/>
          <a:lstStyle/>
          <a:p>
            <a:fld id="{519954A3-9DFD-4C44-94BA-B95130A3BA1C}" type="slidenum">
              <a:rPr lang="en-US" smtClean="0"/>
              <a:t>48</a:t>
            </a:fld>
            <a:endParaRPr lang="en-US" dirty="0"/>
          </a:p>
        </p:txBody>
      </p:sp>
    </p:spTree>
    <p:extLst>
      <p:ext uri="{BB962C8B-B14F-4D97-AF65-F5344CB8AC3E}">
        <p14:creationId xmlns:p14="http://schemas.microsoft.com/office/powerpoint/2010/main" val="780400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1857990-48D8-C58D-49FD-04C1E29F1307}"/>
              </a:ext>
            </a:extLst>
          </p:cNvPr>
          <p:cNvSpPr>
            <a:spLocks noGrp="1"/>
          </p:cNvSpPr>
          <p:nvPr>
            <p:ph type="title"/>
          </p:nvPr>
        </p:nvSpPr>
        <p:spPr>
          <a:xfrm>
            <a:off x="691938" y="2451407"/>
            <a:ext cx="3995334" cy="623582"/>
          </a:xfrm>
        </p:spPr>
        <p:txBody>
          <a:bodyPr>
            <a:normAutofit fontScale="90000"/>
          </a:bodyPr>
          <a:lstStyle/>
          <a:p>
            <a:r>
              <a:rPr lang="el-GR" dirty="0"/>
              <a:t>Επιταχυνσιόμετρο </a:t>
            </a:r>
          </a:p>
        </p:txBody>
      </p:sp>
      <p:sp>
        <p:nvSpPr>
          <p:cNvPr id="3" name="Θέση περιεχομένου 2">
            <a:extLst>
              <a:ext uri="{FF2B5EF4-FFF2-40B4-BE49-F238E27FC236}">
                <a16:creationId xmlns:a16="http://schemas.microsoft.com/office/drawing/2014/main" id="{451E3199-C58C-DB92-B018-43BC9CDEE8C5}"/>
              </a:ext>
            </a:extLst>
          </p:cNvPr>
          <p:cNvSpPr>
            <a:spLocks noGrp="1"/>
          </p:cNvSpPr>
          <p:nvPr>
            <p:ph idx="1"/>
          </p:nvPr>
        </p:nvSpPr>
        <p:spPr>
          <a:xfrm>
            <a:off x="677334" y="3074989"/>
            <a:ext cx="8709947" cy="2092629"/>
          </a:xfrm>
        </p:spPr>
        <p:txBody>
          <a:bodyPr>
            <a:normAutofit lnSpcReduction="10000"/>
          </a:bodyPr>
          <a:lstStyle/>
          <a:p>
            <a:r>
              <a:rPr lang="el-GR" dirty="0"/>
              <a:t>Λειτουργεί μετρώντας τις αλλαγές χωρητικότητας στις δομές MEMS ως απόκριση στην επιτάχυνση. Όταν υποβάλλονται σε επιτάχυνση, αυτές οι δομές παρουσιάζουν παραμορφώσεις, μεταβάλλοντας την χωρητικότητα και παράγοντας ένα ηλεκτρικό σήμα ανάλογο με την εφαρμοζόμενη δύναμη. </a:t>
            </a:r>
          </a:p>
          <a:p>
            <a:r>
              <a:rPr lang="el-GR" dirty="0"/>
              <a:t>Αυτό το αναλογικό σήμα υφίσταται ρύθμιση σήματος για να φιλτράρει και να ενισχύσει τις σχετικές πληροφορίες, βελτιώνοντας την ακρίβεια των μετρήσεων.</a:t>
            </a:r>
          </a:p>
        </p:txBody>
      </p:sp>
      <p:sp>
        <p:nvSpPr>
          <p:cNvPr id="4" name="Θέση αριθμού διαφάνειας 3">
            <a:extLst>
              <a:ext uri="{FF2B5EF4-FFF2-40B4-BE49-F238E27FC236}">
                <a16:creationId xmlns:a16="http://schemas.microsoft.com/office/drawing/2014/main" id="{154820D1-7B85-3DEA-87B5-9933DF68C7E1}"/>
              </a:ext>
            </a:extLst>
          </p:cNvPr>
          <p:cNvSpPr>
            <a:spLocks noGrp="1"/>
          </p:cNvSpPr>
          <p:nvPr>
            <p:ph type="sldNum" sz="quarter" idx="12"/>
          </p:nvPr>
        </p:nvSpPr>
        <p:spPr/>
        <p:txBody>
          <a:bodyPr/>
          <a:lstStyle/>
          <a:p>
            <a:fld id="{519954A3-9DFD-4C44-94BA-B95130A3BA1C}" type="slidenum">
              <a:rPr lang="en-US" smtClean="0"/>
              <a:t>49</a:t>
            </a:fld>
            <a:endParaRPr lang="en-US" dirty="0"/>
          </a:p>
        </p:txBody>
      </p:sp>
    </p:spTree>
    <p:extLst>
      <p:ext uri="{BB962C8B-B14F-4D97-AF65-F5344CB8AC3E}">
        <p14:creationId xmlns:p14="http://schemas.microsoft.com/office/powerpoint/2010/main" val="31345292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C416CC24-2B4D-5F69-AE5A-515FE653E746}"/>
              </a:ext>
            </a:extLst>
          </p:cNvPr>
          <p:cNvSpPr>
            <a:spLocks noGrp="1"/>
          </p:cNvSpPr>
          <p:nvPr>
            <p:ph type="title"/>
          </p:nvPr>
        </p:nvSpPr>
        <p:spPr>
          <a:xfrm>
            <a:off x="683549" y="2635966"/>
            <a:ext cx="5798967" cy="682305"/>
          </a:xfrm>
        </p:spPr>
        <p:txBody>
          <a:bodyPr/>
          <a:lstStyle/>
          <a:p>
            <a:r>
              <a:rPr lang="el-GR" dirty="0"/>
              <a:t>Αισθητήρας Πίεσης Αίματος</a:t>
            </a:r>
          </a:p>
        </p:txBody>
      </p:sp>
      <p:sp>
        <p:nvSpPr>
          <p:cNvPr id="3" name="Θέση περιεχομένου 2">
            <a:extLst>
              <a:ext uri="{FF2B5EF4-FFF2-40B4-BE49-F238E27FC236}">
                <a16:creationId xmlns:a16="http://schemas.microsoft.com/office/drawing/2014/main" id="{AB16579E-F1F5-ABE1-3B27-0483D8D7E136}"/>
              </a:ext>
            </a:extLst>
          </p:cNvPr>
          <p:cNvSpPr>
            <a:spLocks noGrp="1"/>
          </p:cNvSpPr>
          <p:nvPr>
            <p:ph idx="1"/>
          </p:nvPr>
        </p:nvSpPr>
        <p:spPr>
          <a:xfrm>
            <a:off x="677334" y="3318271"/>
            <a:ext cx="8869338" cy="1924850"/>
          </a:xfrm>
        </p:spPr>
        <p:txBody>
          <a:bodyPr/>
          <a:lstStyle/>
          <a:p>
            <a:r>
              <a:rPr lang="el-GR" dirty="0"/>
              <a:t>Παρέχει έναν αλγόριθμο που υπολογίζει δεδομένα συστολικού, διαστολικού και καρδιακού παλμού από ακατέργαστα δεδομένα πίεσης. Το μετρούμενο αποτέλεσμα θα αποθηκεύεται στο EPROM του κεντρικού συστήματος. </a:t>
            </a:r>
          </a:p>
          <a:p>
            <a:r>
              <a:rPr lang="el-GR" dirty="0"/>
              <a:t>Το σύστημα γενικώς εμπεριέχει </a:t>
            </a:r>
            <a:r>
              <a:rPr lang="el-GR" dirty="0" err="1"/>
              <a:t>καταχωρητές</a:t>
            </a:r>
            <a:r>
              <a:rPr lang="el-GR" dirty="0"/>
              <a:t> με μεθοδολογία να αποθηκεύουν δεδομένα στο flash που δεν θα έχει πολύ σημασία λόγο της χρήσης του κεντρικού flash μνήμη.</a:t>
            </a:r>
          </a:p>
        </p:txBody>
      </p:sp>
      <p:sp>
        <p:nvSpPr>
          <p:cNvPr id="4" name="Θέση αριθμού διαφάνειας 3">
            <a:extLst>
              <a:ext uri="{FF2B5EF4-FFF2-40B4-BE49-F238E27FC236}">
                <a16:creationId xmlns:a16="http://schemas.microsoft.com/office/drawing/2014/main" id="{ACA2BA64-89E7-CE62-BB58-A84E294733D7}"/>
              </a:ext>
            </a:extLst>
          </p:cNvPr>
          <p:cNvSpPr>
            <a:spLocks noGrp="1"/>
          </p:cNvSpPr>
          <p:nvPr>
            <p:ph type="sldNum" sz="quarter" idx="12"/>
          </p:nvPr>
        </p:nvSpPr>
        <p:spPr/>
        <p:txBody>
          <a:bodyPr/>
          <a:lstStyle/>
          <a:p>
            <a:fld id="{519954A3-9DFD-4C44-94BA-B95130A3BA1C}" type="slidenum">
              <a:rPr lang="en-US" smtClean="0"/>
              <a:t>50</a:t>
            </a:fld>
            <a:endParaRPr lang="en-US" dirty="0"/>
          </a:p>
        </p:txBody>
      </p:sp>
    </p:spTree>
    <p:extLst>
      <p:ext uri="{BB962C8B-B14F-4D97-AF65-F5344CB8AC3E}">
        <p14:creationId xmlns:p14="http://schemas.microsoft.com/office/powerpoint/2010/main" val="11199804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0950E5E-1B4A-8C96-575B-2CE2BEAE46B0}"/>
              </a:ext>
            </a:extLst>
          </p:cNvPr>
          <p:cNvSpPr>
            <a:spLocks noGrp="1"/>
          </p:cNvSpPr>
          <p:nvPr>
            <p:ph type="title"/>
          </p:nvPr>
        </p:nvSpPr>
        <p:spPr>
          <a:xfrm>
            <a:off x="677334" y="945160"/>
            <a:ext cx="2602761" cy="690694"/>
          </a:xfrm>
        </p:spPr>
        <p:txBody>
          <a:bodyPr>
            <a:normAutofit fontScale="90000"/>
          </a:bodyPr>
          <a:lstStyle/>
          <a:p>
            <a:r>
              <a:rPr lang="en-US" dirty="0"/>
              <a:t>Flash </a:t>
            </a:r>
            <a:r>
              <a:rPr lang="el-GR" dirty="0"/>
              <a:t>Μνήμη</a:t>
            </a:r>
          </a:p>
        </p:txBody>
      </p:sp>
      <p:sp>
        <p:nvSpPr>
          <p:cNvPr id="3" name="Θέση περιεχομένου 2">
            <a:extLst>
              <a:ext uri="{FF2B5EF4-FFF2-40B4-BE49-F238E27FC236}">
                <a16:creationId xmlns:a16="http://schemas.microsoft.com/office/drawing/2014/main" id="{5BA68833-CBCA-4323-2C52-0F49880218A4}"/>
              </a:ext>
            </a:extLst>
          </p:cNvPr>
          <p:cNvSpPr>
            <a:spLocks noGrp="1"/>
          </p:cNvSpPr>
          <p:nvPr>
            <p:ph idx="1"/>
          </p:nvPr>
        </p:nvSpPr>
        <p:spPr>
          <a:xfrm>
            <a:off x="677334" y="1820411"/>
            <a:ext cx="8596668" cy="3696216"/>
          </a:xfrm>
        </p:spPr>
        <p:txBody>
          <a:bodyPr>
            <a:normAutofit/>
          </a:bodyPr>
          <a:lstStyle/>
          <a:p>
            <a:r>
              <a:rPr lang="el-GR" dirty="0"/>
              <a:t>Η αρχή λειτουργίας περιλαμβάνει την αποθήκευση ψηφιακών δεδομένων σε κελιά μνήμης, οργανωμένα σε σελίδες και μπλοκ. </a:t>
            </a:r>
          </a:p>
          <a:p>
            <a:r>
              <a:rPr lang="el-GR" dirty="0"/>
              <a:t>Η αρχιτεκτονική UHS επιτρέπει υψηλούς ρυθμούς μεταφοράς δεδομένων, καθιστώντας την κατάλληλη για εφαρμογές με υψηλές απαιτήσεις ροής δεδομένων. </a:t>
            </a:r>
          </a:p>
          <a:p>
            <a:r>
              <a:rPr lang="el-GR" dirty="0"/>
              <a:t>Η κάρτα SanDisk Ultra microSD UHS λειτουργεί με ρυθμό 100MB/s και το χειριστήριο διαχειρίζεται την εξισορρόπηση φθοράς για ομοιόμορφη χρήση των κυψελών μνήμης, παρατείνοντας τη διάρκεια ζωής της κάρτας.</a:t>
            </a:r>
          </a:p>
          <a:p>
            <a:r>
              <a:rPr lang="el-GR" dirty="0"/>
              <a:t>Η ισοπέδωση φθοράς είναι σημαντική στη μνήμη flash NAND, αποτρέποντας πρόωρη φθορά σε συγκεκριμένες περιοχές.</a:t>
            </a:r>
          </a:p>
          <a:p>
            <a:endParaRPr lang="el-GR" dirty="0"/>
          </a:p>
        </p:txBody>
      </p:sp>
      <p:sp>
        <p:nvSpPr>
          <p:cNvPr id="4" name="Θέση αριθμού διαφάνειας 3">
            <a:extLst>
              <a:ext uri="{FF2B5EF4-FFF2-40B4-BE49-F238E27FC236}">
                <a16:creationId xmlns:a16="http://schemas.microsoft.com/office/drawing/2014/main" id="{A7164244-0B12-3B33-B529-13604E7E6CA2}"/>
              </a:ext>
            </a:extLst>
          </p:cNvPr>
          <p:cNvSpPr>
            <a:spLocks noGrp="1"/>
          </p:cNvSpPr>
          <p:nvPr>
            <p:ph type="sldNum" sz="quarter" idx="12"/>
          </p:nvPr>
        </p:nvSpPr>
        <p:spPr/>
        <p:txBody>
          <a:bodyPr/>
          <a:lstStyle/>
          <a:p>
            <a:fld id="{519954A3-9DFD-4C44-94BA-B95130A3BA1C}" type="slidenum">
              <a:rPr lang="en-US" smtClean="0"/>
              <a:t>51</a:t>
            </a:fld>
            <a:endParaRPr lang="en-US" dirty="0"/>
          </a:p>
        </p:txBody>
      </p:sp>
    </p:spTree>
    <p:extLst>
      <p:ext uri="{BB962C8B-B14F-4D97-AF65-F5344CB8AC3E}">
        <p14:creationId xmlns:p14="http://schemas.microsoft.com/office/powerpoint/2010/main" val="4219739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E1637DF-08B0-4E69-3199-5FE49E61CB84}"/>
              </a:ext>
            </a:extLst>
          </p:cNvPr>
          <p:cNvSpPr>
            <a:spLocks noGrp="1"/>
          </p:cNvSpPr>
          <p:nvPr>
            <p:ph type="title"/>
          </p:nvPr>
        </p:nvSpPr>
        <p:spPr>
          <a:xfrm>
            <a:off x="717105" y="659934"/>
            <a:ext cx="3575884" cy="682305"/>
          </a:xfrm>
        </p:spPr>
        <p:txBody>
          <a:bodyPr/>
          <a:lstStyle/>
          <a:p>
            <a:r>
              <a:rPr lang="el-GR" dirty="0"/>
              <a:t>Αισθητήρας </a:t>
            </a:r>
            <a:r>
              <a:rPr lang="en-US" dirty="0"/>
              <a:t>EDA</a:t>
            </a:r>
            <a:endParaRPr lang="el-GR" dirty="0"/>
          </a:p>
        </p:txBody>
      </p:sp>
      <p:sp>
        <p:nvSpPr>
          <p:cNvPr id="3" name="Θέση περιεχομένου 2">
            <a:extLst>
              <a:ext uri="{FF2B5EF4-FFF2-40B4-BE49-F238E27FC236}">
                <a16:creationId xmlns:a16="http://schemas.microsoft.com/office/drawing/2014/main" id="{54C9E26A-E176-EC3C-5769-B75EEEDD5720}"/>
              </a:ext>
            </a:extLst>
          </p:cNvPr>
          <p:cNvSpPr>
            <a:spLocks noGrp="1"/>
          </p:cNvSpPr>
          <p:nvPr>
            <p:ph idx="1"/>
          </p:nvPr>
        </p:nvSpPr>
        <p:spPr>
          <a:xfrm>
            <a:off x="746313" y="1342239"/>
            <a:ext cx="8596668" cy="4731390"/>
          </a:xfrm>
        </p:spPr>
        <p:txBody>
          <a:bodyPr/>
          <a:lstStyle/>
          <a:p>
            <a:pPr marL="0" indent="0">
              <a:buNone/>
            </a:pPr>
            <a:r>
              <a:rPr lang="el-GR" dirty="0"/>
              <a:t>Χρησιμοποιώντας έναν αισθητήρα GSR που συνδέεται στην αναλογική ακίδα A0, ο κώδικας χρησιμοποιεί έναν βρόχο for για να πραγματοποιήσει 10 μετρήσεις με μικρή καθυστέρηση (5 χιλιοστά του δευτερολέπτου) ανάμεσα σε κάθε ανάγνωση. Οι αναγνώσεις συνοψίζονται, και η μέση τιμή εκτυπώνεται στη σειριακή οθόνη. Η διαδικασία επαναλαμβάνεται σε συνεχή βρόχο στη συνάρτηση </a:t>
            </a:r>
            <a:r>
              <a:rPr lang="el-GR" dirty="0" err="1"/>
              <a:t>loop</a:t>
            </a:r>
            <a:r>
              <a:rPr lang="el-GR" dirty="0"/>
              <a:t>(). Ο σκοπός του κώδικα είναι να εξασφαλίσει ομαλότερη και πιο σταθερή αναπαράσταση των δεδομένων του αισθητήρα GSR, χρησιμοποιώντας τον μέσο όρο από πολλαπλές μετρήσεις.</a:t>
            </a:r>
          </a:p>
          <a:p>
            <a:pPr marL="0" indent="0">
              <a:buNone/>
            </a:pPr>
            <a:r>
              <a:rPr lang="el-GR" sz="3600" dirty="0">
                <a:solidFill>
                  <a:schemeClr val="accent1"/>
                </a:solidFill>
              </a:rPr>
              <a:t>Οθόνη</a:t>
            </a:r>
          </a:p>
          <a:p>
            <a:pPr marL="0" indent="0">
              <a:buNone/>
            </a:pPr>
            <a:r>
              <a:rPr lang="el-GR" dirty="0"/>
              <a:t>Λειτουργεί σε με το πρωτόκολλο SPI. Περιλαμβάνει μια κύρια συσκευή και μία ή περισσότερες βοηθητικές συσκευές συνδεδεμένες με έναν τρόπο αλυσίδας.</a:t>
            </a:r>
          </a:p>
          <a:p>
            <a:pPr marL="0" indent="0">
              <a:buNone/>
            </a:pPr>
            <a:endParaRPr lang="el-GR" dirty="0"/>
          </a:p>
          <a:p>
            <a:pPr marL="0" indent="0">
              <a:buNone/>
            </a:pPr>
            <a:endParaRPr lang="el-GR" dirty="0"/>
          </a:p>
        </p:txBody>
      </p:sp>
      <p:sp>
        <p:nvSpPr>
          <p:cNvPr id="4" name="Θέση αριθμού διαφάνειας 3">
            <a:extLst>
              <a:ext uri="{FF2B5EF4-FFF2-40B4-BE49-F238E27FC236}">
                <a16:creationId xmlns:a16="http://schemas.microsoft.com/office/drawing/2014/main" id="{E53C3C7F-C6E4-5FAB-945B-27DF67F801E0}"/>
              </a:ext>
            </a:extLst>
          </p:cNvPr>
          <p:cNvSpPr>
            <a:spLocks noGrp="1"/>
          </p:cNvSpPr>
          <p:nvPr>
            <p:ph type="sldNum" sz="quarter" idx="12"/>
          </p:nvPr>
        </p:nvSpPr>
        <p:spPr/>
        <p:txBody>
          <a:bodyPr/>
          <a:lstStyle/>
          <a:p>
            <a:fld id="{519954A3-9DFD-4C44-94BA-B95130A3BA1C}" type="slidenum">
              <a:rPr lang="en-US" smtClean="0"/>
              <a:t>52</a:t>
            </a:fld>
            <a:endParaRPr lang="en-US" dirty="0"/>
          </a:p>
        </p:txBody>
      </p:sp>
    </p:spTree>
    <p:extLst>
      <p:ext uri="{BB962C8B-B14F-4D97-AF65-F5344CB8AC3E}">
        <p14:creationId xmlns:p14="http://schemas.microsoft.com/office/powerpoint/2010/main" val="37388063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24E4D9D-1837-1C16-757B-2C52B81E7BF0}"/>
              </a:ext>
            </a:extLst>
          </p:cNvPr>
          <p:cNvSpPr>
            <a:spLocks noGrp="1"/>
          </p:cNvSpPr>
          <p:nvPr>
            <p:ph type="title"/>
          </p:nvPr>
        </p:nvSpPr>
        <p:spPr>
          <a:xfrm>
            <a:off x="697443" y="524662"/>
            <a:ext cx="7728435" cy="732639"/>
          </a:xfrm>
        </p:spPr>
        <p:txBody>
          <a:bodyPr>
            <a:normAutofit fontScale="90000"/>
          </a:bodyPr>
          <a:lstStyle/>
          <a:p>
            <a:r>
              <a:rPr lang="el-GR" dirty="0"/>
              <a:t>Συνδεσιμότητα των Υποσυστημάτων (1)</a:t>
            </a:r>
          </a:p>
        </p:txBody>
      </p:sp>
      <p:sp>
        <p:nvSpPr>
          <p:cNvPr id="3" name="Θέση περιεχομένου 2">
            <a:extLst>
              <a:ext uri="{FF2B5EF4-FFF2-40B4-BE49-F238E27FC236}">
                <a16:creationId xmlns:a16="http://schemas.microsoft.com/office/drawing/2014/main" id="{1E0F8E1E-B418-F35F-53A8-93A03944C40A}"/>
              </a:ext>
            </a:extLst>
          </p:cNvPr>
          <p:cNvSpPr>
            <a:spLocks noGrp="1"/>
          </p:cNvSpPr>
          <p:nvPr>
            <p:ph idx="1"/>
          </p:nvPr>
        </p:nvSpPr>
        <p:spPr>
          <a:xfrm>
            <a:off x="697443" y="1257301"/>
            <a:ext cx="8596668" cy="5086349"/>
          </a:xfrm>
        </p:spPr>
        <p:txBody>
          <a:bodyPr>
            <a:normAutofit fontScale="85000" lnSpcReduction="20000"/>
          </a:bodyPr>
          <a:lstStyle/>
          <a:p>
            <a:r>
              <a:rPr lang="el-GR" b="1" dirty="0">
                <a:solidFill>
                  <a:schemeClr val="accent2"/>
                </a:solidFill>
              </a:rPr>
              <a:t>Σύνδεση και Χρονισμός</a:t>
            </a:r>
            <a:r>
              <a:rPr lang="el-GR" dirty="0"/>
              <a:t>:</a:t>
            </a:r>
          </a:p>
          <a:p>
            <a:pPr>
              <a:buFont typeface="Wingdings" panose="05000000000000000000" pitchFamily="2" charset="2"/>
              <a:buChar char="§"/>
            </a:pPr>
            <a:r>
              <a:rPr lang="el-GR" dirty="0"/>
              <a:t>Κύκλωμα αλλαγής στάθμης και διαιρέτες τάσης για σταθερή τάση.</a:t>
            </a:r>
          </a:p>
          <a:p>
            <a:pPr>
              <a:buFont typeface="Wingdings" panose="05000000000000000000" pitchFamily="2" charset="2"/>
              <a:buChar char="§"/>
            </a:pPr>
            <a:r>
              <a:rPr lang="el-GR" dirty="0"/>
              <a:t>Χρήση USART</a:t>
            </a:r>
            <a:r>
              <a:rPr lang="en-US" dirty="0"/>
              <a:t>/UART</a:t>
            </a:r>
            <a:r>
              <a:rPr lang="el-GR" dirty="0"/>
              <a:t> και I</a:t>
            </a:r>
            <a:r>
              <a:rPr lang="el-GR" sz="1800" baseline="30000" dirty="0">
                <a:effectLst/>
                <a:ea typeface="Calibri" panose="020F0502020204030204" pitchFamily="34" charset="0"/>
              </a:rPr>
              <a:t>2</a:t>
            </a:r>
            <a:r>
              <a:rPr lang="el-GR" dirty="0"/>
              <a:t>C πρωτοκόλλων για συνεργατική λειτουργία.</a:t>
            </a:r>
            <a:endParaRPr lang="en-US" dirty="0"/>
          </a:p>
          <a:p>
            <a:pPr>
              <a:buFont typeface="Wingdings" panose="05000000000000000000" pitchFamily="2" charset="2"/>
              <a:buChar char="§"/>
            </a:pPr>
            <a:r>
              <a:rPr lang="en-US" dirty="0"/>
              <a:t>USB </a:t>
            </a:r>
            <a:r>
              <a:rPr lang="el-GR" dirty="0"/>
              <a:t>σύνδεση σε συγκεκριμένες λειτουργίες</a:t>
            </a:r>
            <a:endParaRPr lang="en-US" dirty="0"/>
          </a:p>
          <a:p>
            <a:pPr marL="0" indent="0">
              <a:buNone/>
            </a:pPr>
            <a:endParaRPr lang="el-GR" dirty="0"/>
          </a:p>
          <a:p>
            <a:r>
              <a:rPr lang="el-GR" b="1" dirty="0">
                <a:solidFill>
                  <a:schemeClr val="accent2"/>
                </a:solidFill>
              </a:rPr>
              <a:t>Συνδέσεις και Πρωτόκολλα</a:t>
            </a:r>
            <a:r>
              <a:rPr lang="el-GR" dirty="0"/>
              <a:t>:</a:t>
            </a:r>
          </a:p>
          <a:p>
            <a:pPr>
              <a:buFont typeface="Wingdings" panose="05000000000000000000" pitchFamily="2" charset="2"/>
              <a:buChar char="§"/>
            </a:pPr>
            <a:r>
              <a:rPr lang="el-GR" dirty="0"/>
              <a:t>Χρήση USART</a:t>
            </a:r>
            <a:r>
              <a:rPr lang="en-US" dirty="0"/>
              <a:t>/UART</a:t>
            </a:r>
            <a:r>
              <a:rPr lang="el-GR" dirty="0"/>
              <a:t>, I</a:t>
            </a:r>
            <a:r>
              <a:rPr lang="el-GR" sz="1800" baseline="30000" dirty="0">
                <a:effectLst/>
                <a:ea typeface="Calibri" panose="020F0502020204030204" pitchFamily="34" charset="0"/>
              </a:rPr>
              <a:t>2</a:t>
            </a:r>
            <a:r>
              <a:rPr lang="el-GR" dirty="0"/>
              <a:t>C, και SPI για αξιόπιστη επικοινωνία.</a:t>
            </a:r>
          </a:p>
          <a:p>
            <a:pPr>
              <a:buFont typeface="Wingdings" panose="05000000000000000000" pitchFamily="2" charset="2"/>
              <a:buChar char="§"/>
            </a:pPr>
            <a:r>
              <a:rPr lang="el-GR" dirty="0"/>
              <a:t>Μονάδα USCI του πιεσόμετρου για ποικίλες λειτουργίες.</a:t>
            </a:r>
          </a:p>
          <a:p>
            <a:pPr>
              <a:buFont typeface="Wingdings" panose="05000000000000000000" pitchFamily="2" charset="2"/>
              <a:buChar char="§"/>
            </a:pPr>
            <a:r>
              <a:rPr lang="el-GR" dirty="0"/>
              <a:t>Σύνδεση του πιεσόμετρου μέσω UART ή USB με δυνατότητα χρονισμού.</a:t>
            </a:r>
            <a:endParaRPr lang="en-US" dirty="0"/>
          </a:p>
          <a:p>
            <a:pPr>
              <a:buFont typeface="Wingdings" panose="05000000000000000000" pitchFamily="2" charset="2"/>
              <a:buChar char="§"/>
            </a:pPr>
            <a:r>
              <a:rPr lang="el-GR" dirty="0"/>
              <a:t>Χρήση Πρωτοκόλλου </a:t>
            </a:r>
            <a:r>
              <a:rPr lang="en-US" dirty="0"/>
              <a:t>SPI </a:t>
            </a:r>
            <a:r>
              <a:rPr lang="el-GR" dirty="0"/>
              <a:t>για </a:t>
            </a:r>
            <a:r>
              <a:rPr lang="en-US" dirty="0"/>
              <a:t>SD Card </a:t>
            </a:r>
            <a:r>
              <a:rPr lang="el-GR" dirty="0"/>
              <a:t>που περιλαμβάνει σύνδεση με ΚΜΕ.</a:t>
            </a:r>
          </a:p>
          <a:p>
            <a:pPr>
              <a:buFont typeface="Wingdings" panose="05000000000000000000" pitchFamily="2" charset="2"/>
              <a:buChar char="§"/>
            </a:pPr>
            <a:r>
              <a:rPr lang="el-GR" dirty="0"/>
              <a:t>Ανεμιστήρας σε σύνδεση με </a:t>
            </a:r>
            <a:r>
              <a:rPr lang="en-US" dirty="0"/>
              <a:t>GPIO Ports.</a:t>
            </a:r>
          </a:p>
          <a:p>
            <a:pPr marL="0" indent="0">
              <a:buNone/>
            </a:pPr>
            <a:endParaRPr lang="el-GR" dirty="0"/>
          </a:p>
          <a:p>
            <a:r>
              <a:rPr lang="el-GR" b="1" dirty="0">
                <a:solidFill>
                  <a:schemeClr val="accent2"/>
                </a:solidFill>
              </a:rPr>
              <a:t>Αισθητήρες και Συγχρονισμός</a:t>
            </a:r>
            <a:r>
              <a:rPr lang="el-GR" dirty="0"/>
              <a:t>:</a:t>
            </a:r>
          </a:p>
          <a:p>
            <a:pPr>
              <a:buFont typeface="Wingdings" panose="05000000000000000000" pitchFamily="2" charset="2"/>
              <a:buChar char="§"/>
            </a:pPr>
            <a:r>
              <a:rPr lang="el-GR" dirty="0"/>
              <a:t>Σύνδεση καρδιακού παλμού, SpO2, </a:t>
            </a:r>
            <a:r>
              <a:rPr lang="el-GR" dirty="0" err="1"/>
              <a:t>επιταχυνσιόμετρου</a:t>
            </a:r>
            <a:r>
              <a:rPr lang="el-GR" dirty="0"/>
              <a:t> με I</a:t>
            </a:r>
            <a:r>
              <a:rPr lang="el-GR" sz="1800" baseline="30000" dirty="0">
                <a:effectLst/>
                <a:ea typeface="Calibri" panose="020F0502020204030204" pitchFamily="34" charset="0"/>
              </a:rPr>
              <a:t>2</a:t>
            </a:r>
            <a:r>
              <a:rPr lang="el-GR" dirty="0"/>
              <a:t>C.</a:t>
            </a:r>
          </a:p>
          <a:p>
            <a:pPr>
              <a:buFont typeface="Wingdings" panose="05000000000000000000" pitchFamily="2" charset="2"/>
              <a:buChar char="§"/>
            </a:pPr>
            <a:r>
              <a:rPr lang="el-GR" dirty="0"/>
              <a:t>Σύνδεση θερμίστορ με 1-wire για αποτελεσματικό συγχρονισμό.</a:t>
            </a:r>
          </a:p>
          <a:p>
            <a:pPr>
              <a:buFont typeface="Wingdings" panose="05000000000000000000" pitchFamily="2" charset="2"/>
              <a:buChar char="§"/>
            </a:pPr>
            <a:r>
              <a:rPr lang="el-GR" dirty="0"/>
              <a:t>Χρήση GPIO </a:t>
            </a:r>
            <a:r>
              <a:rPr lang="el-GR" dirty="0" err="1"/>
              <a:t>pins</a:t>
            </a:r>
            <a:r>
              <a:rPr lang="el-GR" dirty="0"/>
              <a:t> για επικοινωνία με EDA αισθητήρα.</a:t>
            </a:r>
            <a:endParaRPr lang="en-US" dirty="0"/>
          </a:p>
        </p:txBody>
      </p:sp>
      <p:sp>
        <p:nvSpPr>
          <p:cNvPr id="4" name="Θέση αριθμού διαφάνειας 3">
            <a:extLst>
              <a:ext uri="{FF2B5EF4-FFF2-40B4-BE49-F238E27FC236}">
                <a16:creationId xmlns:a16="http://schemas.microsoft.com/office/drawing/2014/main" id="{D730CB85-BB4E-1D99-211F-B6B368B9D354}"/>
              </a:ext>
            </a:extLst>
          </p:cNvPr>
          <p:cNvSpPr>
            <a:spLocks noGrp="1"/>
          </p:cNvSpPr>
          <p:nvPr>
            <p:ph type="sldNum" sz="quarter" idx="12"/>
          </p:nvPr>
        </p:nvSpPr>
        <p:spPr/>
        <p:txBody>
          <a:bodyPr/>
          <a:lstStyle/>
          <a:p>
            <a:fld id="{519954A3-9DFD-4C44-94BA-B95130A3BA1C}" type="slidenum">
              <a:rPr lang="en-US" smtClean="0"/>
              <a:t>53</a:t>
            </a:fld>
            <a:endParaRPr lang="en-US" dirty="0"/>
          </a:p>
        </p:txBody>
      </p:sp>
    </p:spTree>
    <p:extLst>
      <p:ext uri="{BB962C8B-B14F-4D97-AF65-F5344CB8AC3E}">
        <p14:creationId xmlns:p14="http://schemas.microsoft.com/office/powerpoint/2010/main" val="12612487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C009FB76-4338-8BCB-1FEC-B100014B8CDA}"/>
              </a:ext>
            </a:extLst>
          </p:cNvPr>
          <p:cNvSpPr>
            <a:spLocks noGrp="1"/>
          </p:cNvSpPr>
          <p:nvPr>
            <p:ph type="title"/>
          </p:nvPr>
        </p:nvSpPr>
        <p:spPr>
          <a:xfrm>
            <a:off x="677334" y="979489"/>
            <a:ext cx="8409516" cy="666750"/>
          </a:xfrm>
        </p:spPr>
        <p:txBody>
          <a:bodyPr/>
          <a:lstStyle/>
          <a:p>
            <a:r>
              <a:rPr lang="el-GR" dirty="0"/>
              <a:t>Συνδεσιμότητα των Υποσυστημάτων (2)</a:t>
            </a:r>
          </a:p>
        </p:txBody>
      </p:sp>
      <p:sp>
        <p:nvSpPr>
          <p:cNvPr id="3" name="Θέση περιεχομένου 2">
            <a:extLst>
              <a:ext uri="{FF2B5EF4-FFF2-40B4-BE49-F238E27FC236}">
                <a16:creationId xmlns:a16="http://schemas.microsoft.com/office/drawing/2014/main" id="{B4F4E1C8-B3F8-8E0D-D7C5-18D91340B018}"/>
              </a:ext>
            </a:extLst>
          </p:cNvPr>
          <p:cNvSpPr>
            <a:spLocks noGrp="1"/>
          </p:cNvSpPr>
          <p:nvPr>
            <p:ph idx="1"/>
          </p:nvPr>
        </p:nvSpPr>
        <p:spPr>
          <a:xfrm>
            <a:off x="678393" y="1751014"/>
            <a:ext cx="8596668" cy="4325936"/>
          </a:xfrm>
        </p:spPr>
        <p:txBody>
          <a:bodyPr/>
          <a:lstStyle/>
          <a:p>
            <a:r>
              <a:rPr lang="el-GR" b="1" dirty="0">
                <a:solidFill>
                  <a:schemeClr val="accent2"/>
                </a:solidFill>
              </a:rPr>
              <a:t>Επικοινωνία με Εξαρτήματα</a:t>
            </a:r>
            <a:r>
              <a:rPr lang="el-GR" dirty="0"/>
              <a:t>:</a:t>
            </a:r>
          </a:p>
          <a:p>
            <a:pPr>
              <a:buFont typeface="Wingdings" panose="05000000000000000000" pitchFamily="2" charset="2"/>
              <a:buChar char="§"/>
            </a:pPr>
            <a:r>
              <a:rPr lang="el-GR" dirty="0"/>
              <a:t>Σύνδεση ανεμιστήρων με γενικού σκοπού </a:t>
            </a:r>
            <a:r>
              <a:rPr lang="el-GR" dirty="0" err="1"/>
              <a:t>είσοδους</a:t>
            </a:r>
            <a:r>
              <a:rPr lang="el-GR" dirty="0"/>
              <a:t> για προσαρμογή στις συνθήκες.</a:t>
            </a:r>
          </a:p>
          <a:p>
            <a:pPr>
              <a:buFont typeface="Wingdings" panose="05000000000000000000" pitchFamily="2" charset="2"/>
              <a:buChar char="§"/>
            </a:pPr>
            <a:r>
              <a:rPr lang="el-GR" dirty="0"/>
              <a:t>Σύνδεση οθόνης με SPI </a:t>
            </a:r>
            <a:r>
              <a:rPr lang="el-GR" dirty="0" err="1"/>
              <a:t>ports</a:t>
            </a:r>
            <a:r>
              <a:rPr lang="el-GR" dirty="0"/>
              <a:t> για γρήγορη και αξιόπιστη επικοινωνία.</a:t>
            </a:r>
          </a:p>
          <a:p>
            <a:pPr>
              <a:buFont typeface="Wingdings" panose="05000000000000000000" pitchFamily="2" charset="2"/>
              <a:buChar char="§"/>
            </a:pPr>
            <a:r>
              <a:rPr lang="el-GR" dirty="0"/>
              <a:t>Ενώ για </a:t>
            </a:r>
            <a:r>
              <a:rPr lang="en-US" dirty="0"/>
              <a:t>Wi-Fi SoC </a:t>
            </a:r>
            <a:r>
              <a:rPr lang="el-GR" dirty="0"/>
              <a:t>έχουμε το Ι</a:t>
            </a:r>
            <a:r>
              <a:rPr lang="el-GR" sz="1800" baseline="30000" dirty="0">
                <a:effectLst/>
                <a:ea typeface="Calibri" panose="020F0502020204030204" pitchFamily="34" charset="0"/>
              </a:rPr>
              <a:t>2</a:t>
            </a:r>
            <a:r>
              <a:rPr lang="en-US" dirty="0"/>
              <a:t>C </a:t>
            </a:r>
            <a:r>
              <a:rPr lang="el-GR" dirty="0"/>
              <a:t>πρωτόκολλο.</a:t>
            </a:r>
            <a:endParaRPr lang="en-US" dirty="0"/>
          </a:p>
          <a:p>
            <a:endParaRPr lang="el-GR" dirty="0"/>
          </a:p>
          <a:p>
            <a:r>
              <a:rPr lang="el-GR" b="1" dirty="0">
                <a:solidFill>
                  <a:schemeClr val="accent2"/>
                </a:solidFill>
              </a:rPr>
              <a:t>Συμπεράσματα</a:t>
            </a:r>
            <a:r>
              <a:rPr lang="el-GR" dirty="0"/>
              <a:t>:</a:t>
            </a:r>
          </a:p>
          <a:p>
            <a:pPr>
              <a:buFont typeface="Wingdings" panose="05000000000000000000" pitchFamily="2" charset="2"/>
              <a:buChar char="§"/>
            </a:pPr>
            <a:r>
              <a:rPr lang="el-GR" dirty="0"/>
              <a:t>Συνδυασμός ποικίλων πρωτοκόλλων για αποτελεσματικό συγχρονισμό.</a:t>
            </a:r>
          </a:p>
          <a:p>
            <a:pPr>
              <a:buFont typeface="Wingdings" panose="05000000000000000000" pitchFamily="2" charset="2"/>
              <a:buChar char="§"/>
            </a:pPr>
            <a:r>
              <a:rPr lang="el-GR" dirty="0"/>
              <a:t>Επικοινωνία αισθητήρων με τον μικροελεγκτή για συνολική λειτουργικότητα.</a:t>
            </a:r>
          </a:p>
          <a:p>
            <a:pPr>
              <a:buFont typeface="Wingdings" panose="05000000000000000000" pitchFamily="2" charset="2"/>
              <a:buChar char="§"/>
            </a:pPr>
            <a:r>
              <a:rPr lang="el-GR" dirty="0"/>
              <a:t>Αξιόπιστη απόκριση του συστήματος με βελτιστοποιημένα υποσυστήματα.</a:t>
            </a:r>
          </a:p>
          <a:p>
            <a:endParaRPr lang="el-GR" dirty="0"/>
          </a:p>
        </p:txBody>
      </p:sp>
      <p:sp>
        <p:nvSpPr>
          <p:cNvPr id="4" name="Θέση αριθμού διαφάνειας 3">
            <a:extLst>
              <a:ext uri="{FF2B5EF4-FFF2-40B4-BE49-F238E27FC236}">
                <a16:creationId xmlns:a16="http://schemas.microsoft.com/office/drawing/2014/main" id="{5ADE0156-6000-E347-74E8-98D6AAF5D1CD}"/>
              </a:ext>
            </a:extLst>
          </p:cNvPr>
          <p:cNvSpPr>
            <a:spLocks noGrp="1"/>
          </p:cNvSpPr>
          <p:nvPr>
            <p:ph type="sldNum" sz="quarter" idx="12"/>
          </p:nvPr>
        </p:nvSpPr>
        <p:spPr/>
        <p:txBody>
          <a:bodyPr/>
          <a:lstStyle/>
          <a:p>
            <a:fld id="{519954A3-9DFD-4C44-94BA-B95130A3BA1C}" type="slidenum">
              <a:rPr lang="en-US" smtClean="0"/>
              <a:t>54</a:t>
            </a:fld>
            <a:endParaRPr lang="en-US" dirty="0"/>
          </a:p>
        </p:txBody>
      </p:sp>
    </p:spTree>
    <p:extLst>
      <p:ext uri="{BB962C8B-B14F-4D97-AF65-F5344CB8AC3E}">
        <p14:creationId xmlns:p14="http://schemas.microsoft.com/office/powerpoint/2010/main" val="33137855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5FAB245-9B20-02E3-B288-2BE8591721F6}"/>
              </a:ext>
            </a:extLst>
          </p:cNvPr>
          <p:cNvSpPr>
            <a:spLocks noGrp="1"/>
          </p:cNvSpPr>
          <p:nvPr>
            <p:ph type="title"/>
          </p:nvPr>
        </p:nvSpPr>
        <p:spPr>
          <a:xfrm>
            <a:off x="677334" y="609600"/>
            <a:ext cx="8447616" cy="809625"/>
          </a:xfrm>
        </p:spPr>
        <p:txBody>
          <a:bodyPr/>
          <a:lstStyle/>
          <a:p>
            <a:r>
              <a:rPr lang="el-GR" dirty="0"/>
              <a:t>Συγχρονισμό με Λογισμικό</a:t>
            </a:r>
          </a:p>
        </p:txBody>
      </p:sp>
      <p:sp>
        <p:nvSpPr>
          <p:cNvPr id="3" name="Θέση περιεχομένου 2">
            <a:extLst>
              <a:ext uri="{FF2B5EF4-FFF2-40B4-BE49-F238E27FC236}">
                <a16:creationId xmlns:a16="http://schemas.microsoft.com/office/drawing/2014/main" id="{8BE2FE87-883D-2D92-96D7-DBC3B0F118B5}"/>
              </a:ext>
            </a:extLst>
          </p:cNvPr>
          <p:cNvSpPr>
            <a:spLocks noGrp="1"/>
          </p:cNvSpPr>
          <p:nvPr>
            <p:ph idx="1"/>
          </p:nvPr>
        </p:nvSpPr>
        <p:spPr>
          <a:xfrm>
            <a:off x="677334" y="1337469"/>
            <a:ext cx="8596668" cy="4910931"/>
          </a:xfrm>
        </p:spPr>
        <p:txBody>
          <a:bodyPr>
            <a:normAutofit/>
          </a:bodyPr>
          <a:lstStyle/>
          <a:p>
            <a:pPr marL="0" indent="0">
              <a:buNone/>
            </a:pPr>
            <a:endParaRPr lang="el-GR" dirty="0"/>
          </a:p>
          <a:p>
            <a:r>
              <a:rPr lang="el-GR" dirty="0"/>
              <a:t>Ο ελεγκτής θα στέλνει το σήμα στο λειτουργικό σύστημα για να μπορεί να ενεργοποιηθεί το trigger στην βάση με αποτέλεσμα να φανεί αυτό και στο Interface του χρήστη. </a:t>
            </a:r>
          </a:p>
          <a:p>
            <a:r>
              <a:rPr lang="el-GR" dirty="0"/>
              <a:t>Η λειτουργία έχει την δυνατότητα χρήσης πολλούς αισθητήρες αλλά και συγκεκριμένους με διακοπής της ροής δεδομένων όπως περιγράψαμε στην αρχιτεκτονική. </a:t>
            </a:r>
          </a:p>
          <a:p>
            <a:r>
              <a:rPr lang="el-GR" dirty="0"/>
              <a:t>Θα χρειαστεί και ο συγχρονισμός του λειτουργικού συστήματος μαζί με το ελεγκτή. Έχουμε ένα </a:t>
            </a:r>
            <a:r>
              <a:rPr lang="el-GR" dirty="0" err="1"/>
              <a:t>loop</a:t>
            </a:r>
            <a:r>
              <a:rPr lang="el-GR" dirty="0"/>
              <a:t> με τα </a:t>
            </a:r>
            <a:r>
              <a:rPr lang="el-GR" dirty="0" err="1"/>
              <a:t>task</a:t>
            </a:r>
            <a:r>
              <a:rPr lang="el-GR" dirty="0"/>
              <a:t> που θα λειτουργήσουν με το αισθητήρα. Χρησιμοποιείτε χρονόμετρα υλικού και διακοπές για να δημιουργείτε περιοδικές διακοπές για εργασίες ευαίσθητες στο χρόνο. </a:t>
            </a:r>
          </a:p>
          <a:p>
            <a:r>
              <a:rPr lang="el-GR" dirty="0"/>
              <a:t>Αυτό επιτρέπει στον μικροελεγκτή να εκτελεί εργασίες παρασκηνίου χωρίς να μπλοκάρει τον κύριο βρόχο. Που μπορεί να μπλοκαριστεί μόνο από το χρήστη με απενεργοποίηση.</a:t>
            </a:r>
          </a:p>
        </p:txBody>
      </p:sp>
      <p:sp>
        <p:nvSpPr>
          <p:cNvPr id="4" name="Θέση αριθμού διαφάνειας 3">
            <a:extLst>
              <a:ext uri="{FF2B5EF4-FFF2-40B4-BE49-F238E27FC236}">
                <a16:creationId xmlns:a16="http://schemas.microsoft.com/office/drawing/2014/main" id="{161047D8-3E27-45CB-6702-452AC6D7D40F}"/>
              </a:ext>
            </a:extLst>
          </p:cNvPr>
          <p:cNvSpPr>
            <a:spLocks noGrp="1"/>
          </p:cNvSpPr>
          <p:nvPr>
            <p:ph type="sldNum" sz="quarter" idx="12"/>
          </p:nvPr>
        </p:nvSpPr>
        <p:spPr/>
        <p:txBody>
          <a:bodyPr/>
          <a:lstStyle/>
          <a:p>
            <a:fld id="{519954A3-9DFD-4C44-94BA-B95130A3BA1C}" type="slidenum">
              <a:rPr lang="en-US" smtClean="0"/>
              <a:t>55</a:t>
            </a:fld>
            <a:endParaRPr lang="en-US" dirty="0"/>
          </a:p>
        </p:txBody>
      </p:sp>
    </p:spTree>
    <p:extLst>
      <p:ext uri="{BB962C8B-B14F-4D97-AF65-F5344CB8AC3E}">
        <p14:creationId xmlns:p14="http://schemas.microsoft.com/office/powerpoint/2010/main" val="20232230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BCFA455-BF5A-B0FF-FB10-7E793BFF97AC}"/>
              </a:ext>
            </a:extLst>
          </p:cNvPr>
          <p:cNvSpPr>
            <a:spLocks noGrp="1"/>
          </p:cNvSpPr>
          <p:nvPr>
            <p:ph type="title"/>
          </p:nvPr>
        </p:nvSpPr>
        <p:spPr>
          <a:xfrm>
            <a:off x="615066" y="1364788"/>
            <a:ext cx="2323041" cy="704850"/>
          </a:xfrm>
        </p:spPr>
        <p:txBody>
          <a:bodyPr/>
          <a:lstStyle/>
          <a:p>
            <a:r>
              <a:rPr lang="el-GR" dirty="0"/>
              <a:t>Λογισμικό</a:t>
            </a:r>
          </a:p>
        </p:txBody>
      </p:sp>
      <p:sp>
        <p:nvSpPr>
          <p:cNvPr id="3" name="Θέση περιεχομένου 2">
            <a:extLst>
              <a:ext uri="{FF2B5EF4-FFF2-40B4-BE49-F238E27FC236}">
                <a16:creationId xmlns:a16="http://schemas.microsoft.com/office/drawing/2014/main" id="{C995B558-F7C2-5A2A-F02B-D0AF7BE2FD98}"/>
              </a:ext>
            </a:extLst>
          </p:cNvPr>
          <p:cNvSpPr>
            <a:spLocks noGrp="1"/>
          </p:cNvSpPr>
          <p:nvPr>
            <p:ph idx="1"/>
          </p:nvPr>
        </p:nvSpPr>
        <p:spPr>
          <a:xfrm>
            <a:off x="677334" y="2069638"/>
            <a:ext cx="8596668" cy="2988137"/>
          </a:xfrm>
        </p:spPr>
        <p:txBody>
          <a:bodyPr/>
          <a:lstStyle/>
          <a:p>
            <a:r>
              <a:rPr lang="el-GR" dirty="0" err="1"/>
              <a:t>Tο</a:t>
            </a:r>
            <a:r>
              <a:rPr lang="el-GR" dirty="0"/>
              <a:t> λειτουργικό σύστημα λειτουργεί ως ενδιάμεσος μεταξύ των εφαρμογών (sensors) και της βάσης δεδομένων, διαχειριζόμενος την επικοινωνία και τη ροή δεδομένων μεταξύ τους. </a:t>
            </a:r>
          </a:p>
          <a:p>
            <a:r>
              <a:rPr lang="el-GR" dirty="0"/>
              <a:t>Η βιβλιοθήκη συνδεσιμότητας βάσεων δεδομένων διευκολύνει αυτήν την αλληλεπίδραση παρέχοντας έναν τυποποιημένο τρόπο επικοινωνίας του λειτουργικού συστήματος με αποτέλεσμα να μεταφερθεί η πληροφορία στο Interface (GUI).</a:t>
            </a:r>
          </a:p>
          <a:p>
            <a:r>
              <a:rPr lang="el-GR" dirty="0"/>
              <a:t>Η κατάσταση διακοπής σε περίπτωση που θέλουμε την απενεργοποίηση του ολόκληρου συστήματος. </a:t>
            </a:r>
          </a:p>
        </p:txBody>
      </p:sp>
      <p:sp>
        <p:nvSpPr>
          <p:cNvPr id="4" name="Θέση αριθμού διαφάνειας 3">
            <a:extLst>
              <a:ext uri="{FF2B5EF4-FFF2-40B4-BE49-F238E27FC236}">
                <a16:creationId xmlns:a16="http://schemas.microsoft.com/office/drawing/2014/main" id="{DDF61A9D-BD25-1591-B64E-BE2E18EB4AC1}"/>
              </a:ext>
            </a:extLst>
          </p:cNvPr>
          <p:cNvSpPr>
            <a:spLocks noGrp="1"/>
          </p:cNvSpPr>
          <p:nvPr>
            <p:ph type="sldNum" sz="quarter" idx="12"/>
          </p:nvPr>
        </p:nvSpPr>
        <p:spPr/>
        <p:txBody>
          <a:bodyPr/>
          <a:lstStyle/>
          <a:p>
            <a:fld id="{519954A3-9DFD-4C44-94BA-B95130A3BA1C}" type="slidenum">
              <a:rPr lang="en-US" smtClean="0"/>
              <a:t>56</a:t>
            </a:fld>
            <a:endParaRPr lang="en-US" dirty="0"/>
          </a:p>
        </p:txBody>
      </p:sp>
    </p:spTree>
    <p:extLst>
      <p:ext uri="{BB962C8B-B14F-4D97-AF65-F5344CB8AC3E}">
        <p14:creationId xmlns:p14="http://schemas.microsoft.com/office/powerpoint/2010/main" val="27303239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9933995-72CF-C0BB-CFC3-4C7AC7CA0DC8}"/>
              </a:ext>
            </a:extLst>
          </p:cNvPr>
          <p:cNvSpPr>
            <a:spLocks noGrp="1"/>
          </p:cNvSpPr>
          <p:nvPr>
            <p:ph type="title"/>
          </p:nvPr>
        </p:nvSpPr>
        <p:spPr>
          <a:xfrm>
            <a:off x="687918" y="838200"/>
            <a:ext cx="6475941" cy="1104900"/>
          </a:xfrm>
        </p:spPr>
        <p:txBody>
          <a:bodyPr>
            <a:normAutofit fontScale="90000"/>
          </a:bodyPr>
          <a:lstStyle/>
          <a:p>
            <a:r>
              <a:rPr lang="el-GR" dirty="0">
                <a:solidFill>
                  <a:schemeClr val="accent5"/>
                </a:solidFill>
              </a:rPr>
              <a:t>Σχεδιασμός Συστατικών </a:t>
            </a:r>
            <a:br>
              <a:rPr lang="el-GR" dirty="0">
                <a:solidFill>
                  <a:schemeClr val="accent5"/>
                </a:solidFill>
              </a:rPr>
            </a:br>
            <a:r>
              <a:rPr lang="el-GR" dirty="0">
                <a:solidFill>
                  <a:schemeClr val="accent5"/>
                </a:solidFill>
              </a:rPr>
              <a:t>Συστήματος/Υποσυστημάτων</a:t>
            </a:r>
          </a:p>
        </p:txBody>
      </p:sp>
      <p:sp>
        <p:nvSpPr>
          <p:cNvPr id="3" name="Θέση περιεχομένου 2">
            <a:extLst>
              <a:ext uri="{FF2B5EF4-FFF2-40B4-BE49-F238E27FC236}">
                <a16:creationId xmlns:a16="http://schemas.microsoft.com/office/drawing/2014/main" id="{559D2564-4B5D-4D53-6848-28C0CD8AE670}"/>
              </a:ext>
            </a:extLst>
          </p:cNvPr>
          <p:cNvSpPr>
            <a:spLocks noGrp="1"/>
          </p:cNvSpPr>
          <p:nvPr>
            <p:ph idx="1"/>
          </p:nvPr>
        </p:nvSpPr>
        <p:spPr>
          <a:xfrm>
            <a:off x="687918" y="1943099"/>
            <a:ext cx="8596668" cy="2838451"/>
          </a:xfrm>
        </p:spPr>
        <p:txBody>
          <a:bodyPr/>
          <a:lstStyle/>
          <a:p>
            <a:pPr marL="0" indent="0">
              <a:buNone/>
            </a:pPr>
            <a:r>
              <a:rPr lang="el-GR" dirty="0"/>
              <a:t>Η σχεδίαση και οι συστατικές των υποσυστημάτων αποτελούνται από διάφορα υλικά που έχουν κατάλληλη προσέγγιση για το τελικό σύστημα. Κάθε ένα υποσυστήματα έχει ένα συγκεκριμένο χαρακτηριστικό για παράδειγμα τα ρολόγια για το χρονισμό, οι μνήμες αλλά και υλικά αλληλεπίδρασης με το έξω κόσμο.</a:t>
            </a:r>
          </a:p>
          <a:p>
            <a:pPr marL="0" indent="0">
              <a:buNone/>
            </a:pPr>
            <a:endParaRPr lang="el-GR" dirty="0"/>
          </a:p>
          <a:p>
            <a:pPr marL="0" indent="0">
              <a:buNone/>
            </a:pPr>
            <a:r>
              <a:rPr lang="el-GR" dirty="0"/>
              <a:t>Στην συνέχεια θα περιγράψουμε τα συστατικά κάθε υποσυστήματος που χρειαζόμαστε.</a:t>
            </a:r>
          </a:p>
        </p:txBody>
      </p:sp>
      <p:sp>
        <p:nvSpPr>
          <p:cNvPr id="4" name="Θέση αριθμού διαφάνειας 3">
            <a:extLst>
              <a:ext uri="{FF2B5EF4-FFF2-40B4-BE49-F238E27FC236}">
                <a16:creationId xmlns:a16="http://schemas.microsoft.com/office/drawing/2014/main" id="{C5648676-F9FA-2E0B-38DE-95DE16CB37D8}"/>
              </a:ext>
            </a:extLst>
          </p:cNvPr>
          <p:cNvSpPr>
            <a:spLocks noGrp="1"/>
          </p:cNvSpPr>
          <p:nvPr>
            <p:ph type="sldNum" sz="quarter" idx="12"/>
          </p:nvPr>
        </p:nvSpPr>
        <p:spPr/>
        <p:txBody>
          <a:bodyPr/>
          <a:lstStyle/>
          <a:p>
            <a:fld id="{519954A3-9DFD-4C44-94BA-B95130A3BA1C}" type="slidenum">
              <a:rPr lang="en-US" smtClean="0"/>
              <a:t>57</a:t>
            </a:fld>
            <a:endParaRPr lang="en-US" dirty="0"/>
          </a:p>
        </p:txBody>
      </p:sp>
    </p:spTree>
    <p:extLst>
      <p:ext uri="{BB962C8B-B14F-4D97-AF65-F5344CB8AC3E}">
        <p14:creationId xmlns:p14="http://schemas.microsoft.com/office/powerpoint/2010/main" val="7293956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198CDEF-12DC-5AAE-FC36-FC6E16614EFC}"/>
              </a:ext>
            </a:extLst>
          </p:cNvPr>
          <p:cNvSpPr>
            <a:spLocks noGrp="1"/>
          </p:cNvSpPr>
          <p:nvPr>
            <p:ph type="title"/>
          </p:nvPr>
        </p:nvSpPr>
        <p:spPr>
          <a:xfrm>
            <a:off x="772584" y="1131889"/>
            <a:ext cx="5790141" cy="647700"/>
          </a:xfrm>
        </p:spPr>
        <p:txBody>
          <a:bodyPr/>
          <a:lstStyle/>
          <a:p>
            <a:r>
              <a:rPr lang="el-GR" dirty="0"/>
              <a:t>Αισθητήρας Θερμοκρασίας</a:t>
            </a:r>
          </a:p>
        </p:txBody>
      </p:sp>
      <p:sp>
        <p:nvSpPr>
          <p:cNvPr id="3" name="Θέση περιεχομένου 2">
            <a:extLst>
              <a:ext uri="{FF2B5EF4-FFF2-40B4-BE49-F238E27FC236}">
                <a16:creationId xmlns:a16="http://schemas.microsoft.com/office/drawing/2014/main" id="{0A45E6CA-BC1E-4D7A-4DFC-0E785990A08B}"/>
              </a:ext>
            </a:extLst>
          </p:cNvPr>
          <p:cNvSpPr>
            <a:spLocks noGrp="1"/>
          </p:cNvSpPr>
          <p:nvPr>
            <p:ph idx="1"/>
          </p:nvPr>
        </p:nvSpPr>
        <p:spPr>
          <a:xfrm>
            <a:off x="772584" y="1779589"/>
            <a:ext cx="8596668" cy="3880773"/>
          </a:xfrm>
        </p:spPr>
        <p:txBody>
          <a:bodyPr/>
          <a:lstStyle/>
          <a:p>
            <a:r>
              <a:rPr lang="el-GR" dirty="0"/>
              <a:t>Ο θερμίστορ DS18B20 λειτουργεί σε εύρος θερμοκρασίας -55°C έως +125°C, επιτρέποντας ευελιξία στην ανάλυση (9 έως 12 </a:t>
            </a:r>
            <a:r>
              <a:rPr lang="el-GR" dirty="0" err="1"/>
              <a:t>bit</a:t>
            </a:r>
            <a:r>
              <a:rPr lang="el-GR" dirty="0"/>
              <a:t>). </a:t>
            </a:r>
          </a:p>
          <a:p>
            <a:r>
              <a:rPr lang="el-GR" dirty="0"/>
              <a:t>Ενσωματώνονται εύκολα στο σύστημα με μοναδικό σειριακό κωδικό 64-bit για αναγνώριση. Είναι αυτόνομος, τροφοδοτούμενος είτε παρασιτικά είτε εξωτερικά. </a:t>
            </a:r>
          </a:p>
          <a:p>
            <a:r>
              <a:rPr lang="el-GR" dirty="0"/>
              <a:t>Οι χρόνοι μετατροπής κυμαίνονται ανάλογα με την ανάλυση (94ms έως 750ms). </a:t>
            </a:r>
          </a:p>
          <a:p>
            <a:r>
              <a:rPr lang="el-GR" dirty="0"/>
              <a:t>Εξάγει μετρήσεις σε ψηφιακή μορφή, επικοινωνώντας άμεσα με τον μικροελεγκτή PIC18F4550. Η κυκλική μέτρηση επιτρέπει συνεχή παρακολούθηση της θερμοκρασίας.</a:t>
            </a:r>
          </a:p>
        </p:txBody>
      </p:sp>
      <p:sp>
        <p:nvSpPr>
          <p:cNvPr id="4" name="Θέση αριθμού διαφάνειας 3">
            <a:extLst>
              <a:ext uri="{FF2B5EF4-FFF2-40B4-BE49-F238E27FC236}">
                <a16:creationId xmlns:a16="http://schemas.microsoft.com/office/drawing/2014/main" id="{53902F80-E832-9B3C-FACB-397768359278}"/>
              </a:ext>
            </a:extLst>
          </p:cNvPr>
          <p:cNvSpPr>
            <a:spLocks noGrp="1"/>
          </p:cNvSpPr>
          <p:nvPr>
            <p:ph type="sldNum" sz="quarter" idx="12"/>
          </p:nvPr>
        </p:nvSpPr>
        <p:spPr/>
        <p:txBody>
          <a:bodyPr/>
          <a:lstStyle/>
          <a:p>
            <a:fld id="{519954A3-9DFD-4C44-94BA-B95130A3BA1C}" type="slidenum">
              <a:rPr lang="en-US" smtClean="0"/>
              <a:t>58</a:t>
            </a:fld>
            <a:endParaRPr lang="en-US" dirty="0"/>
          </a:p>
        </p:txBody>
      </p:sp>
    </p:spTree>
    <p:extLst>
      <p:ext uri="{BB962C8B-B14F-4D97-AF65-F5344CB8AC3E}">
        <p14:creationId xmlns:p14="http://schemas.microsoft.com/office/powerpoint/2010/main" val="24446129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564F7CD-CFCD-E9A0-4F2E-959152DE70B6}"/>
              </a:ext>
            </a:extLst>
          </p:cNvPr>
          <p:cNvSpPr>
            <a:spLocks noGrp="1"/>
          </p:cNvSpPr>
          <p:nvPr>
            <p:ph type="title"/>
          </p:nvPr>
        </p:nvSpPr>
        <p:spPr>
          <a:xfrm>
            <a:off x="677334" y="1638300"/>
            <a:ext cx="9038166" cy="609600"/>
          </a:xfrm>
        </p:spPr>
        <p:txBody>
          <a:bodyPr>
            <a:normAutofit fontScale="90000"/>
          </a:bodyPr>
          <a:lstStyle/>
          <a:p>
            <a:r>
              <a:rPr lang="el-GR" dirty="0"/>
              <a:t>Αισθητήρας Καρδιακών Παλμών και </a:t>
            </a:r>
            <a:r>
              <a:rPr lang="en-US" dirty="0"/>
              <a:t>SpO2</a:t>
            </a:r>
            <a:endParaRPr lang="el-GR" dirty="0"/>
          </a:p>
        </p:txBody>
      </p:sp>
      <p:sp>
        <p:nvSpPr>
          <p:cNvPr id="3" name="Θέση περιεχομένου 2">
            <a:extLst>
              <a:ext uri="{FF2B5EF4-FFF2-40B4-BE49-F238E27FC236}">
                <a16:creationId xmlns:a16="http://schemas.microsoft.com/office/drawing/2014/main" id="{6E7613A4-23E9-5C08-6253-11EC302AC7A5}"/>
              </a:ext>
            </a:extLst>
          </p:cNvPr>
          <p:cNvSpPr>
            <a:spLocks noGrp="1"/>
          </p:cNvSpPr>
          <p:nvPr>
            <p:ph idx="1"/>
          </p:nvPr>
        </p:nvSpPr>
        <p:spPr>
          <a:xfrm>
            <a:off x="677334" y="2367627"/>
            <a:ext cx="8596668" cy="3880773"/>
          </a:xfrm>
        </p:spPr>
        <p:txBody>
          <a:bodyPr/>
          <a:lstStyle/>
          <a:p>
            <a:r>
              <a:rPr lang="el-GR" dirty="0"/>
              <a:t> O αισθητήρας </a:t>
            </a:r>
            <a:r>
              <a:rPr lang="el-GR" dirty="0" err="1"/>
              <a:t>καρδικών</a:t>
            </a:r>
            <a:r>
              <a:rPr lang="el-GR" dirty="0"/>
              <a:t> παλμών χρησιμοποιεί μια εξελιγμένη αρχιτεκτονική, με ενσωματωμένο κόκκινο και υπέρυθρο (IR) LED, </a:t>
            </a:r>
            <a:r>
              <a:rPr lang="el-GR" dirty="0" err="1"/>
              <a:t>φωτοανιχνευτή</a:t>
            </a:r>
            <a:r>
              <a:rPr lang="el-GR" dirty="0"/>
              <a:t>, επεξεργασία αναλογικού σήματος και μετατροπέα αναλογικού σε ψηφιακό 16 </a:t>
            </a:r>
            <a:r>
              <a:rPr lang="el-GR" dirty="0" err="1"/>
              <a:t>bit</a:t>
            </a:r>
            <a:r>
              <a:rPr lang="el-GR" dirty="0"/>
              <a:t> (ADC). </a:t>
            </a:r>
            <a:endParaRPr lang="en-US" dirty="0"/>
          </a:p>
          <a:p>
            <a:r>
              <a:rPr lang="el-GR" dirty="0"/>
              <a:t>Η κύρια λειτουργία του είναι να εκπέμπει φως στο δέρμα και να μετράει την ένταση του ανακλώμενου φωτός, μια διαδικασία γνωστή ως </a:t>
            </a:r>
            <a:r>
              <a:rPr lang="el-GR" dirty="0" err="1"/>
              <a:t>φωτοπληθυσμογραφία</a:t>
            </a:r>
            <a:r>
              <a:rPr lang="el-GR" dirty="0"/>
              <a:t> (PPG).</a:t>
            </a:r>
          </a:p>
        </p:txBody>
      </p:sp>
      <p:sp>
        <p:nvSpPr>
          <p:cNvPr id="4" name="Θέση αριθμού διαφάνειας 3">
            <a:extLst>
              <a:ext uri="{FF2B5EF4-FFF2-40B4-BE49-F238E27FC236}">
                <a16:creationId xmlns:a16="http://schemas.microsoft.com/office/drawing/2014/main" id="{CCFAB034-9C2D-1B50-BC0F-0B03D6FC8C0B}"/>
              </a:ext>
            </a:extLst>
          </p:cNvPr>
          <p:cNvSpPr>
            <a:spLocks noGrp="1"/>
          </p:cNvSpPr>
          <p:nvPr>
            <p:ph type="sldNum" sz="quarter" idx="12"/>
          </p:nvPr>
        </p:nvSpPr>
        <p:spPr/>
        <p:txBody>
          <a:bodyPr/>
          <a:lstStyle/>
          <a:p>
            <a:fld id="{519954A3-9DFD-4C44-94BA-B95130A3BA1C}" type="slidenum">
              <a:rPr lang="en-US" smtClean="0"/>
              <a:t>59</a:t>
            </a:fld>
            <a:endParaRPr lang="en-US" dirty="0"/>
          </a:p>
        </p:txBody>
      </p:sp>
    </p:spTree>
    <p:extLst>
      <p:ext uri="{BB962C8B-B14F-4D97-AF65-F5344CB8AC3E}">
        <p14:creationId xmlns:p14="http://schemas.microsoft.com/office/powerpoint/2010/main" val="10699421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1271C9F-AC13-9530-C6DD-54BF80A48962}"/>
              </a:ext>
            </a:extLst>
          </p:cNvPr>
          <p:cNvSpPr>
            <a:spLocks noGrp="1"/>
          </p:cNvSpPr>
          <p:nvPr>
            <p:ph type="title"/>
          </p:nvPr>
        </p:nvSpPr>
        <p:spPr>
          <a:xfrm>
            <a:off x="662961" y="1365251"/>
            <a:ext cx="4332816" cy="733425"/>
          </a:xfrm>
        </p:spPr>
        <p:txBody>
          <a:bodyPr/>
          <a:lstStyle/>
          <a:p>
            <a:r>
              <a:rPr lang="el-GR" dirty="0"/>
              <a:t>Επιταχυνσιόμετρο</a:t>
            </a:r>
          </a:p>
        </p:txBody>
      </p:sp>
      <p:sp>
        <p:nvSpPr>
          <p:cNvPr id="3" name="Θέση περιεχομένου 2">
            <a:extLst>
              <a:ext uri="{FF2B5EF4-FFF2-40B4-BE49-F238E27FC236}">
                <a16:creationId xmlns:a16="http://schemas.microsoft.com/office/drawing/2014/main" id="{71D49D32-913D-843E-7A7B-0AC73DF15C8F}"/>
              </a:ext>
            </a:extLst>
          </p:cNvPr>
          <p:cNvSpPr>
            <a:spLocks noGrp="1"/>
          </p:cNvSpPr>
          <p:nvPr>
            <p:ph idx="1"/>
          </p:nvPr>
        </p:nvSpPr>
        <p:spPr>
          <a:xfrm>
            <a:off x="677334" y="1731964"/>
            <a:ext cx="8596668" cy="3880773"/>
          </a:xfrm>
        </p:spPr>
        <p:txBody>
          <a:bodyPr/>
          <a:lstStyle/>
          <a:p>
            <a:endParaRPr lang="el-GR" dirty="0"/>
          </a:p>
          <a:p>
            <a:r>
              <a:rPr lang="el-GR" dirty="0"/>
              <a:t>Το ADXL345 είναι ένα επιταχυνσιόμετρο με αρχιτεκτονική FIFO για αξιόπιστη ανίχνευση κίνησης. Λειτουργεί με τρεις άξονες MEMS για ακριβείς μετρήσεις επιτάχυνσης σε X, Y και Z. </a:t>
            </a:r>
            <a:endParaRPr lang="en-US" dirty="0"/>
          </a:p>
          <a:p>
            <a:r>
              <a:rPr lang="el-GR" dirty="0"/>
              <a:t>Η ψηφιακή </a:t>
            </a:r>
            <a:r>
              <a:rPr lang="el-GR" dirty="0" err="1"/>
              <a:t>διεπαφή</a:t>
            </a:r>
            <a:r>
              <a:rPr lang="el-GR" dirty="0"/>
              <a:t> υποστηρίζει επικοινωνία με </a:t>
            </a:r>
            <a:r>
              <a:rPr lang="el-GR" dirty="0" err="1"/>
              <a:t>μικροελεγκτές</a:t>
            </a:r>
            <a:r>
              <a:rPr lang="el-GR" dirty="0"/>
              <a:t> μέσω SPI ή I</a:t>
            </a:r>
            <a:r>
              <a:rPr lang="el-GR" sz="1800" baseline="30000" dirty="0">
                <a:effectLst/>
                <a:ea typeface="Calibri" panose="020F0502020204030204" pitchFamily="34" charset="0"/>
              </a:rPr>
              <a:t>2</a:t>
            </a:r>
            <a:r>
              <a:rPr lang="el-GR" dirty="0"/>
              <a:t>C. Προσφέρει ρυθμό δειγματοληψίας που προσαρμόζεται από τον χρήστη, και η ψηφιακή έξοδος είναι 16-bit για υψηλή ακρίβεια.</a:t>
            </a:r>
            <a:endParaRPr lang="en-US" dirty="0"/>
          </a:p>
          <a:p>
            <a:r>
              <a:rPr lang="el-GR" dirty="0"/>
              <a:t> Έχει χαρακτηριστικά όπως ρυθμιζόμενα κατώφλια, ανίχνευση χτυπήματος/διπλού πατήματος και ανίχνευση ελεύθερης πτώσης.</a:t>
            </a:r>
          </a:p>
        </p:txBody>
      </p:sp>
      <p:sp>
        <p:nvSpPr>
          <p:cNvPr id="4" name="Θέση αριθμού διαφάνειας 3">
            <a:extLst>
              <a:ext uri="{FF2B5EF4-FFF2-40B4-BE49-F238E27FC236}">
                <a16:creationId xmlns:a16="http://schemas.microsoft.com/office/drawing/2014/main" id="{2494ED32-C7D3-3D26-5816-882A1BFC3BFB}"/>
              </a:ext>
            </a:extLst>
          </p:cNvPr>
          <p:cNvSpPr>
            <a:spLocks noGrp="1"/>
          </p:cNvSpPr>
          <p:nvPr>
            <p:ph type="sldNum" sz="quarter" idx="12"/>
          </p:nvPr>
        </p:nvSpPr>
        <p:spPr/>
        <p:txBody>
          <a:bodyPr/>
          <a:lstStyle/>
          <a:p>
            <a:fld id="{519954A3-9DFD-4C44-94BA-B95130A3BA1C}" type="slidenum">
              <a:rPr lang="en-US" smtClean="0"/>
              <a:t>60</a:t>
            </a:fld>
            <a:endParaRPr lang="en-US" dirty="0"/>
          </a:p>
        </p:txBody>
      </p:sp>
    </p:spTree>
    <p:extLst>
      <p:ext uri="{BB962C8B-B14F-4D97-AF65-F5344CB8AC3E}">
        <p14:creationId xmlns:p14="http://schemas.microsoft.com/office/powerpoint/2010/main" val="28872664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9732A89-867B-F6DB-D7B7-F42B9C5CAB90}"/>
              </a:ext>
            </a:extLst>
          </p:cNvPr>
          <p:cNvSpPr>
            <a:spLocks noGrp="1"/>
          </p:cNvSpPr>
          <p:nvPr>
            <p:ph type="title"/>
          </p:nvPr>
        </p:nvSpPr>
        <p:spPr>
          <a:xfrm>
            <a:off x="677334" y="1381125"/>
            <a:ext cx="2761191" cy="628650"/>
          </a:xfrm>
        </p:spPr>
        <p:txBody>
          <a:bodyPr>
            <a:normAutofit fontScale="90000"/>
          </a:bodyPr>
          <a:lstStyle/>
          <a:p>
            <a:r>
              <a:rPr lang="el-GR" dirty="0"/>
              <a:t>Πιεσόμετρο</a:t>
            </a:r>
          </a:p>
        </p:txBody>
      </p:sp>
      <p:sp>
        <p:nvSpPr>
          <p:cNvPr id="3" name="Θέση περιεχομένου 2">
            <a:extLst>
              <a:ext uri="{FF2B5EF4-FFF2-40B4-BE49-F238E27FC236}">
                <a16:creationId xmlns:a16="http://schemas.microsoft.com/office/drawing/2014/main" id="{18890A03-7CBF-2235-69A4-A90816FFA75C}"/>
              </a:ext>
            </a:extLst>
          </p:cNvPr>
          <p:cNvSpPr>
            <a:spLocks noGrp="1"/>
          </p:cNvSpPr>
          <p:nvPr>
            <p:ph idx="1"/>
          </p:nvPr>
        </p:nvSpPr>
        <p:spPr/>
        <p:txBody>
          <a:bodyPr/>
          <a:lstStyle/>
          <a:p>
            <a:r>
              <a:rPr lang="el-GR" dirty="0"/>
              <a:t>Υποσύστημα που εμπεριέχει και μικροελεγκτή με σύνδεση στο κεντρικό σύστημα. Αυτό το σχέδιο είναι ένα σχέδιο αναφοράς για ένα ηλεκτρονικό σφυγμομανόμετρο που μπορεί να πάρει δεδομένα καρδιακού ρυθμού μέσω μιας μέτρησης. </a:t>
            </a:r>
          </a:p>
          <a:p>
            <a:r>
              <a:rPr lang="el-GR" dirty="0"/>
              <a:t>Συλλέγει δεδομένα από μια μανσέτα που είναι δεμένη στο πάνω μέρος του βραχίονα και στη συνέχεια επεξεργάζεται αυτά τα δεδομένα. </a:t>
            </a:r>
          </a:p>
          <a:p>
            <a:r>
              <a:rPr lang="el-GR" dirty="0"/>
              <a:t>Περιλαμβάνει μία αρχιτεκτονική συνδεμένη στην πλακέτα με μνήμες και </a:t>
            </a:r>
            <a:r>
              <a:rPr lang="el-GR" dirty="0" err="1"/>
              <a:t>timers</a:t>
            </a:r>
            <a:r>
              <a:rPr lang="el-GR" dirty="0"/>
              <a:t> που επικοινωνούν δυναμικά με τους </a:t>
            </a:r>
            <a:r>
              <a:rPr lang="el-GR" dirty="0" err="1"/>
              <a:t>καταχωρητές</a:t>
            </a:r>
            <a:endParaRPr lang="el-GR" dirty="0"/>
          </a:p>
        </p:txBody>
      </p:sp>
      <p:sp>
        <p:nvSpPr>
          <p:cNvPr id="4" name="Θέση αριθμού διαφάνειας 3">
            <a:extLst>
              <a:ext uri="{FF2B5EF4-FFF2-40B4-BE49-F238E27FC236}">
                <a16:creationId xmlns:a16="http://schemas.microsoft.com/office/drawing/2014/main" id="{FE5F6C09-852D-D3CD-19FF-EB2092E6E41E}"/>
              </a:ext>
            </a:extLst>
          </p:cNvPr>
          <p:cNvSpPr>
            <a:spLocks noGrp="1"/>
          </p:cNvSpPr>
          <p:nvPr>
            <p:ph type="sldNum" sz="quarter" idx="12"/>
          </p:nvPr>
        </p:nvSpPr>
        <p:spPr/>
        <p:txBody>
          <a:bodyPr/>
          <a:lstStyle/>
          <a:p>
            <a:fld id="{519954A3-9DFD-4C44-94BA-B95130A3BA1C}" type="slidenum">
              <a:rPr lang="en-US" smtClean="0"/>
              <a:t>61</a:t>
            </a:fld>
            <a:endParaRPr lang="en-US" dirty="0"/>
          </a:p>
        </p:txBody>
      </p:sp>
    </p:spTree>
    <p:extLst>
      <p:ext uri="{BB962C8B-B14F-4D97-AF65-F5344CB8AC3E}">
        <p14:creationId xmlns:p14="http://schemas.microsoft.com/office/powerpoint/2010/main" val="1457363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EE15A0E-CE92-49FA-B1DD-14DF4224A49D}"/>
              </a:ext>
            </a:extLst>
          </p:cNvPr>
          <p:cNvSpPr>
            <a:spLocks noGrp="1"/>
          </p:cNvSpPr>
          <p:nvPr>
            <p:ph type="title"/>
          </p:nvPr>
        </p:nvSpPr>
        <p:spPr>
          <a:xfrm>
            <a:off x="677334" y="1333500"/>
            <a:ext cx="2342091" cy="723900"/>
          </a:xfrm>
        </p:spPr>
        <p:txBody>
          <a:bodyPr/>
          <a:lstStyle/>
          <a:p>
            <a:r>
              <a:rPr lang="en-US" dirty="0"/>
              <a:t>Wi-Fi SoC</a:t>
            </a:r>
            <a:endParaRPr lang="el-GR" dirty="0"/>
          </a:p>
        </p:txBody>
      </p:sp>
      <p:sp>
        <p:nvSpPr>
          <p:cNvPr id="3" name="Θέση περιεχομένου 2">
            <a:extLst>
              <a:ext uri="{FF2B5EF4-FFF2-40B4-BE49-F238E27FC236}">
                <a16:creationId xmlns:a16="http://schemas.microsoft.com/office/drawing/2014/main" id="{695C3A02-E0D6-9022-0E1B-0EEC7CD0C11E}"/>
              </a:ext>
            </a:extLst>
          </p:cNvPr>
          <p:cNvSpPr>
            <a:spLocks noGrp="1"/>
          </p:cNvSpPr>
          <p:nvPr>
            <p:ph idx="1"/>
          </p:nvPr>
        </p:nvSpPr>
        <p:spPr/>
        <p:txBody>
          <a:bodyPr>
            <a:normAutofit lnSpcReduction="10000"/>
          </a:bodyPr>
          <a:lstStyle/>
          <a:p>
            <a:r>
              <a:rPr lang="el-GR" dirty="0"/>
              <a:t> Εφαρμογή </a:t>
            </a:r>
            <a:r>
              <a:rPr lang="el-GR" dirty="0" err="1"/>
              <a:t>IoT</a:t>
            </a:r>
            <a:r>
              <a:rPr lang="el-GR" dirty="0"/>
              <a:t> (Internet of </a:t>
            </a:r>
            <a:r>
              <a:rPr lang="el-GR" dirty="0" err="1"/>
              <a:t>Things</a:t>
            </a:r>
            <a:r>
              <a:rPr lang="el-GR" dirty="0"/>
              <a:t>) λόγω του μικρού μεγέθους, του χαμηλού κόστους και της ενσωματωμένης συνδεσιμότητας </a:t>
            </a:r>
            <a:r>
              <a:rPr lang="el-GR" dirty="0" err="1"/>
              <a:t>Wi-Fi</a:t>
            </a:r>
            <a:r>
              <a:rPr lang="el-GR" dirty="0"/>
              <a:t>. Η αρχιτεκτονική του ESP8266 περιλαμβάνει μια μονάδα μικροελεγκτή 32 </a:t>
            </a:r>
            <a:r>
              <a:rPr lang="el-GR" dirty="0" err="1"/>
              <a:t>bit</a:t>
            </a:r>
            <a:r>
              <a:rPr lang="el-GR" dirty="0"/>
              <a:t> </a:t>
            </a:r>
            <a:r>
              <a:rPr lang="el-GR" dirty="0" err="1"/>
              <a:t>Tensilica</a:t>
            </a:r>
            <a:r>
              <a:rPr lang="el-GR" dirty="0"/>
              <a:t> L106 (MCU), η οποία χρησιμεύει ως ο εγκέφαλος της μονάδας.</a:t>
            </a:r>
            <a:endParaRPr lang="en-US" dirty="0"/>
          </a:p>
          <a:p>
            <a:r>
              <a:rPr lang="en-US" dirty="0"/>
              <a:t>H </a:t>
            </a:r>
            <a:r>
              <a:rPr lang="el-GR" dirty="0"/>
              <a:t>MCU λειτουργεί σε συχνότητα ρολογιού 80 </a:t>
            </a:r>
            <a:r>
              <a:rPr lang="el-GR" dirty="0" err="1"/>
              <a:t>MHz</a:t>
            </a:r>
            <a:r>
              <a:rPr lang="el-GR" dirty="0"/>
              <a:t> και είναι σε θέση να χειρίζεται διάφορες εργασίες, συμπεριλαμβανομένης της επεξεργασίας δεδομένων και της επικοινωνίας.</a:t>
            </a:r>
          </a:p>
          <a:p>
            <a:r>
              <a:rPr lang="el-GR" dirty="0"/>
              <a:t>Η αρχιτεκτονική ESP8266 περιλαμβάνει </a:t>
            </a:r>
            <a:r>
              <a:rPr lang="el-GR" dirty="0" err="1"/>
              <a:t>διεπαφές</a:t>
            </a:r>
            <a:r>
              <a:rPr lang="el-GR" dirty="0"/>
              <a:t> GPIO (Είσοδος/Έξοδος γενικής χρήσης), SPI (Σειριακή περιφερειακή </a:t>
            </a:r>
            <a:r>
              <a:rPr lang="el-GR" dirty="0" err="1"/>
              <a:t>διεπαφή</a:t>
            </a:r>
            <a:r>
              <a:rPr lang="el-GR" dirty="0"/>
              <a:t>), I</a:t>
            </a:r>
            <a:r>
              <a:rPr lang="el-GR" sz="1800" baseline="30000" dirty="0">
                <a:effectLst/>
                <a:ea typeface="Calibri" panose="020F0502020204030204" pitchFamily="34" charset="0"/>
              </a:rPr>
              <a:t>2</a:t>
            </a:r>
            <a:r>
              <a:rPr lang="el-GR" dirty="0"/>
              <a:t>C  και UART (</a:t>
            </a:r>
            <a:r>
              <a:rPr lang="el-GR" dirty="0" err="1"/>
              <a:t>Universal</a:t>
            </a:r>
            <a:r>
              <a:rPr lang="el-GR" dirty="0"/>
              <a:t> </a:t>
            </a:r>
            <a:r>
              <a:rPr lang="el-GR" dirty="0" err="1"/>
              <a:t>Asynchronous</a:t>
            </a:r>
            <a:r>
              <a:rPr lang="el-GR" dirty="0"/>
              <a:t> </a:t>
            </a:r>
            <a:r>
              <a:rPr lang="el-GR" dirty="0" err="1"/>
              <a:t>Receiver-Transmitter</a:t>
            </a:r>
            <a:r>
              <a:rPr lang="el-GR" dirty="0"/>
              <a:t>), παρέχοντας ευελιξία για διασύνδεση με </a:t>
            </a:r>
            <a:r>
              <a:rPr lang="el-GR" dirty="0" err="1"/>
              <a:t>ενεργοποιητές</a:t>
            </a:r>
            <a:r>
              <a:rPr lang="el-GR" dirty="0"/>
              <a:t>, αισθητήρες, άλλα περιφερειακά.</a:t>
            </a:r>
            <a:endParaRPr lang="en-US" dirty="0"/>
          </a:p>
          <a:p>
            <a:r>
              <a:rPr lang="el-GR" dirty="0"/>
              <a:t> Διαθέτει επίσης μνήμη flash για την αποθήκευση του υλικού-λογισμικού και των δεδομένων.</a:t>
            </a:r>
          </a:p>
        </p:txBody>
      </p:sp>
      <p:sp>
        <p:nvSpPr>
          <p:cNvPr id="4" name="Θέση αριθμού διαφάνειας 3">
            <a:extLst>
              <a:ext uri="{FF2B5EF4-FFF2-40B4-BE49-F238E27FC236}">
                <a16:creationId xmlns:a16="http://schemas.microsoft.com/office/drawing/2014/main" id="{12AAFB81-C66A-6A06-817B-91BDA98559C5}"/>
              </a:ext>
            </a:extLst>
          </p:cNvPr>
          <p:cNvSpPr>
            <a:spLocks noGrp="1"/>
          </p:cNvSpPr>
          <p:nvPr>
            <p:ph type="sldNum" sz="quarter" idx="12"/>
          </p:nvPr>
        </p:nvSpPr>
        <p:spPr/>
        <p:txBody>
          <a:bodyPr/>
          <a:lstStyle/>
          <a:p>
            <a:fld id="{519954A3-9DFD-4C44-94BA-B95130A3BA1C}" type="slidenum">
              <a:rPr lang="en-US" smtClean="0"/>
              <a:t>62</a:t>
            </a:fld>
            <a:endParaRPr lang="en-US" dirty="0"/>
          </a:p>
        </p:txBody>
      </p:sp>
    </p:spTree>
    <p:extLst>
      <p:ext uri="{BB962C8B-B14F-4D97-AF65-F5344CB8AC3E}">
        <p14:creationId xmlns:p14="http://schemas.microsoft.com/office/powerpoint/2010/main" val="19245846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59544A9-F2CA-0AC3-7C77-6AE422800038}"/>
              </a:ext>
            </a:extLst>
          </p:cNvPr>
          <p:cNvSpPr>
            <a:spLocks noGrp="1"/>
          </p:cNvSpPr>
          <p:nvPr>
            <p:ph type="title"/>
          </p:nvPr>
        </p:nvSpPr>
        <p:spPr>
          <a:xfrm>
            <a:off x="677334" y="1493839"/>
            <a:ext cx="2808816" cy="666750"/>
          </a:xfrm>
        </p:spPr>
        <p:txBody>
          <a:bodyPr/>
          <a:lstStyle/>
          <a:p>
            <a:r>
              <a:rPr lang="en-US" dirty="0"/>
              <a:t>Flash </a:t>
            </a:r>
            <a:r>
              <a:rPr lang="el-GR" dirty="0"/>
              <a:t>Μνήμη</a:t>
            </a:r>
          </a:p>
        </p:txBody>
      </p:sp>
      <p:sp>
        <p:nvSpPr>
          <p:cNvPr id="3" name="Θέση περιεχομένου 2">
            <a:extLst>
              <a:ext uri="{FF2B5EF4-FFF2-40B4-BE49-F238E27FC236}">
                <a16:creationId xmlns:a16="http://schemas.microsoft.com/office/drawing/2014/main" id="{3D335897-B250-D4E4-2EE0-269343A69B77}"/>
              </a:ext>
            </a:extLst>
          </p:cNvPr>
          <p:cNvSpPr>
            <a:spLocks noGrp="1"/>
          </p:cNvSpPr>
          <p:nvPr>
            <p:ph idx="1"/>
          </p:nvPr>
        </p:nvSpPr>
        <p:spPr/>
        <p:txBody>
          <a:bodyPr/>
          <a:lstStyle/>
          <a:p>
            <a:r>
              <a:rPr lang="el-GR" dirty="0"/>
              <a:t>Η κάρτα SanDisk Ultra microSD UHS (Ultra High </a:t>
            </a:r>
            <a:r>
              <a:rPr lang="el-GR" dirty="0" err="1"/>
              <a:t>Speed</a:t>
            </a:r>
            <a:r>
              <a:rPr lang="el-GR" dirty="0"/>
              <a:t>) είναι ένας τύπος κάρτας microSD που έχει σχεδιαστεί για αποθήκευση υψηλής απόδοσης σε συμπαγή μορφή. </a:t>
            </a:r>
          </a:p>
          <a:p>
            <a:r>
              <a:rPr lang="el-GR" dirty="0"/>
              <a:t>Η αρχιτεκτονική της κάρτας SanDisk Ultra microSD UHS βασίζεται στην τεχνολογία μνήμης flash NAND. </a:t>
            </a:r>
          </a:p>
          <a:p>
            <a:r>
              <a:rPr lang="el-GR" dirty="0"/>
              <a:t>Η μνήμη flash NAND διατηρεί δεδομένα ακόμα και όταν διακοπεί το ρεύμα. </a:t>
            </a:r>
          </a:p>
          <a:p>
            <a:r>
              <a:rPr lang="el-GR" dirty="0"/>
              <a:t>Η κάρτα διαθέτει έναν ελεγκτή που διαχειρίζεται την ανάγνωση και την εγγραφή δεδομένων στα κελιά μνήμης flash NAND</a:t>
            </a:r>
            <a:r>
              <a:rPr lang="en-US" dirty="0"/>
              <a:t>.</a:t>
            </a:r>
            <a:endParaRPr lang="el-GR" dirty="0"/>
          </a:p>
        </p:txBody>
      </p:sp>
      <p:sp>
        <p:nvSpPr>
          <p:cNvPr id="4" name="Θέση αριθμού διαφάνειας 3">
            <a:extLst>
              <a:ext uri="{FF2B5EF4-FFF2-40B4-BE49-F238E27FC236}">
                <a16:creationId xmlns:a16="http://schemas.microsoft.com/office/drawing/2014/main" id="{6D9AF6B0-0B42-C738-190B-5B2943F39E45}"/>
              </a:ext>
            </a:extLst>
          </p:cNvPr>
          <p:cNvSpPr>
            <a:spLocks noGrp="1"/>
          </p:cNvSpPr>
          <p:nvPr>
            <p:ph type="sldNum" sz="quarter" idx="12"/>
          </p:nvPr>
        </p:nvSpPr>
        <p:spPr/>
        <p:txBody>
          <a:bodyPr/>
          <a:lstStyle/>
          <a:p>
            <a:fld id="{519954A3-9DFD-4C44-94BA-B95130A3BA1C}" type="slidenum">
              <a:rPr lang="en-US" smtClean="0"/>
              <a:t>63</a:t>
            </a:fld>
            <a:endParaRPr lang="en-US" dirty="0"/>
          </a:p>
        </p:txBody>
      </p:sp>
    </p:spTree>
    <p:extLst>
      <p:ext uri="{BB962C8B-B14F-4D97-AF65-F5344CB8AC3E}">
        <p14:creationId xmlns:p14="http://schemas.microsoft.com/office/powerpoint/2010/main" val="37694696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5F5146D-F8F4-B204-93B3-B32B86AA70AA}"/>
              </a:ext>
            </a:extLst>
          </p:cNvPr>
          <p:cNvSpPr>
            <a:spLocks noGrp="1"/>
          </p:cNvSpPr>
          <p:nvPr>
            <p:ph type="title"/>
          </p:nvPr>
        </p:nvSpPr>
        <p:spPr>
          <a:xfrm>
            <a:off x="726018" y="1398589"/>
            <a:ext cx="3466041" cy="762000"/>
          </a:xfrm>
        </p:spPr>
        <p:txBody>
          <a:bodyPr/>
          <a:lstStyle/>
          <a:p>
            <a:r>
              <a:rPr lang="el-GR" dirty="0"/>
              <a:t>Μικροελεγκτής</a:t>
            </a:r>
          </a:p>
        </p:txBody>
      </p:sp>
      <p:sp>
        <p:nvSpPr>
          <p:cNvPr id="3" name="Θέση περιεχομένου 2">
            <a:extLst>
              <a:ext uri="{FF2B5EF4-FFF2-40B4-BE49-F238E27FC236}">
                <a16:creationId xmlns:a16="http://schemas.microsoft.com/office/drawing/2014/main" id="{E3CC5E35-1D27-6F5F-CCC1-60DD10A3D28D}"/>
              </a:ext>
            </a:extLst>
          </p:cNvPr>
          <p:cNvSpPr>
            <a:spLocks noGrp="1"/>
          </p:cNvSpPr>
          <p:nvPr>
            <p:ph idx="1"/>
          </p:nvPr>
        </p:nvSpPr>
        <p:spPr/>
        <p:txBody>
          <a:bodyPr/>
          <a:lstStyle/>
          <a:p>
            <a:r>
              <a:rPr lang="el-GR" dirty="0"/>
              <a:t>Ο STM32F7 είναι μια σειρά </a:t>
            </a:r>
            <a:r>
              <a:rPr lang="el-GR" dirty="0" err="1"/>
              <a:t>μικροελεγκτών</a:t>
            </a:r>
            <a:r>
              <a:rPr lang="el-GR" dirty="0"/>
              <a:t> της </a:t>
            </a:r>
            <a:r>
              <a:rPr lang="el-GR" dirty="0" err="1"/>
              <a:t>STMicroelectronics</a:t>
            </a:r>
            <a:r>
              <a:rPr lang="el-GR" dirty="0"/>
              <a:t> με βάση την αρχιτεκτονική ARM Cortex-M7.</a:t>
            </a:r>
          </a:p>
          <a:p>
            <a:r>
              <a:rPr lang="el-GR" dirty="0"/>
              <a:t>Διαθέτει υψηλή συχνότητα ρολογιού για αυξημένη υπολογιστική ισχύ και απόδοση.</a:t>
            </a:r>
          </a:p>
          <a:p>
            <a:r>
              <a:rPr lang="el-GR" dirty="0"/>
              <a:t>Ποικίλα περιφερειακά όπως USART</a:t>
            </a:r>
            <a:r>
              <a:rPr lang="en-US" dirty="0"/>
              <a:t>/UART</a:t>
            </a:r>
            <a:r>
              <a:rPr lang="el-GR" dirty="0"/>
              <a:t>, SPI, I</a:t>
            </a:r>
            <a:r>
              <a:rPr lang="el-GR" sz="1800" baseline="30000" dirty="0">
                <a:effectLst/>
                <a:ea typeface="Calibri" panose="020F0502020204030204" pitchFamily="34" charset="0"/>
              </a:rPr>
              <a:t>2</a:t>
            </a:r>
            <a:r>
              <a:rPr lang="el-GR" dirty="0"/>
              <a:t>C, χρονόμετρα και ADC για ευέλικτη χρήση.</a:t>
            </a:r>
          </a:p>
          <a:p>
            <a:r>
              <a:rPr lang="el-GR" dirty="0"/>
              <a:t>Διαθέτει </a:t>
            </a:r>
            <a:r>
              <a:rPr lang="el-GR" dirty="0" err="1"/>
              <a:t>διεπαφή</a:t>
            </a:r>
            <a:r>
              <a:rPr lang="el-GR" dirty="0"/>
              <a:t> FMC για σύνδεση με εξωτερικές μνήμες, επεκτείνοντας τον αποθηκευτικό χώρο.</a:t>
            </a:r>
          </a:p>
          <a:p>
            <a:r>
              <a:rPr lang="el-GR" dirty="0"/>
              <a:t>Ενσωματώνει </a:t>
            </a:r>
            <a:r>
              <a:rPr lang="el-GR" dirty="0" err="1"/>
              <a:t>διεπαφές</a:t>
            </a:r>
            <a:r>
              <a:rPr lang="el-GR" dirty="0"/>
              <a:t> USB και υποστηρίζει γραφικές </a:t>
            </a:r>
            <a:r>
              <a:rPr lang="el-GR" dirty="0" err="1"/>
              <a:t>διεπαφές</a:t>
            </a:r>
            <a:r>
              <a:rPr lang="el-GR" dirty="0"/>
              <a:t> με GPU.</a:t>
            </a:r>
          </a:p>
          <a:p>
            <a:r>
              <a:rPr lang="el-GR" dirty="0"/>
              <a:t>Υποστηρίζει ποικίλα πρωτόκολλα επικοινωνίας και διαθέτει ένα ολοκληρωμένο σύνολο εργαλείων ανάπτυξης.</a:t>
            </a:r>
          </a:p>
        </p:txBody>
      </p:sp>
      <p:sp>
        <p:nvSpPr>
          <p:cNvPr id="4" name="Θέση αριθμού διαφάνειας 3">
            <a:extLst>
              <a:ext uri="{FF2B5EF4-FFF2-40B4-BE49-F238E27FC236}">
                <a16:creationId xmlns:a16="http://schemas.microsoft.com/office/drawing/2014/main" id="{D9C6F6DA-70F2-507F-2FC7-71B977C7C81F}"/>
              </a:ext>
            </a:extLst>
          </p:cNvPr>
          <p:cNvSpPr>
            <a:spLocks noGrp="1"/>
          </p:cNvSpPr>
          <p:nvPr>
            <p:ph type="sldNum" sz="quarter" idx="12"/>
          </p:nvPr>
        </p:nvSpPr>
        <p:spPr/>
        <p:txBody>
          <a:bodyPr/>
          <a:lstStyle/>
          <a:p>
            <a:fld id="{519954A3-9DFD-4C44-94BA-B95130A3BA1C}" type="slidenum">
              <a:rPr lang="en-US" smtClean="0"/>
              <a:t>64</a:t>
            </a:fld>
            <a:endParaRPr lang="en-US" dirty="0"/>
          </a:p>
        </p:txBody>
      </p:sp>
    </p:spTree>
    <p:extLst>
      <p:ext uri="{BB962C8B-B14F-4D97-AF65-F5344CB8AC3E}">
        <p14:creationId xmlns:p14="http://schemas.microsoft.com/office/powerpoint/2010/main" val="480539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5A9E922-988E-C3A2-BE36-518DF4898903}"/>
              </a:ext>
            </a:extLst>
          </p:cNvPr>
          <p:cNvSpPr>
            <a:spLocks noGrp="1"/>
          </p:cNvSpPr>
          <p:nvPr>
            <p:ph type="title"/>
          </p:nvPr>
        </p:nvSpPr>
        <p:spPr>
          <a:xfrm>
            <a:off x="678393" y="2324100"/>
            <a:ext cx="3742266" cy="695325"/>
          </a:xfrm>
        </p:spPr>
        <p:txBody>
          <a:bodyPr/>
          <a:lstStyle/>
          <a:p>
            <a:r>
              <a:rPr lang="el-GR" dirty="0"/>
              <a:t>Αισθητήρας </a:t>
            </a:r>
            <a:r>
              <a:rPr lang="en-US" dirty="0"/>
              <a:t>EDA</a:t>
            </a:r>
            <a:endParaRPr lang="el-GR" dirty="0"/>
          </a:p>
        </p:txBody>
      </p:sp>
      <p:sp>
        <p:nvSpPr>
          <p:cNvPr id="3" name="Θέση περιεχομένου 2">
            <a:extLst>
              <a:ext uri="{FF2B5EF4-FFF2-40B4-BE49-F238E27FC236}">
                <a16:creationId xmlns:a16="http://schemas.microsoft.com/office/drawing/2014/main" id="{D7EBAE9E-E455-9390-EBE2-72E290D59012}"/>
              </a:ext>
            </a:extLst>
          </p:cNvPr>
          <p:cNvSpPr>
            <a:spLocks noGrp="1"/>
          </p:cNvSpPr>
          <p:nvPr>
            <p:ph idx="1"/>
          </p:nvPr>
        </p:nvSpPr>
        <p:spPr>
          <a:xfrm>
            <a:off x="678393" y="2951164"/>
            <a:ext cx="8596668" cy="1697036"/>
          </a:xfrm>
        </p:spPr>
        <p:txBody>
          <a:bodyPr/>
          <a:lstStyle/>
          <a:p>
            <a:r>
              <a:rPr lang="el-GR" dirty="0"/>
              <a:t>Ο αισθητήρας SMD Groove περιέχει υλικό για μέτρηση του χρήστη. Επίσης περιέχει βύσμα για διασύνδεση παρόλο που υποστηρίζει 1-wire </a:t>
            </a:r>
            <a:r>
              <a:rPr lang="el-GR" dirty="0" err="1"/>
              <a:t>connection</a:t>
            </a:r>
            <a:r>
              <a:rPr lang="el-GR" dirty="0"/>
              <a:t>. </a:t>
            </a:r>
            <a:endParaRPr lang="en-US" dirty="0"/>
          </a:p>
          <a:p>
            <a:r>
              <a:rPr lang="el-GR" dirty="0"/>
              <a:t>Σχεδιασμός διάταξης PCB, ειδικά η υποστήριξή του για τοποθέτηση και δρομολόγηση εξαρτημάτων SMD στην πλακέτα. </a:t>
            </a:r>
          </a:p>
        </p:txBody>
      </p:sp>
      <p:sp>
        <p:nvSpPr>
          <p:cNvPr id="4" name="Θέση αριθμού διαφάνειας 3">
            <a:extLst>
              <a:ext uri="{FF2B5EF4-FFF2-40B4-BE49-F238E27FC236}">
                <a16:creationId xmlns:a16="http://schemas.microsoft.com/office/drawing/2014/main" id="{BD425902-5F12-A63A-5F43-E3EF547F5945}"/>
              </a:ext>
            </a:extLst>
          </p:cNvPr>
          <p:cNvSpPr>
            <a:spLocks noGrp="1"/>
          </p:cNvSpPr>
          <p:nvPr>
            <p:ph type="sldNum" sz="quarter" idx="12"/>
          </p:nvPr>
        </p:nvSpPr>
        <p:spPr/>
        <p:txBody>
          <a:bodyPr/>
          <a:lstStyle/>
          <a:p>
            <a:fld id="{519954A3-9DFD-4C44-94BA-B95130A3BA1C}" type="slidenum">
              <a:rPr lang="en-US" smtClean="0"/>
              <a:t>65</a:t>
            </a:fld>
            <a:endParaRPr lang="en-US" dirty="0"/>
          </a:p>
        </p:txBody>
      </p:sp>
    </p:spTree>
    <p:extLst>
      <p:ext uri="{BB962C8B-B14F-4D97-AF65-F5344CB8AC3E}">
        <p14:creationId xmlns:p14="http://schemas.microsoft.com/office/powerpoint/2010/main" val="16121390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7ED407D-CA03-7701-76AF-0BE9EC6FCFDB}"/>
              </a:ext>
            </a:extLst>
          </p:cNvPr>
          <p:cNvSpPr>
            <a:spLocks noGrp="1"/>
          </p:cNvSpPr>
          <p:nvPr>
            <p:ph type="title"/>
          </p:nvPr>
        </p:nvSpPr>
        <p:spPr>
          <a:xfrm>
            <a:off x="677334" y="1524000"/>
            <a:ext cx="1646766" cy="723900"/>
          </a:xfrm>
        </p:spPr>
        <p:txBody>
          <a:bodyPr/>
          <a:lstStyle/>
          <a:p>
            <a:r>
              <a:rPr lang="el-GR" dirty="0"/>
              <a:t>Οθόνη</a:t>
            </a:r>
          </a:p>
        </p:txBody>
      </p:sp>
      <p:sp>
        <p:nvSpPr>
          <p:cNvPr id="3" name="Θέση περιεχομένου 2">
            <a:extLst>
              <a:ext uri="{FF2B5EF4-FFF2-40B4-BE49-F238E27FC236}">
                <a16:creationId xmlns:a16="http://schemas.microsoft.com/office/drawing/2014/main" id="{97C5A9A7-187C-57FC-5CA7-7DC7E1153A97}"/>
              </a:ext>
            </a:extLst>
          </p:cNvPr>
          <p:cNvSpPr>
            <a:spLocks noGrp="1"/>
          </p:cNvSpPr>
          <p:nvPr>
            <p:ph idx="1"/>
          </p:nvPr>
        </p:nvSpPr>
        <p:spPr>
          <a:xfrm>
            <a:off x="677334" y="2484439"/>
            <a:ext cx="8596668" cy="2849561"/>
          </a:xfrm>
        </p:spPr>
        <p:txBody>
          <a:bodyPr/>
          <a:lstStyle/>
          <a:p>
            <a:r>
              <a:rPr lang="el-GR" dirty="0"/>
              <a:t>Υποστηρίζει πολλαπλά πρωτόκολλα </a:t>
            </a:r>
            <a:r>
              <a:rPr lang="el-GR" dirty="0" err="1"/>
              <a:t>διεπαφής</a:t>
            </a:r>
            <a:r>
              <a:rPr lang="el-GR" dirty="0"/>
              <a:t>, όπως 8080, 6800, 8-bit, 16-bit παράλληλη, 3-wire, 4-wire, SPI και I</a:t>
            </a:r>
            <a:r>
              <a:rPr lang="el-GR" sz="1800" baseline="30000" dirty="0">
                <a:effectLst/>
                <a:ea typeface="Calibri" panose="020F0502020204030204" pitchFamily="34" charset="0"/>
              </a:rPr>
              <a:t>2</a:t>
            </a:r>
            <a:r>
              <a:rPr lang="el-GR" dirty="0"/>
              <a:t>C.</a:t>
            </a:r>
          </a:p>
          <a:p>
            <a:r>
              <a:rPr lang="el-GR" dirty="0"/>
              <a:t>Διαθέτει ενσωματωμένη υποδοχή κάρτας MicroSD.</a:t>
            </a:r>
          </a:p>
          <a:p>
            <a:r>
              <a:rPr lang="el-GR" dirty="0"/>
              <a:t>Προαιρετική υποστήριξη για πάνελ αφής, είτε με αντίσταση 4 συρμάτων και ενσωματωμένο ελεγκτή αφής IC RA8875, είτε με χωρητική οθόνη αφής, τσιπ γραμματοσειράς, τσιπ flash και κάρτα MicroSD.</a:t>
            </a:r>
          </a:p>
          <a:p>
            <a:r>
              <a:rPr lang="el-GR" dirty="0"/>
              <a:t>Παρέχεται σύνδεση με δύο τύπους: κεφαλίδα </a:t>
            </a:r>
            <a:r>
              <a:rPr lang="el-GR" dirty="0" err="1"/>
              <a:t>pin</a:t>
            </a:r>
            <a:r>
              <a:rPr lang="el-GR" dirty="0"/>
              <a:t> και υποδοχή ZIF με επίπεδο καλώδιο.</a:t>
            </a:r>
          </a:p>
        </p:txBody>
      </p:sp>
      <p:sp>
        <p:nvSpPr>
          <p:cNvPr id="4" name="Θέση αριθμού διαφάνειας 3">
            <a:extLst>
              <a:ext uri="{FF2B5EF4-FFF2-40B4-BE49-F238E27FC236}">
                <a16:creationId xmlns:a16="http://schemas.microsoft.com/office/drawing/2014/main" id="{9D08F5A7-AD5E-D4DB-63DC-0435385272AA}"/>
              </a:ext>
            </a:extLst>
          </p:cNvPr>
          <p:cNvSpPr>
            <a:spLocks noGrp="1"/>
          </p:cNvSpPr>
          <p:nvPr>
            <p:ph type="sldNum" sz="quarter" idx="12"/>
          </p:nvPr>
        </p:nvSpPr>
        <p:spPr/>
        <p:txBody>
          <a:bodyPr/>
          <a:lstStyle/>
          <a:p>
            <a:fld id="{519954A3-9DFD-4C44-94BA-B95130A3BA1C}" type="slidenum">
              <a:rPr lang="en-US" smtClean="0"/>
              <a:t>66</a:t>
            </a:fld>
            <a:endParaRPr lang="en-US" dirty="0"/>
          </a:p>
        </p:txBody>
      </p:sp>
    </p:spTree>
    <p:extLst>
      <p:ext uri="{BB962C8B-B14F-4D97-AF65-F5344CB8AC3E}">
        <p14:creationId xmlns:p14="http://schemas.microsoft.com/office/powerpoint/2010/main" val="1279522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B483E40-45FA-B916-185B-DF78787355EA}"/>
              </a:ext>
            </a:extLst>
          </p:cNvPr>
          <p:cNvSpPr>
            <a:spLocks noGrp="1"/>
          </p:cNvSpPr>
          <p:nvPr>
            <p:ph type="title"/>
          </p:nvPr>
        </p:nvSpPr>
        <p:spPr>
          <a:xfrm>
            <a:off x="678393" y="1562099"/>
            <a:ext cx="2323041" cy="723900"/>
          </a:xfrm>
        </p:spPr>
        <p:txBody>
          <a:bodyPr/>
          <a:lstStyle/>
          <a:p>
            <a:r>
              <a:rPr lang="el-GR" dirty="0"/>
              <a:t>Λογισμικό</a:t>
            </a:r>
          </a:p>
        </p:txBody>
      </p:sp>
      <p:sp>
        <p:nvSpPr>
          <p:cNvPr id="3" name="Θέση περιεχομένου 2">
            <a:extLst>
              <a:ext uri="{FF2B5EF4-FFF2-40B4-BE49-F238E27FC236}">
                <a16:creationId xmlns:a16="http://schemas.microsoft.com/office/drawing/2014/main" id="{C3D89189-A940-4EEC-FEFB-E79554B2AB93}"/>
              </a:ext>
            </a:extLst>
          </p:cNvPr>
          <p:cNvSpPr>
            <a:spLocks noGrp="1"/>
          </p:cNvSpPr>
          <p:nvPr>
            <p:ph idx="1"/>
          </p:nvPr>
        </p:nvSpPr>
        <p:spPr>
          <a:xfrm>
            <a:off x="677334" y="2455865"/>
            <a:ext cx="8596668" cy="2840036"/>
          </a:xfrm>
        </p:spPr>
        <p:txBody>
          <a:bodyPr/>
          <a:lstStyle/>
          <a:p>
            <a:r>
              <a:rPr lang="el-GR" dirty="0"/>
              <a:t>Λογισμικό με ενσωματωμένο λειτουργικό σύστημα και δυναμική βάση δεδομένων.</a:t>
            </a:r>
          </a:p>
          <a:p>
            <a:r>
              <a:rPr lang="el-GR" dirty="0"/>
              <a:t>Γρήγορη αλληλεπίδραση με την </a:t>
            </a:r>
            <a:r>
              <a:rPr lang="el-GR" dirty="0" err="1"/>
              <a:t>Cache</a:t>
            </a:r>
            <a:r>
              <a:rPr lang="el-GR" dirty="0"/>
              <a:t> Memory.</a:t>
            </a:r>
          </a:p>
          <a:p>
            <a:r>
              <a:rPr lang="el-GR" dirty="0"/>
              <a:t>Σχεδιασμός διεργασιών και ειδικών λειτουργιών βάσης δεδομένων μέσω γραφικού περιβάλλοντος.</a:t>
            </a:r>
          </a:p>
          <a:p>
            <a:r>
              <a:rPr lang="el-GR" dirty="0"/>
              <a:t>Οθόνη συστήματος και εφαρμογής για ευκολία στον σχεδιασμό και την εποπτεία.</a:t>
            </a:r>
          </a:p>
        </p:txBody>
      </p:sp>
      <p:sp>
        <p:nvSpPr>
          <p:cNvPr id="4" name="Θέση αριθμού διαφάνειας 3">
            <a:extLst>
              <a:ext uri="{FF2B5EF4-FFF2-40B4-BE49-F238E27FC236}">
                <a16:creationId xmlns:a16="http://schemas.microsoft.com/office/drawing/2014/main" id="{CD6AEC0B-5587-7864-1C50-130934CB2E97}"/>
              </a:ext>
            </a:extLst>
          </p:cNvPr>
          <p:cNvSpPr>
            <a:spLocks noGrp="1"/>
          </p:cNvSpPr>
          <p:nvPr>
            <p:ph type="sldNum" sz="quarter" idx="12"/>
          </p:nvPr>
        </p:nvSpPr>
        <p:spPr/>
        <p:txBody>
          <a:bodyPr/>
          <a:lstStyle/>
          <a:p>
            <a:fld id="{519954A3-9DFD-4C44-94BA-B95130A3BA1C}" type="slidenum">
              <a:rPr lang="en-US" smtClean="0"/>
              <a:t>67</a:t>
            </a:fld>
            <a:endParaRPr lang="en-US" dirty="0"/>
          </a:p>
        </p:txBody>
      </p:sp>
    </p:spTree>
    <p:extLst>
      <p:ext uri="{BB962C8B-B14F-4D97-AF65-F5344CB8AC3E}">
        <p14:creationId xmlns:p14="http://schemas.microsoft.com/office/powerpoint/2010/main" val="3487790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9C10194-E629-BA3D-9595-8675A1CB9C7E}"/>
              </a:ext>
            </a:extLst>
          </p:cNvPr>
          <p:cNvSpPr>
            <a:spLocks noGrp="1"/>
          </p:cNvSpPr>
          <p:nvPr>
            <p:ph type="title"/>
          </p:nvPr>
        </p:nvSpPr>
        <p:spPr>
          <a:xfrm>
            <a:off x="677334" y="1389064"/>
            <a:ext cx="2970741" cy="771525"/>
          </a:xfrm>
        </p:spPr>
        <p:txBody>
          <a:bodyPr/>
          <a:lstStyle/>
          <a:p>
            <a:r>
              <a:rPr lang="el-GR" dirty="0"/>
              <a:t>Ανεμιστήρας</a:t>
            </a:r>
          </a:p>
        </p:txBody>
      </p:sp>
      <p:sp>
        <p:nvSpPr>
          <p:cNvPr id="3" name="Θέση περιεχομένου 2">
            <a:extLst>
              <a:ext uri="{FF2B5EF4-FFF2-40B4-BE49-F238E27FC236}">
                <a16:creationId xmlns:a16="http://schemas.microsoft.com/office/drawing/2014/main" id="{04A94AA3-02FE-6078-B883-58B111371808}"/>
              </a:ext>
            </a:extLst>
          </p:cNvPr>
          <p:cNvSpPr>
            <a:spLocks noGrp="1"/>
          </p:cNvSpPr>
          <p:nvPr>
            <p:ph idx="1"/>
          </p:nvPr>
        </p:nvSpPr>
        <p:spPr>
          <a:xfrm>
            <a:off x="677334" y="2160589"/>
            <a:ext cx="8596668" cy="3308347"/>
          </a:xfrm>
        </p:spPr>
        <p:txBody>
          <a:bodyPr/>
          <a:lstStyle/>
          <a:p>
            <a:r>
              <a:rPr lang="el-GR" dirty="0"/>
              <a:t>Ταχύτητα: 10000 </a:t>
            </a:r>
            <a:r>
              <a:rPr lang="en-US" dirty="0"/>
              <a:t>RPM (rotations per minute)</a:t>
            </a:r>
          </a:p>
          <a:p>
            <a:r>
              <a:rPr lang="el-GR" dirty="0"/>
              <a:t>Ροή Αέρα: 2.2 </a:t>
            </a:r>
            <a:r>
              <a:rPr lang="en-US" dirty="0"/>
              <a:t>CFM (Cubic Feet per Minute) – </a:t>
            </a:r>
            <a:r>
              <a:rPr lang="el-GR" dirty="0"/>
              <a:t>αναρρόφηση αέρα</a:t>
            </a:r>
            <a:endParaRPr lang="en-US" dirty="0"/>
          </a:p>
          <a:p>
            <a:r>
              <a:rPr lang="el-GR" dirty="0"/>
              <a:t>Βαρύτητα: 5 γραμμάρια</a:t>
            </a:r>
          </a:p>
          <a:p>
            <a:r>
              <a:rPr lang="el-GR" dirty="0"/>
              <a:t>Τάση: 5 </a:t>
            </a:r>
            <a:r>
              <a:rPr lang="en-US" dirty="0"/>
              <a:t>VDC</a:t>
            </a:r>
          </a:p>
          <a:p>
            <a:r>
              <a:rPr lang="el-GR" dirty="0"/>
              <a:t>Ρεύμα Ισχύος: 75</a:t>
            </a:r>
            <a:r>
              <a:rPr lang="en-US" dirty="0"/>
              <a:t>mA</a:t>
            </a:r>
          </a:p>
          <a:p>
            <a:r>
              <a:rPr lang="el-GR" dirty="0"/>
              <a:t>Στατική Πίεση: 0.16 </a:t>
            </a:r>
            <a:r>
              <a:rPr lang="en-US" dirty="0"/>
              <a:t>inch-H2O</a:t>
            </a:r>
            <a:endParaRPr lang="el-GR" dirty="0"/>
          </a:p>
          <a:p>
            <a:r>
              <a:rPr lang="el-GR" dirty="0"/>
              <a:t>Θόρυβος: 23 dB</a:t>
            </a:r>
          </a:p>
          <a:p>
            <a:r>
              <a:rPr lang="el-GR" dirty="0"/>
              <a:t>Διαθέτει 2 καμπύλες απόκρισης.</a:t>
            </a:r>
          </a:p>
        </p:txBody>
      </p:sp>
      <p:sp>
        <p:nvSpPr>
          <p:cNvPr id="4" name="Θέση αριθμού διαφάνειας 3">
            <a:extLst>
              <a:ext uri="{FF2B5EF4-FFF2-40B4-BE49-F238E27FC236}">
                <a16:creationId xmlns:a16="http://schemas.microsoft.com/office/drawing/2014/main" id="{07D9EC31-6716-7211-C9F2-7B2DF83A8BDF}"/>
              </a:ext>
            </a:extLst>
          </p:cNvPr>
          <p:cNvSpPr>
            <a:spLocks noGrp="1"/>
          </p:cNvSpPr>
          <p:nvPr>
            <p:ph type="sldNum" sz="quarter" idx="12"/>
          </p:nvPr>
        </p:nvSpPr>
        <p:spPr/>
        <p:txBody>
          <a:bodyPr/>
          <a:lstStyle/>
          <a:p>
            <a:fld id="{519954A3-9DFD-4C44-94BA-B95130A3BA1C}" type="slidenum">
              <a:rPr lang="en-US" smtClean="0"/>
              <a:t>68</a:t>
            </a:fld>
            <a:endParaRPr lang="en-US" dirty="0"/>
          </a:p>
        </p:txBody>
      </p:sp>
    </p:spTree>
    <p:extLst>
      <p:ext uri="{BB962C8B-B14F-4D97-AF65-F5344CB8AC3E}">
        <p14:creationId xmlns:p14="http://schemas.microsoft.com/office/powerpoint/2010/main" val="15792358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8C7586E-3A96-E4A8-0933-09DBD7E04A8A}"/>
              </a:ext>
            </a:extLst>
          </p:cNvPr>
          <p:cNvSpPr>
            <a:spLocks noGrp="1"/>
          </p:cNvSpPr>
          <p:nvPr>
            <p:ph type="title"/>
          </p:nvPr>
        </p:nvSpPr>
        <p:spPr>
          <a:xfrm>
            <a:off x="677335" y="1677798"/>
            <a:ext cx="3735274" cy="734479"/>
          </a:xfrm>
        </p:spPr>
        <p:txBody>
          <a:bodyPr/>
          <a:lstStyle/>
          <a:p>
            <a:r>
              <a:rPr lang="el-GR" dirty="0">
                <a:solidFill>
                  <a:schemeClr val="accent6"/>
                </a:solidFill>
              </a:rPr>
              <a:t>ΣΤΑΔΙΟ Γ</a:t>
            </a:r>
          </a:p>
        </p:txBody>
      </p:sp>
      <p:sp>
        <p:nvSpPr>
          <p:cNvPr id="3" name="Θέση κειμένου 2">
            <a:extLst>
              <a:ext uri="{FF2B5EF4-FFF2-40B4-BE49-F238E27FC236}">
                <a16:creationId xmlns:a16="http://schemas.microsoft.com/office/drawing/2014/main" id="{C5ED2880-6830-3A42-1752-547F285BF040}"/>
              </a:ext>
            </a:extLst>
          </p:cNvPr>
          <p:cNvSpPr>
            <a:spLocks noGrp="1"/>
          </p:cNvSpPr>
          <p:nvPr>
            <p:ph type="body" idx="1"/>
          </p:nvPr>
        </p:nvSpPr>
        <p:spPr>
          <a:xfrm>
            <a:off x="677335" y="2412277"/>
            <a:ext cx="8022048" cy="2939899"/>
          </a:xfrm>
        </p:spPr>
        <p:txBody>
          <a:bodyPr>
            <a:normAutofit fontScale="55000" lnSpcReduction="20000"/>
          </a:bodyPr>
          <a:lstStyle/>
          <a:p>
            <a:r>
              <a:rPr lang="el-GR" sz="4200" dirty="0">
                <a:solidFill>
                  <a:schemeClr val="tx1"/>
                </a:solidFill>
              </a:rPr>
              <a:t>Σε αυτό το στάδιο θα έχουμε έστω και θεωρητικά ένα σύστημα με κάθε λεπτομέρεια που βασίζεται το σύστημα αλλά και τις λειτουργίες που παρέχει για μία σωστή παρουσίαση:</a:t>
            </a:r>
          </a:p>
          <a:p>
            <a:r>
              <a:rPr lang="el-GR" sz="4200" dirty="0">
                <a:solidFill>
                  <a:schemeClr val="accent5"/>
                </a:solidFill>
              </a:rPr>
              <a:t>•</a:t>
            </a:r>
            <a:r>
              <a:rPr lang="en-US" sz="4200" dirty="0">
                <a:solidFill>
                  <a:schemeClr val="accent5"/>
                </a:solidFill>
              </a:rPr>
              <a:t> </a:t>
            </a:r>
            <a:r>
              <a:rPr lang="el-GR" sz="4200" dirty="0">
                <a:solidFill>
                  <a:schemeClr val="accent5"/>
                </a:solidFill>
              </a:rPr>
              <a:t>Υλοποίηση (ή θεωρητική προσέγγιση)</a:t>
            </a:r>
          </a:p>
          <a:p>
            <a:r>
              <a:rPr lang="el-GR" sz="4200" dirty="0">
                <a:solidFill>
                  <a:schemeClr val="accent5"/>
                </a:solidFill>
              </a:rPr>
              <a:t>• Πειραματικές μετρήσεις (ή εκτίμηση)</a:t>
            </a:r>
          </a:p>
          <a:p>
            <a:r>
              <a:rPr lang="el-GR" sz="4200" dirty="0">
                <a:solidFill>
                  <a:schemeClr val="accent5"/>
                </a:solidFill>
              </a:rPr>
              <a:t>• Διαδικασίες Ελέγχου Ορθής Λειτουργίας</a:t>
            </a:r>
          </a:p>
          <a:p>
            <a:r>
              <a:rPr lang="el-GR" sz="4200" dirty="0">
                <a:solidFill>
                  <a:schemeClr val="accent5"/>
                </a:solidFill>
              </a:rPr>
              <a:t>• Βελτιστοποιήσεις (ή προτάσεις)</a:t>
            </a:r>
          </a:p>
          <a:p>
            <a:endParaRPr lang="el-GR" dirty="0"/>
          </a:p>
        </p:txBody>
      </p:sp>
      <p:sp>
        <p:nvSpPr>
          <p:cNvPr id="4" name="Θέση αριθμού διαφάνειας 3">
            <a:extLst>
              <a:ext uri="{FF2B5EF4-FFF2-40B4-BE49-F238E27FC236}">
                <a16:creationId xmlns:a16="http://schemas.microsoft.com/office/drawing/2014/main" id="{A7129C3E-BD63-796D-7C32-57EA35F3D8E9}"/>
              </a:ext>
            </a:extLst>
          </p:cNvPr>
          <p:cNvSpPr>
            <a:spLocks noGrp="1"/>
          </p:cNvSpPr>
          <p:nvPr>
            <p:ph type="sldNum" sz="quarter" idx="12"/>
          </p:nvPr>
        </p:nvSpPr>
        <p:spPr/>
        <p:txBody>
          <a:bodyPr/>
          <a:lstStyle/>
          <a:p>
            <a:fld id="{D57F1E4F-1CFF-5643-939E-217C01CDF565}" type="slidenum">
              <a:rPr lang="en-US" smtClean="0"/>
              <a:pPr/>
              <a:t>69</a:t>
            </a:fld>
            <a:endParaRPr lang="en-US" dirty="0"/>
          </a:p>
        </p:txBody>
      </p:sp>
    </p:spTree>
    <p:extLst>
      <p:ext uri="{BB962C8B-B14F-4D97-AF65-F5344CB8AC3E}">
        <p14:creationId xmlns:p14="http://schemas.microsoft.com/office/powerpoint/2010/main" val="29784892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E6DDCFB-2139-595B-1953-E9760C1E4DBB}"/>
              </a:ext>
            </a:extLst>
          </p:cNvPr>
          <p:cNvSpPr>
            <a:spLocks noGrp="1"/>
          </p:cNvSpPr>
          <p:nvPr>
            <p:ph type="title"/>
          </p:nvPr>
        </p:nvSpPr>
        <p:spPr>
          <a:xfrm>
            <a:off x="677334" y="2260392"/>
            <a:ext cx="3022211" cy="690694"/>
          </a:xfrm>
        </p:spPr>
        <p:txBody>
          <a:bodyPr/>
          <a:lstStyle/>
          <a:p>
            <a:r>
              <a:rPr lang="el-GR" dirty="0">
                <a:solidFill>
                  <a:schemeClr val="accent5"/>
                </a:solidFill>
              </a:rPr>
              <a:t>Υλοποίηση</a:t>
            </a:r>
          </a:p>
        </p:txBody>
      </p:sp>
      <p:sp>
        <p:nvSpPr>
          <p:cNvPr id="3" name="Θέση περιεχομένου 2">
            <a:extLst>
              <a:ext uri="{FF2B5EF4-FFF2-40B4-BE49-F238E27FC236}">
                <a16:creationId xmlns:a16="http://schemas.microsoft.com/office/drawing/2014/main" id="{ED17D4F4-246F-5590-A770-D5CF339D0245}"/>
              </a:ext>
            </a:extLst>
          </p:cNvPr>
          <p:cNvSpPr>
            <a:spLocks noGrp="1"/>
          </p:cNvSpPr>
          <p:nvPr>
            <p:ph idx="1"/>
          </p:nvPr>
        </p:nvSpPr>
        <p:spPr>
          <a:xfrm>
            <a:off x="677334" y="2951086"/>
            <a:ext cx="8596668" cy="3880773"/>
          </a:xfrm>
        </p:spPr>
        <p:txBody>
          <a:bodyPr/>
          <a:lstStyle/>
          <a:p>
            <a:pPr marL="0" indent="0">
              <a:buNone/>
            </a:pPr>
            <a:r>
              <a:rPr lang="el-GR" dirty="0"/>
              <a:t>Η υλοποίηση αποτελείται από 2 μέρη στην εργασία</a:t>
            </a:r>
            <a:r>
              <a:rPr lang="en-US" dirty="0"/>
              <a:t>:</a:t>
            </a:r>
          </a:p>
          <a:p>
            <a:pPr marL="0" indent="0">
              <a:buNone/>
            </a:pPr>
            <a:r>
              <a:rPr lang="el-GR" dirty="0">
                <a:solidFill>
                  <a:schemeClr val="accent1"/>
                </a:solidFill>
              </a:rPr>
              <a:t>Εγκαταστάσεις</a:t>
            </a:r>
            <a:r>
              <a:rPr lang="en-US" dirty="0"/>
              <a:t>: </a:t>
            </a:r>
            <a:r>
              <a:rPr lang="el-GR" dirty="0"/>
              <a:t>Εξηγούμε κάθε πρωτόκολλο σύνδεσης που χρησιμοποιούμε για τα υποσυστήματα αλλά και τα </a:t>
            </a:r>
            <a:r>
              <a:rPr lang="en-US" dirty="0"/>
              <a:t>pins </a:t>
            </a:r>
            <a:r>
              <a:rPr lang="el-GR" dirty="0"/>
              <a:t>για κάθε σύνδεση. Επίσης, μία θεωρητική προσέγγιση του ολόκληρου συστήματος σε ένα </a:t>
            </a:r>
            <a:r>
              <a:rPr lang="en-US" dirty="0"/>
              <a:t>PCB.</a:t>
            </a:r>
            <a:r>
              <a:rPr lang="el-GR" dirty="0"/>
              <a:t> </a:t>
            </a:r>
          </a:p>
          <a:p>
            <a:pPr marL="0" indent="0">
              <a:buNone/>
            </a:pPr>
            <a:r>
              <a:rPr lang="el-GR" dirty="0">
                <a:solidFill>
                  <a:schemeClr val="accent1"/>
                </a:solidFill>
              </a:rPr>
              <a:t>Προσομοίωση</a:t>
            </a:r>
            <a:r>
              <a:rPr lang="en-US" dirty="0"/>
              <a:t>: </a:t>
            </a:r>
            <a:r>
              <a:rPr lang="el-GR" dirty="0"/>
              <a:t>Ένας αλγόριθμος που εξηγεί συγκεκριμένες λειτουργίες και όρια για κάθε αισθητήρα και τα κριτήρια αλλαγής λειτουργίας.</a:t>
            </a:r>
          </a:p>
        </p:txBody>
      </p:sp>
      <p:sp>
        <p:nvSpPr>
          <p:cNvPr id="4" name="Θέση αριθμού διαφάνειας 3">
            <a:extLst>
              <a:ext uri="{FF2B5EF4-FFF2-40B4-BE49-F238E27FC236}">
                <a16:creationId xmlns:a16="http://schemas.microsoft.com/office/drawing/2014/main" id="{0AFE2C2E-3E5D-8AF2-5BF6-BE21E73E3D64}"/>
              </a:ext>
            </a:extLst>
          </p:cNvPr>
          <p:cNvSpPr>
            <a:spLocks noGrp="1"/>
          </p:cNvSpPr>
          <p:nvPr>
            <p:ph type="sldNum" sz="quarter" idx="12"/>
          </p:nvPr>
        </p:nvSpPr>
        <p:spPr/>
        <p:txBody>
          <a:bodyPr/>
          <a:lstStyle/>
          <a:p>
            <a:fld id="{519954A3-9DFD-4C44-94BA-B95130A3BA1C}" type="slidenum">
              <a:rPr lang="en-US" smtClean="0"/>
              <a:t>70</a:t>
            </a:fld>
            <a:endParaRPr lang="en-US" dirty="0"/>
          </a:p>
        </p:txBody>
      </p:sp>
    </p:spTree>
    <p:extLst>
      <p:ext uri="{BB962C8B-B14F-4D97-AF65-F5344CB8AC3E}">
        <p14:creationId xmlns:p14="http://schemas.microsoft.com/office/powerpoint/2010/main" val="39583290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B975EAE-D5D9-2DA4-F0E1-CEF053B06873}"/>
              </a:ext>
            </a:extLst>
          </p:cNvPr>
          <p:cNvSpPr>
            <a:spLocks noGrp="1"/>
          </p:cNvSpPr>
          <p:nvPr>
            <p:ph type="title"/>
          </p:nvPr>
        </p:nvSpPr>
        <p:spPr>
          <a:xfrm>
            <a:off x="677334" y="609600"/>
            <a:ext cx="3542328" cy="673916"/>
          </a:xfrm>
        </p:spPr>
        <p:txBody>
          <a:bodyPr>
            <a:normAutofit fontScale="90000"/>
          </a:bodyPr>
          <a:lstStyle/>
          <a:p>
            <a:r>
              <a:rPr lang="el-GR" dirty="0"/>
              <a:t>Εγκαταστάσεις (1)</a:t>
            </a:r>
          </a:p>
        </p:txBody>
      </p:sp>
      <p:sp>
        <p:nvSpPr>
          <p:cNvPr id="3" name="Θέση περιεχομένου 2">
            <a:extLst>
              <a:ext uri="{FF2B5EF4-FFF2-40B4-BE49-F238E27FC236}">
                <a16:creationId xmlns:a16="http://schemas.microsoft.com/office/drawing/2014/main" id="{FEEE78B7-891E-E0C2-8592-A594E0B7605E}"/>
              </a:ext>
            </a:extLst>
          </p:cNvPr>
          <p:cNvSpPr>
            <a:spLocks noGrp="1"/>
          </p:cNvSpPr>
          <p:nvPr>
            <p:ph idx="1"/>
          </p:nvPr>
        </p:nvSpPr>
        <p:spPr>
          <a:xfrm>
            <a:off x="677334" y="1283516"/>
            <a:ext cx="8596668" cy="5327009"/>
          </a:xfrm>
        </p:spPr>
        <p:txBody>
          <a:bodyPr>
            <a:normAutofit fontScale="92500"/>
          </a:bodyPr>
          <a:lstStyle/>
          <a:p>
            <a:r>
              <a:rPr lang="el-GR" dirty="0"/>
              <a:t>Αρχικά το </a:t>
            </a:r>
            <a:r>
              <a:rPr lang="en-US" dirty="0"/>
              <a:t>PCB </a:t>
            </a:r>
            <a:r>
              <a:rPr lang="el-GR" dirty="0"/>
              <a:t>πρέπει να έχει 176 </a:t>
            </a:r>
            <a:r>
              <a:rPr lang="en-US" dirty="0"/>
              <a:t>pinouts </a:t>
            </a:r>
            <a:r>
              <a:rPr lang="el-GR" dirty="0"/>
              <a:t>για τον ελεγκτή. Λόγω του </a:t>
            </a:r>
            <a:r>
              <a:rPr lang="en-US" dirty="0"/>
              <a:t>LQFP176 (Low-Profile Quad Flat Package)</a:t>
            </a:r>
            <a:r>
              <a:rPr lang="el-GR" dirty="0"/>
              <a:t> που περιέχει. με την αρχική λέξη </a:t>
            </a:r>
            <a:r>
              <a:rPr lang="el-GR" dirty="0" err="1"/>
              <a:t>Low</a:t>
            </a:r>
            <a:r>
              <a:rPr lang="el-GR" dirty="0"/>
              <a:t> να έχει την έννοια ότι το chip έχει χαμηλότερο συνολικό ύψος σε σύγκριση με τα τυπικά πακέτα QFP.</a:t>
            </a:r>
          </a:p>
          <a:p>
            <a:r>
              <a:rPr lang="el-GR" dirty="0"/>
              <a:t>Στο θερμίστορ όπως περιγράψαμε και προηγουμένως έχει 1-</a:t>
            </a:r>
            <a:r>
              <a:rPr lang="en-US" dirty="0"/>
              <a:t>wire </a:t>
            </a:r>
            <a:r>
              <a:rPr lang="el-GR" dirty="0"/>
              <a:t>σύνδεση και άρα θα μπει σε ένα από τα </a:t>
            </a:r>
            <a:r>
              <a:rPr lang="en-US" dirty="0"/>
              <a:t>GPIOs </a:t>
            </a:r>
            <a:r>
              <a:rPr lang="el-GR" dirty="0"/>
              <a:t>του ελεγκτή.</a:t>
            </a:r>
          </a:p>
          <a:p>
            <a:r>
              <a:rPr lang="el-GR" dirty="0"/>
              <a:t>Για το επιταχυνσιόμετρο έχουμε το </a:t>
            </a:r>
            <a:r>
              <a:rPr lang="en-US" sz="1800" dirty="0">
                <a:effectLst/>
                <a:latin typeface="Times New Roman" panose="02020603050405020304" pitchFamily="18" charset="0"/>
                <a:ea typeface="Calibri" panose="020F0502020204030204" pitchFamily="34" charset="0"/>
              </a:rPr>
              <a:t>I</a:t>
            </a:r>
            <a:r>
              <a:rPr lang="el-GR" sz="1800" baseline="30000" dirty="0">
                <a:effectLst/>
                <a:latin typeface="Times New Roman" panose="02020603050405020304" pitchFamily="18" charset="0"/>
                <a:ea typeface="Calibri" panose="020F0502020204030204" pitchFamily="34" charset="0"/>
              </a:rPr>
              <a:t>2</a:t>
            </a:r>
            <a:r>
              <a:rPr lang="en-US" sz="1800" dirty="0">
                <a:effectLst/>
                <a:latin typeface="Times New Roman" panose="02020603050405020304" pitchFamily="18" charset="0"/>
                <a:ea typeface="Calibri" panose="020F0502020204030204" pitchFamily="34" charset="0"/>
              </a:rPr>
              <a:t>C</a:t>
            </a:r>
            <a:r>
              <a:rPr lang="el-GR" sz="1800" dirty="0">
                <a:effectLst/>
                <a:latin typeface="Times New Roman" panose="02020603050405020304" pitchFamily="18" charset="0"/>
                <a:ea typeface="Calibri" panose="020F0502020204030204" pitchFamily="34" charset="0"/>
              </a:rPr>
              <a:t> </a:t>
            </a:r>
            <a:r>
              <a:rPr lang="el-GR" sz="1800" dirty="0">
                <a:effectLst/>
                <a:ea typeface="Calibri" panose="020F0502020204030204" pitchFamily="34" charset="0"/>
              </a:rPr>
              <a:t>πρωτόκολλο</a:t>
            </a:r>
            <a:r>
              <a:rPr lang="en-US" sz="1800" dirty="0">
                <a:effectLst/>
                <a:ea typeface="Calibri" panose="020F0502020204030204" pitchFamily="34" charset="0"/>
              </a:rPr>
              <a:t>:</a:t>
            </a:r>
            <a:r>
              <a:rPr lang="el-GR" sz="1800" dirty="0">
                <a:effectLst/>
                <a:ea typeface="Calibri" panose="020F0502020204030204" pitchFamily="34" charset="0"/>
              </a:rPr>
              <a:t> </a:t>
            </a:r>
            <a:endParaRPr lang="en-US" sz="1800" dirty="0">
              <a:effectLst/>
              <a:ea typeface="Calibri" panose="020F0502020204030204" pitchFamily="34" charset="0"/>
            </a:endParaRPr>
          </a:p>
          <a:p>
            <a:pPr>
              <a:buFont typeface="Wingdings" panose="05000000000000000000" pitchFamily="2" charset="2"/>
              <a:buChar char="§"/>
            </a:pPr>
            <a:r>
              <a:rPr lang="el-GR" dirty="0">
                <a:ea typeface="Calibri" panose="020F0502020204030204" pitchFamily="34" charset="0"/>
              </a:rPr>
              <a:t>Φυσικά έχουμε σε σύνδεση τα </a:t>
            </a:r>
            <a:r>
              <a:rPr lang="en-US" dirty="0">
                <a:ea typeface="Calibri" panose="020F0502020204030204" pitchFamily="34" charset="0"/>
              </a:rPr>
              <a:t>Vdd </a:t>
            </a:r>
            <a:r>
              <a:rPr lang="el-GR" dirty="0">
                <a:ea typeface="Calibri" panose="020F0502020204030204" pitchFamily="34" charset="0"/>
              </a:rPr>
              <a:t>και </a:t>
            </a:r>
            <a:r>
              <a:rPr lang="en-US" dirty="0">
                <a:ea typeface="Calibri" panose="020F0502020204030204" pitchFamily="34" charset="0"/>
              </a:rPr>
              <a:t>Ground</a:t>
            </a:r>
            <a:r>
              <a:rPr lang="el-GR" dirty="0">
                <a:ea typeface="Calibri" panose="020F0502020204030204" pitchFamily="34" charset="0"/>
              </a:rPr>
              <a:t>.</a:t>
            </a:r>
            <a:endParaRPr lang="en-US" dirty="0">
              <a:ea typeface="Calibri" panose="020F0502020204030204" pitchFamily="34" charset="0"/>
            </a:endParaRPr>
          </a:p>
          <a:p>
            <a:pPr>
              <a:buFont typeface="Wingdings" panose="05000000000000000000" pitchFamily="2" charset="2"/>
              <a:buChar char="§"/>
            </a:pPr>
            <a:r>
              <a:rPr lang="el-GR" dirty="0">
                <a:ea typeface="Calibri" panose="020F0502020204030204" pitchFamily="34" charset="0"/>
              </a:rPr>
              <a:t>Ο αισθητήρας ξεκινά τη διασύνδεση την θύρα SDA (σειριακή μεταφορά δεδομένων). Η σύνδεση με τον μικροελεγκτή γίνεται μέσω αντίστοιχης πύλης στον μικροελεγκτή, που υποστηρίζει αυτές τις λειτουργίες με τρεις πύλες. Η SCL/SCLK χρησιμοποιείται για το σήμα ρολογιού (Serial Clock - SCL) στο πρωτόκολλο I</a:t>
            </a:r>
            <a:r>
              <a:rPr lang="el-GR" sz="1800" baseline="30000" dirty="0">
                <a:effectLst/>
                <a:ea typeface="Calibri" panose="020F0502020204030204" pitchFamily="34" charset="0"/>
              </a:rPr>
              <a:t>2</a:t>
            </a:r>
            <a:r>
              <a:rPr lang="el-GR" dirty="0">
                <a:ea typeface="Calibri" panose="020F0502020204030204" pitchFamily="34" charset="0"/>
              </a:rPr>
              <a:t>C. Το SCL συγχρονίζει τη μεταφορά δεδομένων, ορίζοντας το χρονισμό με ανόδους και πτώσεις. Εμπλέκεται σε συνθήκες έναρξης και διακοπής επικοινωνίας. </a:t>
            </a:r>
          </a:p>
          <a:p>
            <a:pPr>
              <a:buFont typeface="Wingdings" panose="05000000000000000000" pitchFamily="2" charset="2"/>
              <a:buChar char="§"/>
            </a:pPr>
            <a:r>
              <a:rPr lang="el-GR" dirty="0">
                <a:ea typeface="Calibri" panose="020F0502020204030204" pitchFamily="34" charset="0"/>
              </a:rPr>
              <a:t>Κατά την αδράνεια, SCL και SDA παραμένουν υψηλά. Το SCL είναι κρίσιμο για τον έλεγχο ροής δεδομένων και τον συγχρονισμό στο I</a:t>
            </a:r>
            <a:r>
              <a:rPr lang="el-GR" sz="1800" baseline="30000" dirty="0">
                <a:effectLst/>
                <a:ea typeface="Calibri" panose="020F0502020204030204" pitchFamily="34" charset="0"/>
              </a:rPr>
              <a:t>2</a:t>
            </a:r>
            <a:r>
              <a:rPr lang="el-GR" dirty="0">
                <a:ea typeface="Calibri" panose="020F0502020204030204" pitchFamily="34" charset="0"/>
              </a:rPr>
              <a:t>C. Συνδέεται με το πρώτο I</a:t>
            </a:r>
            <a:r>
              <a:rPr lang="el-GR" sz="1800" baseline="30000" dirty="0">
                <a:effectLst/>
                <a:ea typeface="Calibri" panose="020F0502020204030204" pitchFamily="34" charset="0"/>
              </a:rPr>
              <a:t>2</a:t>
            </a:r>
            <a:r>
              <a:rPr lang="el-GR" dirty="0">
                <a:ea typeface="Calibri" panose="020F0502020204030204" pitchFamily="34" charset="0"/>
              </a:rPr>
              <a:t>C του μικροελεγκτή, ενώ το SDA συνδέεται σε ένα από τα bus του πρωτοκόλλου.</a:t>
            </a:r>
            <a:endParaRPr lang="el-GR" dirty="0"/>
          </a:p>
        </p:txBody>
      </p:sp>
      <p:sp>
        <p:nvSpPr>
          <p:cNvPr id="4" name="Θέση αριθμού διαφάνειας 3">
            <a:extLst>
              <a:ext uri="{FF2B5EF4-FFF2-40B4-BE49-F238E27FC236}">
                <a16:creationId xmlns:a16="http://schemas.microsoft.com/office/drawing/2014/main" id="{35D8391E-2A51-9654-A43A-D7999AA03075}"/>
              </a:ext>
            </a:extLst>
          </p:cNvPr>
          <p:cNvSpPr>
            <a:spLocks noGrp="1"/>
          </p:cNvSpPr>
          <p:nvPr>
            <p:ph type="sldNum" sz="quarter" idx="12"/>
          </p:nvPr>
        </p:nvSpPr>
        <p:spPr/>
        <p:txBody>
          <a:bodyPr/>
          <a:lstStyle/>
          <a:p>
            <a:fld id="{519954A3-9DFD-4C44-94BA-B95130A3BA1C}" type="slidenum">
              <a:rPr lang="en-US" smtClean="0"/>
              <a:t>71</a:t>
            </a:fld>
            <a:endParaRPr lang="en-US" dirty="0"/>
          </a:p>
        </p:txBody>
      </p:sp>
    </p:spTree>
    <p:extLst>
      <p:ext uri="{BB962C8B-B14F-4D97-AF65-F5344CB8AC3E}">
        <p14:creationId xmlns:p14="http://schemas.microsoft.com/office/powerpoint/2010/main" val="12057875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C60ACC8-F715-42BA-0246-F76FE53F7556}"/>
              </a:ext>
            </a:extLst>
          </p:cNvPr>
          <p:cNvSpPr>
            <a:spLocks noGrp="1"/>
          </p:cNvSpPr>
          <p:nvPr>
            <p:ph type="title"/>
          </p:nvPr>
        </p:nvSpPr>
        <p:spPr/>
        <p:txBody>
          <a:bodyPr/>
          <a:lstStyle/>
          <a:p>
            <a:r>
              <a:rPr lang="el-GR" dirty="0"/>
              <a:t>Εγκαταστάσεις (2)</a:t>
            </a:r>
          </a:p>
        </p:txBody>
      </p:sp>
      <p:sp>
        <p:nvSpPr>
          <p:cNvPr id="3" name="Θέση περιεχομένου 2">
            <a:extLst>
              <a:ext uri="{FF2B5EF4-FFF2-40B4-BE49-F238E27FC236}">
                <a16:creationId xmlns:a16="http://schemas.microsoft.com/office/drawing/2014/main" id="{872FC8EF-D239-B914-4065-5CB87BCCDFE9}"/>
              </a:ext>
            </a:extLst>
          </p:cNvPr>
          <p:cNvSpPr>
            <a:spLocks noGrp="1"/>
          </p:cNvSpPr>
          <p:nvPr>
            <p:ph idx="1"/>
          </p:nvPr>
        </p:nvSpPr>
        <p:spPr>
          <a:xfrm>
            <a:off x="677334" y="1270000"/>
            <a:ext cx="9146174" cy="5466360"/>
          </a:xfrm>
        </p:spPr>
        <p:txBody>
          <a:bodyPr>
            <a:normAutofit/>
          </a:bodyPr>
          <a:lstStyle/>
          <a:p>
            <a:r>
              <a:rPr lang="el-GR" dirty="0"/>
              <a:t>Με την ίδια φιλοσοφία συνδέεται και ο αισθητήρας καρδιακών παλμών και </a:t>
            </a:r>
            <a:r>
              <a:rPr lang="en-US" dirty="0"/>
              <a:t>SpO2. </a:t>
            </a:r>
            <a:r>
              <a:rPr lang="el-GR" dirty="0"/>
              <a:t>Δηλαδή χρησιμοποιεί το </a:t>
            </a:r>
            <a:r>
              <a:rPr lang="en-US" dirty="0"/>
              <a:t>SCL/SDA.</a:t>
            </a:r>
          </a:p>
          <a:p>
            <a:r>
              <a:rPr lang="el-GR" dirty="0"/>
              <a:t>Για τον αισθητήρα </a:t>
            </a:r>
            <a:r>
              <a:rPr lang="en-US" dirty="0"/>
              <a:t>EDA </a:t>
            </a:r>
            <a:r>
              <a:rPr lang="el-GR" dirty="0"/>
              <a:t>έχουμε σε χρήση τα </a:t>
            </a:r>
            <a:r>
              <a:rPr lang="en-US" dirty="0"/>
              <a:t>GPIOs</a:t>
            </a:r>
            <a:r>
              <a:rPr lang="el-GR" dirty="0"/>
              <a:t> εκτός του </a:t>
            </a:r>
            <a:r>
              <a:rPr lang="en-US" dirty="0"/>
              <a:t>Vdd </a:t>
            </a:r>
            <a:r>
              <a:rPr lang="el-GR" dirty="0"/>
              <a:t>και </a:t>
            </a:r>
            <a:r>
              <a:rPr lang="en-US" dirty="0"/>
              <a:t>GND.</a:t>
            </a:r>
          </a:p>
          <a:p>
            <a:r>
              <a:rPr lang="en-US" dirty="0"/>
              <a:t>Wi-Fi SoC </a:t>
            </a:r>
            <a:r>
              <a:rPr lang="el-GR" dirty="0"/>
              <a:t>χρήση του </a:t>
            </a:r>
            <a:r>
              <a:rPr lang="en-US" sz="1800" dirty="0">
                <a:effectLst/>
                <a:latin typeface="Times New Roman" panose="02020603050405020304" pitchFamily="18" charset="0"/>
                <a:ea typeface="Calibri" panose="020F0502020204030204" pitchFamily="34" charset="0"/>
              </a:rPr>
              <a:t>I</a:t>
            </a:r>
            <a:r>
              <a:rPr lang="el-GR" sz="1800" baseline="30000" dirty="0">
                <a:effectLst/>
                <a:latin typeface="Times New Roman" panose="02020603050405020304" pitchFamily="18" charset="0"/>
                <a:ea typeface="Calibri" panose="020F0502020204030204" pitchFamily="34" charset="0"/>
              </a:rPr>
              <a:t>2</a:t>
            </a:r>
            <a:r>
              <a:rPr lang="en-US" sz="1800" dirty="0">
                <a:effectLst/>
                <a:latin typeface="Times New Roman" panose="02020603050405020304" pitchFamily="18" charset="0"/>
                <a:ea typeface="Calibri" panose="020F0502020204030204" pitchFamily="34" charset="0"/>
              </a:rPr>
              <a:t>C</a:t>
            </a:r>
            <a:r>
              <a:rPr lang="el-GR" sz="1800" dirty="0">
                <a:effectLst/>
                <a:latin typeface="Times New Roman" panose="02020603050405020304" pitchFamily="18" charset="0"/>
                <a:ea typeface="Calibri" panose="020F0502020204030204" pitchFamily="34" charset="0"/>
              </a:rPr>
              <a:t> </a:t>
            </a:r>
            <a:r>
              <a:rPr lang="el-GR" sz="1800" dirty="0">
                <a:effectLst/>
                <a:ea typeface="Calibri" panose="020F0502020204030204" pitchFamily="34" charset="0"/>
              </a:rPr>
              <a:t>παρόλο που περι</a:t>
            </a:r>
            <a:r>
              <a:rPr lang="el-GR" dirty="0">
                <a:ea typeface="Calibri" panose="020F0502020204030204" pitchFamily="34" charset="0"/>
              </a:rPr>
              <a:t>έχει τα</a:t>
            </a:r>
            <a:r>
              <a:rPr lang="en-US" dirty="0">
                <a:ea typeface="Calibri" panose="020F0502020204030204" pitchFamily="34" charset="0"/>
              </a:rPr>
              <a:t> SDA/SCL </a:t>
            </a:r>
            <a:r>
              <a:rPr lang="el-GR" dirty="0">
                <a:ea typeface="Calibri" panose="020F0502020204030204" pitchFamily="34" charset="0"/>
              </a:rPr>
              <a:t>σε </a:t>
            </a:r>
            <a:r>
              <a:rPr lang="en-US" dirty="0">
                <a:ea typeface="Calibri" panose="020F0502020204030204" pitchFamily="34" charset="0"/>
              </a:rPr>
              <a:t>GPIOs.</a:t>
            </a:r>
            <a:endParaRPr lang="el-GR" dirty="0">
              <a:ea typeface="Calibri" panose="020F0502020204030204" pitchFamily="34" charset="0"/>
            </a:endParaRPr>
          </a:p>
          <a:p>
            <a:r>
              <a:rPr lang="el-GR" dirty="0">
                <a:ea typeface="Calibri" panose="020F0502020204030204" pitchFamily="34" charset="0"/>
              </a:rPr>
              <a:t>Σε </a:t>
            </a:r>
            <a:r>
              <a:rPr lang="en-US" dirty="0">
                <a:ea typeface="Calibri" panose="020F0502020204030204" pitchFamily="34" charset="0"/>
              </a:rPr>
              <a:t>SPI </a:t>
            </a:r>
            <a:r>
              <a:rPr lang="el-GR" dirty="0">
                <a:ea typeface="Calibri" panose="020F0502020204030204" pitchFamily="34" charset="0"/>
              </a:rPr>
              <a:t>συνδέσεις έχουμε την οθόνη και το </a:t>
            </a:r>
            <a:r>
              <a:rPr lang="en-US" dirty="0">
                <a:ea typeface="Calibri" panose="020F0502020204030204" pitchFamily="34" charset="0"/>
              </a:rPr>
              <a:t>SD Card.</a:t>
            </a:r>
          </a:p>
          <a:p>
            <a:pPr>
              <a:buFont typeface="Wingdings" panose="05000000000000000000" pitchFamily="2" charset="2"/>
              <a:buChar char="§"/>
            </a:pPr>
            <a:r>
              <a:rPr lang="en-US" dirty="0">
                <a:ea typeface="Calibri" panose="020F0502020204030204" pitchFamily="34" charset="0"/>
              </a:rPr>
              <a:t>E</a:t>
            </a:r>
            <a:r>
              <a:rPr lang="el-GR" dirty="0" err="1">
                <a:ea typeface="Calibri" panose="020F0502020204030204" pitchFamily="34" charset="0"/>
              </a:rPr>
              <a:t>κτός</a:t>
            </a:r>
            <a:r>
              <a:rPr lang="el-GR" dirty="0">
                <a:ea typeface="Calibri" panose="020F0502020204030204" pitchFamily="34" charset="0"/>
              </a:rPr>
              <a:t> από την γείωση και VDD που θα έχουν συνδεθεί στην πλακέτα θα πρέπει να υπάρχει μία διασύνδεση </a:t>
            </a:r>
            <a:r>
              <a:rPr lang="el-GR" dirty="0" err="1">
                <a:ea typeface="Calibri" panose="020F0502020204030204" pitchFamily="34" charset="0"/>
              </a:rPr>
              <a:t>Master</a:t>
            </a:r>
            <a:r>
              <a:rPr lang="el-GR" dirty="0">
                <a:ea typeface="Calibri" panose="020F0502020204030204" pitchFamily="34" charset="0"/>
              </a:rPr>
              <a:t> και </a:t>
            </a:r>
            <a:r>
              <a:rPr lang="el-GR" dirty="0" err="1">
                <a:ea typeface="Calibri" panose="020F0502020204030204" pitchFamily="34" charset="0"/>
              </a:rPr>
              <a:t>Slave</a:t>
            </a:r>
            <a:r>
              <a:rPr lang="el-GR" dirty="0">
                <a:ea typeface="Calibri" panose="020F0502020204030204" pitchFamily="34" charset="0"/>
              </a:rPr>
              <a:t>. Συγκεκριμένα έχουμε MISO (</a:t>
            </a:r>
            <a:r>
              <a:rPr lang="el-GR" dirty="0" err="1">
                <a:ea typeface="Calibri" panose="020F0502020204030204" pitchFamily="34" charset="0"/>
              </a:rPr>
              <a:t>Master</a:t>
            </a:r>
            <a:r>
              <a:rPr lang="el-GR" dirty="0">
                <a:ea typeface="Calibri" panose="020F0502020204030204" pitchFamily="34" charset="0"/>
              </a:rPr>
              <a:t> In </a:t>
            </a:r>
            <a:r>
              <a:rPr lang="el-GR" dirty="0" err="1">
                <a:ea typeface="Calibri" panose="020F0502020204030204" pitchFamily="34" charset="0"/>
              </a:rPr>
              <a:t>Slave</a:t>
            </a:r>
            <a:r>
              <a:rPr lang="el-GR" dirty="0">
                <a:ea typeface="Calibri" panose="020F0502020204030204" pitchFamily="34" charset="0"/>
              </a:rPr>
              <a:t> </a:t>
            </a:r>
            <a:r>
              <a:rPr lang="el-GR" dirty="0" err="1">
                <a:ea typeface="Calibri" panose="020F0502020204030204" pitchFamily="34" charset="0"/>
              </a:rPr>
              <a:t>Out</a:t>
            </a:r>
            <a:r>
              <a:rPr lang="el-GR" dirty="0">
                <a:ea typeface="Calibri" panose="020F0502020204030204" pitchFamily="34" charset="0"/>
              </a:rPr>
              <a:t>) είναι η γραμμή δεδομένων από την κάρτα </a:t>
            </a:r>
            <a:r>
              <a:rPr lang="el-GR" dirty="0" err="1">
                <a:ea typeface="Calibri" panose="020F0502020204030204" pitchFamily="34" charset="0"/>
              </a:rPr>
              <a:t>microSD</a:t>
            </a:r>
            <a:r>
              <a:rPr lang="el-GR" dirty="0">
                <a:ea typeface="Calibri" panose="020F0502020204030204" pitchFamily="34" charset="0"/>
              </a:rPr>
              <a:t> στο μικροελεγκτή. MOSI (</a:t>
            </a:r>
            <a:r>
              <a:rPr lang="el-GR" dirty="0" err="1">
                <a:ea typeface="Calibri" panose="020F0502020204030204" pitchFamily="34" charset="0"/>
              </a:rPr>
              <a:t>Master</a:t>
            </a:r>
            <a:r>
              <a:rPr lang="el-GR" dirty="0">
                <a:ea typeface="Calibri" panose="020F0502020204030204" pitchFamily="34" charset="0"/>
              </a:rPr>
              <a:t> </a:t>
            </a:r>
            <a:r>
              <a:rPr lang="el-GR" dirty="0" err="1">
                <a:ea typeface="Calibri" panose="020F0502020204030204" pitchFamily="34" charset="0"/>
              </a:rPr>
              <a:t>Out</a:t>
            </a:r>
            <a:r>
              <a:rPr lang="el-GR" dirty="0">
                <a:ea typeface="Calibri" panose="020F0502020204030204" pitchFamily="34" charset="0"/>
              </a:rPr>
              <a:t> </a:t>
            </a:r>
            <a:r>
              <a:rPr lang="el-GR" dirty="0" err="1">
                <a:ea typeface="Calibri" panose="020F0502020204030204" pitchFamily="34" charset="0"/>
              </a:rPr>
              <a:t>Slave</a:t>
            </a:r>
            <a:r>
              <a:rPr lang="el-GR" dirty="0">
                <a:ea typeface="Calibri" panose="020F0502020204030204" pitchFamily="34" charset="0"/>
              </a:rPr>
              <a:t> In) είναι η γραμμή δεδομένων από το μικροελεγκτή στην κάρτα </a:t>
            </a:r>
            <a:r>
              <a:rPr lang="el-GR" dirty="0" err="1">
                <a:ea typeface="Calibri" panose="020F0502020204030204" pitchFamily="34" charset="0"/>
              </a:rPr>
              <a:t>microSD</a:t>
            </a:r>
            <a:r>
              <a:rPr lang="el-GR" dirty="0">
                <a:ea typeface="Calibri" panose="020F0502020204030204" pitchFamily="34" charset="0"/>
              </a:rPr>
              <a:t>. </a:t>
            </a:r>
          </a:p>
          <a:p>
            <a:pPr>
              <a:buFont typeface="Wingdings" panose="05000000000000000000" pitchFamily="2" charset="2"/>
              <a:buChar char="§"/>
            </a:pPr>
            <a:r>
              <a:rPr lang="el-GR" dirty="0">
                <a:ea typeface="Calibri" panose="020F0502020204030204" pitchFamily="34" charset="0"/>
              </a:rPr>
              <a:t>Το ίδιο ισχύει και για την οθόνη για τα </a:t>
            </a:r>
            <a:r>
              <a:rPr lang="en-US" dirty="0">
                <a:ea typeface="Calibri" panose="020F0502020204030204" pitchFamily="34" charset="0"/>
              </a:rPr>
              <a:t>pixels</a:t>
            </a:r>
          </a:p>
          <a:p>
            <a:pPr>
              <a:buFont typeface="Wingdings" panose="05000000000000000000" pitchFamily="2" charset="2"/>
              <a:buChar char="§"/>
            </a:pPr>
            <a:r>
              <a:rPr lang="el-GR" dirty="0">
                <a:ea typeface="Calibri" panose="020F0502020204030204" pitchFamily="34" charset="0"/>
              </a:rPr>
              <a:t>CS (Chip </a:t>
            </a:r>
            <a:r>
              <a:rPr lang="el-GR" dirty="0" err="1">
                <a:ea typeface="Calibri" panose="020F0502020204030204" pitchFamily="34" charset="0"/>
              </a:rPr>
              <a:t>Select</a:t>
            </a:r>
            <a:r>
              <a:rPr lang="el-GR" dirty="0">
                <a:ea typeface="Calibri" panose="020F0502020204030204" pitchFamily="34" charset="0"/>
              </a:rPr>
              <a:t>) για την ενεργοποίηση ή απενεργοποίηση του SD </a:t>
            </a:r>
            <a:r>
              <a:rPr lang="el-GR" dirty="0" err="1">
                <a:ea typeface="Calibri" panose="020F0502020204030204" pitchFamily="34" charset="0"/>
              </a:rPr>
              <a:t>Card</a:t>
            </a:r>
            <a:r>
              <a:rPr lang="el-GR" dirty="0">
                <a:ea typeface="Calibri" panose="020F0502020204030204" pitchFamily="34" charset="0"/>
              </a:rPr>
              <a:t>.</a:t>
            </a:r>
          </a:p>
          <a:p>
            <a:r>
              <a:rPr lang="el-GR" dirty="0">
                <a:ea typeface="Calibri" panose="020F0502020204030204" pitchFamily="34" charset="0"/>
              </a:rPr>
              <a:t>Οι ανεμιστήρες έχουν την σύνδεση </a:t>
            </a:r>
            <a:r>
              <a:rPr lang="en-US" dirty="0">
                <a:ea typeface="Calibri" panose="020F0502020204030204" pitchFamily="34" charset="0"/>
              </a:rPr>
              <a:t>GPIO </a:t>
            </a:r>
            <a:r>
              <a:rPr lang="el-GR" dirty="0">
                <a:ea typeface="Calibri" panose="020F0502020204030204" pitchFamily="34" charset="0"/>
              </a:rPr>
              <a:t>που είναι υποσυστήματα εύκολης λογικής.</a:t>
            </a:r>
            <a:endParaRPr lang="en-US" dirty="0">
              <a:ea typeface="Calibri" panose="020F0502020204030204" pitchFamily="34" charset="0"/>
            </a:endParaRPr>
          </a:p>
        </p:txBody>
      </p:sp>
      <p:sp>
        <p:nvSpPr>
          <p:cNvPr id="4" name="Θέση αριθμού διαφάνειας 3">
            <a:extLst>
              <a:ext uri="{FF2B5EF4-FFF2-40B4-BE49-F238E27FC236}">
                <a16:creationId xmlns:a16="http://schemas.microsoft.com/office/drawing/2014/main" id="{752F3979-48E1-E10D-D68B-BCDEECF2F3E9}"/>
              </a:ext>
            </a:extLst>
          </p:cNvPr>
          <p:cNvSpPr>
            <a:spLocks noGrp="1"/>
          </p:cNvSpPr>
          <p:nvPr>
            <p:ph type="sldNum" sz="quarter" idx="12"/>
          </p:nvPr>
        </p:nvSpPr>
        <p:spPr/>
        <p:txBody>
          <a:bodyPr/>
          <a:lstStyle/>
          <a:p>
            <a:fld id="{519954A3-9DFD-4C44-94BA-B95130A3BA1C}" type="slidenum">
              <a:rPr lang="en-US" smtClean="0"/>
              <a:t>72</a:t>
            </a:fld>
            <a:endParaRPr lang="en-US" dirty="0"/>
          </a:p>
        </p:txBody>
      </p:sp>
    </p:spTree>
    <p:extLst>
      <p:ext uri="{BB962C8B-B14F-4D97-AF65-F5344CB8AC3E}">
        <p14:creationId xmlns:p14="http://schemas.microsoft.com/office/powerpoint/2010/main" val="15572232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60C34B4-0C52-5E69-8D49-553FE0E7B899}"/>
              </a:ext>
            </a:extLst>
          </p:cNvPr>
          <p:cNvSpPr>
            <a:spLocks noGrp="1"/>
          </p:cNvSpPr>
          <p:nvPr>
            <p:ph type="title"/>
          </p:nvPr>
        </p:nvSpPr>
        <p:spPr>
          <a:xfrm>
            <a:off x="666771" y="1134336"/>
            <a:ext cx="4096002" cy="699083"/>
          </a:xfrm>
        </p:spPr>
        <p:txBody>
          <a:bodyPr/>
          <a:lstStyle/>
          <a:p>
            <a:r>
              <a:rPr lang="el-GR" dirty="0"/>
              <a:t>Εγκαταστάσεις (3)</a:t>
            </a:r>
          </a:p>
        </p:txBody>
      </p:sp>
      <p:sp>
        <p:nvSpPr>
          <p:cNvPr id="3" name="Θέση περιεχομένου 2">
            <a:extLst>
              <a:ext uri="{FF2B5EF4-FFF2-40B4-BE49-F238E27FC236}">
                <a16:creationId xmlns:a16="http://schemas.microsoft.com/office/drawing/2014/main" id="{7D78153E-87DE-DDA0-7FEF-4B20A9C8443C}"/>
              </a:ext>
            </a:extLst>
          </p:cNvPr>
          <p:cNvSpPr>
            <a:spLocks noGrp="1"/>
          </p:cNvSpPr>
          <p:nvPr>
            <p:ph idx="1"/>
          </p:nvPr>
        </p:nvSpPr>
        <p:spPr>
          <a:xfrm>
            <a:off x="677334" y="1833419"/>
            <a:ext cx="8596668" cy="3880773"/>
          </a:xfrm>
        </p:spPr>
        <p:txBody>
          <a:bodyPr/>
          <a:lstStyle/>
          <a:p>
            <a:r>
              <a:rPr lang="en-US" sz="1800" dirty="0">
                <a:effectLst/>
                <a:ea typeface="Calibri" panose="020F0502020204030204" pitchFamily="34" charset="0"/>
              </a:rPr>
              <a:t> </a:t>
            </a:r>
            <a:r>
              <a:rPr lang="el-GR" sz="1800" dirty="0">
                <a:effectLst/>
                <a:ea typeface="Calibri" panose="020F0502020204030204" pitchFamily="34" charset="0"/>
              </a:rPr>
              <a:t>Περιέχουμε μία σύνδεση </a:t>
            </a:r>
            <a:r>
              <a:rPr lang="en-US" sz="1800" dirty="0">
                <a:effectLst/>
                <a:ea typeface="Calibri" panose="020F0502020204030204" pitchFamily="34" charset="0"/>
              </a:rPr>
              <a:t>UART/USART</a:t>
            </a:r>
            <a:r>
              <a:rPr lang="el-GR" sz="1800" dirty="0">
                <a:effectLst/>
                <a:ea typeface="Calibri" panose="020F0502020204030204" pitchFamily="34" charset="0"/>
              </a:rPr>
              <a:t>.  </a:t>
            </a:r>
          </a:p>
          <a:p>
            <a:pPr>
              <a:buFont typeface="Wingdings" panose="05000000000000000000" pitchFamily="2" charset="2"/>
              <a:buChar char="§"/>
            </a:pPr>
            <a:r>
              <a:rPr lang="el-GR" dirty="0">
                <a:ea typeface="Calibri" panose="020F0502020204030204" pitchFamily="34" charset="0"/>
              </a:rPr>
              <a:t>Έ</a:t>
            </a:r>
            <a:r>
              <a:rPr lang="el-GR" sz="1800" dirty="0">
                <a:effectLst/>
                <a:ea typeface="Calibri" panose="020F0502020204030204" pitchFamily="34" charset="0"/>
              </a:rPr>
              <a:t>χουμε τους ακροδέκτες TX (</a:t>
            </a:r>
            <a:r>
              <a:rPr lang="el-GR" sz="1800" dirty="0" err="1">
                <a:effectLst/>
                <a:ea typeface="Calibri" panose="020F0502020204030204" pitchFamily="34" charset="0"/>
              </a:rPr>
              <a:t>Transmit</a:t>
            </a:r>
            <a:r>
              <a:rPr lang="el-GR" sz="1800" dirty="0">
                <a:effectLst/>
                <a:ea typeface="Calibri" panose="020F0502020204030204" pitchFamily="34" charset="0"/>
              </a:rPr>
              <a:t>) που συνδέεται με την μονάδα UART/USART στον ακροδέκτη RX του </a:t>
            </a:r>
            <a:r>
              <a:rPr lang="el-GR" sz="1800" dirty="0" err="1">
                <a:effectLst/>
                <a:ea typeface="Calibri" panose="020F0502020204030204" pitchFamily="34" charset="0"/>
              </a:rPr>
              <a:t>μικροελεγκτή</a:t>
            </a:r>
            <a:r>
              <a:rPr lang="el-GR" sz="1800" dirty="0">
                <a:effectLst/>
                <a:ea typeface="Calibri" panose="020F0502020204030204" pitchFamily="34" charset="0"/>
              </a:rPr>
              <a:t>. Αυτό επιτρέπει τη μετάδοση δεδομένων από τη μονάδα UART/USART στον ελεγκτή </a:t>
            </a:r>
          </a:p>
          <a:p>
            <a:pPr>
              <a:buFont typeface="Wingdings" panose="05000000000000000000" pitchFamily="2" charset="2"/>
              <a:buChar char="§"/>
            </a:pPr>
            <a:r>
              <a:rPr lang="el-GR" dirty="0">
                <a:ea typeface="Calibri" panose="020F0502020204030204" pitchFamily="34" charset="0"/>
              </a:rPr>
              <a:t>Ε</a:t>
            </a:r>
            <a:r>
              <a:rPr lang="el-GR" sz="1800" dirty="0">
                <a:effectLst/>
                <a:ea typeface="Calibri" panose="020F0502020204030204" pitchFamily="34" charset="0"/>
              </a:rPr>
              <a:t>νώ ο RX (</a:t>
            </a:r>
            <a:r>
              <a:rPr lang="en-US" sz="1800" dirty="0">
                <a:effectLst/>
                <a:ea typeface="Calibri" panose="020F0502020204030204" pitchFamily="34" charset="0"/>
              </a:rPr>
              <a:t>Receive</a:t>
            </a:r>
            <a:r>
              <a:rPr lang="el-GR" sz="1800" dirty="0">
                <a:effectLst/>
                <a:ea typeface="Calibri" panose="020F0502020204030204" pitchFamily="34" charset="0"/>
              </a:rPr>
              <a:t>) συνδέεται με την μονάδας UART/USART στον ακροδέκτη TX του μικροελεγκτή. Αυτό επιτρέπει τη λήψη δεδομένων από τη μονάδα UART/USART από τον ελεγκτή. Που εκτός από αυτές τις συνδέσεις θα πρέπει να έχουμε την διαχείριση των </a:t>
            </a:r>
            <a:r>
              <a:rPr lang="en-US" sz="1800" dirty="0">
                <a:effectLst/>
                <a:ea typeface="Calibri" panose="020F0502020204030204" pitchFamily="34" charset="0"/>
              </a:rPr>
              <a:t>bits</a:t>
            </a:r>
            <a:r>
              <a:rPr lang="el-GR" sz="1800" dirty="0">
                <a:effectLst/>
                <a:ea typeface="Calibri" panose="020F0502020204030204" pitchFamily="34" charset="0"/>
              </a:rPr>
              <a:t> που αυτό διασφαλίζει ότι και τα δύο άκρα του συνδέσμου επικοινωνίας ερμηνεύουν σωστά τα δεδομένα.</a:t>
            </a:r>
            <a:endParaRPr lang="el-GR" dirty="0"/>
          </a:p>
        </p:txBody>
      </p:sp>
      <p:sp>
        <p:nvSpPr>
          <p:cNvPr id="4" name="Θέση αριθμού διαφάνειας 3">
            <a:extLst>
              <a:ext uri="{FF2B5EF4-FFF2-40B4-BE49-F238E27FC236}">
                <a16:creationId xmlns:a16="http://schemas.microsoft.com/office/drawing/2014/main" id="{1308998E-7ABA-DDC6-0C49-A178863347D2}"/>
              </a:ext>
            </a:extLst>
          </p:cNvPr>
          <p:cNvSpPr>
            <a:spLocks noGrp="1"/>
          </p:cNvSpPr>
          <p:nvPr>
            <p:ph type="sldNum" sz="quarter" idx="12"/>
          </p:nvPr>
        </p:nvSpPr>
        <p:spPr/>
        <p:txBody>
          <a:bodyPr/>
          <a:lstStyle/>
          <a:p>
            <a:fld id="{519954A3-9DFD-4C44-94BA-B95130A3BA1C}" type="slidenum">
              <a:rPr lang="en-US" smtClean="0"/>
              <a:t>73</a:t>
            </a:fld>
            <a:endParaRPr lang="en-US" dirty="0"/>
          </a:p>
        </p:txBody>
      </p:sp>
    </p:spTree>
    <p:extLst>
      <p:ext uri="{BB962C8B-B14F-4D97-AF65-F5344CB8AC3E}">
        <p14:creationId xmlns:p14="http://schemas.microsoft.com/office/powerpoint/2010/main" val="40258831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FBA548E-647E-709D-D84F-4446BA0CCD5F}"/>
              </a:ext>
            </a:extLst>
          </p:cNvPr>
          <p:cNvSpPr>
            <a:spLocks noGrp="1"/>
          </p:cNvSpPr>
          <p:nvPr>
            <p:ph type="title"/>
          </p:nvPr>
        </p:nvSpPr>
        <p:spPr>
          <a:xfrm>
            <a:off x="691938" y="206929"/>
            <a:ext cx="3450049" cy="741028"/>
          </a:xfrm>
        </p:spPr>
        <p:txBody>
          <a:bodyPr/>
          <a:lstStyle/>
          <a:p>
            <a:r>
              <a:rPr lang="el-GR" dirty="0"/>
              <a:t>Προσομοίωση</a:t>
            </a:r>
          </a:p>
        </p:txBody>
      </p:sp>
      <p:sp>
        <p:nvSpPr>
          <p:cNvPr id="3" name="Θέση περιεχομένου 2">
            <a:extLst>
              <a:ext uri="{FF2B5EF4-FFF2-40B4-BE49-F238E27FC236}">
                <a16:creationId xmlns:a16="http://schemas.microsoft.com/office/drawing/2014/main" id="{6ED80E56-3C5F-AC83-71E5-2EB924E2DB92}"/>
              </a:ext>
            </a:extLst>
          </p:cNvPr>
          <p:cNvSpPr>
            <a:spLocks noGrp="1"/>
          </p:cNvSpPr>
          <p:nvPr>
            <p:ph idx="1"/>
          </p:nvPr>
        </p:nvSpPr>
        <p:spPr>
          <a:xfrm>
            <a:off x="691938" y="847288"/>
            <a:ext cx="8596668" cy="6010711"/>
          </a:xfrm>
        </p:spPr>
        <p:txBody>
          <a:bodyPr>
            <a:normAutofit lnSpcReduction="10000"/>
          </a:bodyPr>
          <a:lstStyle/>
          <a:p>
            <a:pPr marL="0" indent="0">
              <a:buNone/>
            </a:pPr>
            <a:r>
              <a:rPr lang="el-GR" dirty="0"/>
              <a:t>Ο στόχος στην προσομοίωση είναι να περιγράψουμε ένα αλγόριθμο που αρχικά είναι σε </a:t>
            </a:r>
            <a:r>
              <a:rPr lang="en-US" dirty="0"/>
              <a:t>Run Mode </a:t>
            </a:r>
            <a:r>
              <a:rPr lang="el-GR" dirty="0"/>
              <a:t>και λόγω κάποιων όριων που ορίζουμε στις μετρήσεις μπαίνουν σε </a:t>
            </a:r>
            <a:r>
              <a:rPr lang="en-US" dirty="0"/>
              <a:t>Safe State.</a:t>
            </a:r>
          </a:p>
          <a:p>
            <a:pPr marL="0" indent="0">
              <a:buNone/>
            </a:pPr>
            <a:r>
              <a:rPr lang="el-GR" sz="1200" dirty="0">
                <a:effectLst/>
                <a:latin typeface="Consolas" panose="020B0609020204030204" pitchFamily="49" charset="0"/>
                <a:ea typeface="Calibri" panose="020F0502020204030204" pitchFamily="34" charset="0"/>
                <a:cs typeface="Times New Roman" panose="02020603050405020304" pitchFamily="18" charset="0"/>
              </a:rPr>
              <a:t># Τιμές για εύρος αισθητήρων</a:t>
            </a:r>
          </a:p>
          <a:p>
            <a:pPr marL="0" indent="0">
              <a:buNone/>
            </a:pPr>
            <a:r>
              <a:rPr lang="en-US" sz="1200" dirty="0">
                <a:effectLst/>
                <a:latin typeface="Consolas" panose="020B0609020204030204" pitchFamily="49" charset="0"/>
                <a:ea typeface="Calibri" panose="020F0502020204030204" pitchFamily="34" charset="0"/>
                <a:cs typeface="Times New Roman" panose="02020603050405020304" pitchFamily="18" charset="0"/>
              </a:rPr>
              <a:t>THERMISTOR</a:t>
            </a:r>
            <a:r>
              <a:rPr lang="el-GR" sz="1200" dirty="0">
                <a:effectLst/>
                <a:latin typeface="Consolas" panose="020B0609020204030204" pitchFamily="49" charset="0"/>
                <a:ea typeface="Calibri" panose="020F0502020204030204" pitchFamily="34" charset="0"/>
                <a:cs typeface="Times New Roman" panose="02020603050405020304" pitchFamily="18" charset="0"/>
              </a:rPr>
              <a:t>_</a:t>
            </a:r>
            <a:r>
              <a:rPr lang="en-US" sz="1200" dirty="0">
                <a:effectLst/>
                <a:latin typeface="Consolas" panose="020B0609020204030204" pitchFamily="49" charset="0"/>
                <a:ea typeface="Calibri" panose="020F0502020204030204" pitchFamily="34" charset="0"/>
                <a:cs typeface="Times New Roman" panose="02020603050405020304" pitchFamily="18" charset="0"/>
              </a:rPr>
              <a:t>MIN</a:t>
            </a:r>
            <a:r>
              <a:rPr lang="el-GR" sz="1200" dirty="0">
                <a:effectLst/>
                <a:latin typeface="Consolas" panose="020B0609020204030204" pitchFamily="49" charset="0"/>
                <a:ea typeface="Calibri" panose="020F0502020204030204" pitchFamily="34" charset="0"/>
                <a:cs typeface="Times New Roman" panose="02020603050405020304" pitchFamily="18" charset="0"/>
              </a:rPr>
              <a:t>_</a:t>
            </a:r>
            <a:r>
              <a:rPr lang="en-US" sz="1200" dirty="0">
                <a:effectLst/>
                <a:latin typeface="Consolas" panose="020B0609020204030204" pitchFamily="49" charset="0"/>
                <a:ea typeface="Calibri" panose="020F0502020204030204" pitchFamily="34" charset="0"/>
                <a:cs typeface="Times New Roman" panose="02020603050405020304" pitchFamily="18" charset="0"/>
              </a:rPr>
              <a:t>TEMP</a:t>
            </a:r>
            <a:r>
              <a:rPr lang="el-GR" sz="1200" dirty="0">
                <a:effectLst/>
                <a:latin typeface="Consolas" panose="020B0609020204030204" pitchFamily="49" charset="0"/>
                <a:ea typeface="Calibri" panose="020F0502020204030204" pitchFamily="34" charset="0"/>
                <a:cs typeface="Times New Roman" panose="02020603050405020304" pitchFamily="18" charset="0"/>
              </a:rPr>
              <a:t> = 28</a:t>
            </a:r>
          </a:p>
          <a:p>
            <a:pPr marL="0" indent="0">
              <a:buNone/>
            </a:pPr>
            <a:r>
              <a:rPr lang="en-US" sz="1200" dirty="0">
                <a:effectLst/>
                <a:latin typeface="Consolas" panose="020B0609020204030204" pitchFamily="49" charset="0"/>
                <a:ea typeface="Calibri" panose="020F0502020204030204" pitchFamily="34" charset="0"/>
                <a:cs typeface="Times New Roman" panose="02020603050405020304" pitchFamily="18" charset="0"/>
              </a:rPr>
              <a:t>THERMISTOR_MAX_TEMP = 44</a:t>
            </a:r>
            <a:endParaRPr lang="el-GR" sz="1200" dirty="0">
              <a:effectLst/>
              <a:latin typeface="Consolas" panose="020B0609020204030204" pitchFamily="49" charset="0"/>
              <a:ea typeface="Calibri" panose="020F0502020204030204" pitchFamily="34" charset="0"/>
              <a:cs typeface="Times New Roman" panose="02020603050405020304" pitchFamily="18" charset="0"/>
            </a:endParaRPr>
          </a:p>
          <a:p>
            <a:pPr marL="0" indent="0">
              <a:buNone/>
            </a:pPr>
            <a:r>
              <a:rPr lang="en-US" sz="1200" dirty="0">
                <a:effectLst/>
                <a:latin typeface="Consolas" panose="020B0609020204030204" pitchFamily="49" charset="0"/>
                <a:ea typeface="Calibri" panose="020F0502020204030204" pitchFamily="34" charset="0"/>
                <a:cs typeface="Times New Roman" panose="02020603050405020304" pitchFamily="18" charset="0"/>
              </a:rPr>
              <a:t>SMD_GROVE_ERROR_THRESHOLD = 1000</a:t>
            </a:r>
            <a:endParaRPr lang="el-GR" sz="1200" dirty="0">
              <a:effectLst/>
              <a:latin typeface="Consolas" panose="020B0609020204030204" pitchFamily="49" charset="0"/>
              <a:ea typeface="Calibri" panose="020F0502020204030204" pitchFamily="34" charset="0"/>
              <a:cs typeface="Times New Roman" panose="02020603050405020304" pitchFamily="18" charset="0"/>
            </a:endParaRPr>
          </a:p>
          <a:p>
            <a:pPr marL="0" indent="0">
              <a:buNone/>
            </a:pPr>
            <a:r>
              <a:rPr lang="en-US" sz="1200" dirty="0">
                <a:effectLst/>
                <a:latin typeface="Consolas" panose="020B0609020204030204" pitchFamily="49" charset="0"/>
                <a:ea typeface="Calibri" panose="020F0502020204030204" pitchFamily="34" charset="0"/>
                <a:cs typeface="Times New Roman" panose="02020603050405020304" pitchFamily="18" charset="0"/>
              </a:rPr>
              <a:t>ACCELEROMETER_MAX_G = 15</a:t>
            </a:r>
            <a:endParaRPr lang="el-GR" sz="1200" dirty="0">
              <a:effectLst/>
              <a:latin typeface="Consolas" panose="020B0609020204030204" pitchFamily="49" charset="0"/>
              <a:ea typeface="Calibri" panose="020F0502020204030204" pitchFamily="34" charset="0"/>
              <a:cs typeface="Times New Roman" panose="02020603050405020304" pitchFamily="18" charset="0"/>
            </a:endParaRPr>
          </a:p>
          <a:p>
            <a:pPr marL="0" indent="0">
              <a:buNone/>
            </a:pPr>
            <a:r>
              <a:rPr lang="en-US" sz="1200" dirty="0">
                <a:effectLst/>
                <a:latin typeface="Consolas" panose="020B0609020204030204" pitchFamily="49" charset="0"/>
                <a:ea typeface="Calibri" panose="020F0502020204030204" pitchFamily="34" charset="0"/>
                <a:cs typeface="Times New Roman" panose="02020603050405020304" pitchFamily="18" charset="0"/>
              </a:rPr>
              <a:t>SYSTOLIC_MIN = 0.3</a:t>
            </a:r>
            <a:endParaRPr lang="el-GR" sz="1200" dirty="0">
              <a:effectLst/>
              <a:latin typeface="Consolas" panose="020B0609020204030204" pitchFamily="49" charset="0"/>
              <a:ea typeface="Calibri" panose="020F0502020204030204" pitchFamily="34" charset="0"/>
              <a:cs typeface="Times New Roman" panose="02020603050405020304" pitchFamily="18" charset="0"/>
            </a:endParaRPr>
          </a:p>
          <a:p>
            <a:pPr marL="0" indent="0">
              <a:buNone/>
            </a:pPr>
            <a:r>
              <a:rPr lang="en-US" sz="1200" dirty="0">
                <a:effectLst/>
                <a:latin typeface="Consolas" panose="020B0609020204030204" pitchFamily="49" charset="0"/>
                <a:ea typeface="Calibri" panose="020F0502020204030204" pitchFamily="34" charset="0"/>
                <a:cs typeface="Times New Roman" panose="02020603050405020304" pitchFamily="18" charset="0"/>
              </a:rPr>
              <a:t>SYSTOLIC_MAX = 0.75</a:t>
            </a:r>
            <a:endParaRPr lang="el-GR" sz="1200" dirty="0">
              <a:effectLst/>
              <a:latin typeface="Consolas" panose="020B0609020204030204" pitchFamily="49" charset="0"/>
              <a:ea typeface="Calibri" panose="020F0502020204030204" pitchFamily="34" charset="0"/>
              <a:cs typeface="Times New Roman" panose="02020603050405020304" pitchFamily="18" charset="0"/>
            </a:endParaRPr>
          </a:p>
          <a:p>
            <a:pPr marL="0" indent="0">
              <a:buNone/>
            </a:pPr>
            <a:r>
              <a:rPr lang="en-US" sz="1200" dirty="0">
                <a:effectLst/>
                <a:latin typeface="Consolas" panose="020B0609020204030204" pitchFamily="49" charset="0"/>
                <a:ea typeface="Calibri" panose="020F0502020204030204" pitchFamily="34" charset="0"/>
                <a:cs typeface="Times New Roman" panose="02020603050405020304" pitchFamily="18" charset="0"/>
              </a:rPr>
              <a:t>DIASTOLIC_MIN = 0.45</a:t>
            </a:r>
            <a:endParaRPr lang="el-GR" sz="1200" dirty="0">
              <a:effectLst/>
              <a:latin typeface="Consolas" panose="020B0609020204030204" pitchFamily="49" charset="0"/>
              <a:ea typeface="Calibri" panose="020F0502020204030204" pitchFamily="34" charset="0"/>
              <a:cs typeface="Times New Roman" panose="02020603050405020304" pitchFamily="18" charset="0"/>
            </a:endParaRPr>
          </a:p>
          <a:p>
            <a:pPr marL="0" indent="0">
              <a:buNone/>
            </a:pPr>
            <a:r>
              <a:rPr lang="en-US" sz="1200" dirty="0">
                <a:effectLst/>
                <a:latin typeface="Consolas" panose="020B0609020204030204" pitchFamily="49" charset="0"/>
                <a:ea typeface="Calibri" panose="020F0502020204030204" pitchFamily="34" charset="0"/>
                <a:cs typeface="Times New Roman" panose="02020603050405020304" pitchFamily="18" charset="0"/>
              </a:rPr>
              <a:t>DIASTOLIC_MAX = 0.9</a:t>
            </a:r>
            <a:endParaRPr lang="el-GR" sz="1200" dirty="0">
              <a:effectLst/>
              <a:latin typeface="Consolas" panose="020B0609020204030204" pitchFamily="49" charset="0"/>
              <a:ea typeface="Calibri" panose="020F0502020204030204" pitchFamily="34" charset="0"/>
              <a:cs typeface="Times New Roman" panose="02020603050405020304" pitchFamily="18" charset="0"/>
            </a:endParaRPr>
          </a:p>
          <a:p>
            <a:pPr marL="0" indent="0">
              <a:buNone/>
            </a:pPr>
            <a:r>
              <a:rPr lang="en-US" sz="1200" dirty="0">
                <a:effectLst/>
                <a:latin typeface="Consolas" panose="020B0609020204030204" pitchFamily="49" charset="0"/>
                <a:ea typeface="Calibri" panose="020F0502020204030204" pitchFamily="34" charset="0"/>
                <a:cs typeface="Times New Roman" panose="02020603050405020304" pitchFamily="18" charset="0"/>
              </a:rPr>
              <a:t>SPO2_MIN = 30</a:t>
            </a:r>
            <a:endParaRPr lang="el-GR" sz="1200" dirty="0">
              <a:effectLst/>
              <a:latin typeface="Consolas" panose="020B0609020204030204" pitchFamily="49" charset="0"/>
              <a:ea typeface="Calibri" panose="020F0502020204030204" pitchFamily="34" charset="0"/>
              <a:cs typeface="Times New Roman" panose="02020603050405020304" pitchFamily="18" charset="0"/>
            </a:endParaRPr>
          </a:p>
          <a:p>
            <a:pPr marL="0" indent="0">
              <a:buNone/>
            </a:pPr>
            <a:r>
              <a:rPr lang="en-US" sz="1200" dirty="0">
                <a:effectLst/>
                <a:latin typeface="Consolas" panose="020B0609020204030204" pitchFamily="49" charset="0"/>
                <a:ea typeface="Calibri" panose="020F0502020204030204" pitchFamily="34" charset="0"/>
                <a:cs typeface="Times New Roman" panose="02020603050405020304" pitchFamily="18" charset="0"/>
              </a:rPr>
              <a:t>SPO2_MAX = 100</a:t>
            </a:r>
            <a:endParaRPr lang="el-GR" sz="1200" dirty="0">
              <a:effectLst/>
              <a:latin typeface="Consolas" panose="020B0609020204030204" pitchFamily="49" charset="0"/>
              <a:ea typeface="Calibri" panose="020F0502020204030204" pitchFamily="34" charset="0"/>
              <a:cs typeface="Times New Roman" panose="02020603050405020304" pitchFamily="18" charset="0"/>
            </a:endParaRPr>
          </a:p>
          <a:p>
            <a:pPr marL="0" indent="0">
              <a:buNone/>
            </a:pPr>
            <a:r>
              <a:rPr lang="en-US" sz="1200" dirty="0">
                <a:effectLst/>
                <a:latin typeface="Consolas" panose="020B0609020204030204" pitchFamily="49" charset="0"/>
                <a:ea typeface="Calibri" panose="020F0502020204030204" pitchFamily="34" charset="0"/>
                <a:cs typeface="Times New Roman" panose="02020603050405020304" pitchFamily="18" charset="0"/>
              </a:rPr>
              <a:t>HEART_RATE_MIN = 50</a:t>
            </a:r>
            <a:endParaRPr lang="el-GR" sz="1200" dirty="0">
              <a:effectLst/>
              <a:latin typeface="Consolas" panose="020B0609020204030204" pitchFamily="49" charset="0"/>
              <a:ea typeface="Calibri" panose="020F0502020204030204" pitchFamily="34" charset="0"/>
              <a:cs typeface="Times New Roman" panose="02020603050405020304" pitchFamily="18" charset="0"/>
            </a:endParaRPr>
          </a:p>
          <a:p>
            <a:pPr marL="0" indent="0">
              <a:buNone/>
            </a:pPr>
            <a:r>
              <a:rPr lang="en-US" sz="1200" dirty="0">
                <a:effectLst/>
                <a:latin typeface="Consolas" panose="020B0609020204030204" pitchFamily="49" charset="0"/>
                <a:ea typeface="Calibri" panose="020F0502020204030204" pitchFamily="34" charset="0"/>
                <a:cs typeface="Times New Roman" panose="02020603050405020304" pitchFamily="18" charset="0"/>
              </a:rPr>
              <a:t>HEART</a:t>
            </a:r>
            <a:r>
              <a:rPr lang="el-GR" sz="1200" dirty="0">
                <a:effectLst/>
                <a:latin typeface="Consolas" panose="020B0609020204030204" pitchFamily="49" charset="0"/>
                <a:ea typeface="Calibri" panose="020F0502020204030204" pitchFamily="34" charset="0"/>
                <a:cs typeface="Times New Roman" panose="02020603050405020304" pitchFamily="18" charset="0"/>
              </a:rPr>
              <a:t>_</a:t>
            </a:r>
            <a:r>
              <a:rPr lang="en-US" sz="1200" dirty="0">
                <a:effectLst/>
                <a:latin typeface="Consolas" panose="020B0609020204030204" pitchFamily="49" charset="0"/>
                <a:ea typeface="Calibri" panose="020F0502020204030204" pitchFamily="34" charset="0"/>
                <a:cs typeface="Times New Roman" panose="02020603050405020304" pitchFamily="18" charset="0"/>
              </a:rPr>
              <a:t>RATE</a:t>
            </a:r>
            <a:r>
              <a:rPr lang="el-GR" sz="1200" dirty="0">
                <a:effectLst/>
                <a:latin typeface="Consolas" panose="020B0609020204030204" pitchFamily="49" charset="0"/>
                <a:ea typeface="Calibri" panose="020F0502020204030204" pitchFamily="34" charset="0"/>
                <a:cs typeface="Times New Roman" panose="02020603050405020304" pitchFamily="18" charset="0"/>
              </a:rPr>
              <a:t>_</a:t>
            </a:r>
            <a:r>
              <a:rPr lang="en-US" sz="1200" dirty="0">
                <a:effectLst/>
                <a:latin typeface="Consolas" panose="020B0609020204030204" pitchFamily="49" charset="0"/>
                <a:ea typeface="Calibri" panose="020F0502020204030204" pitchFamily="34" charset="0"/>
                <a:cs typeface="Times New Roman" panose="02020603050405020304" pitchFamily="18" charset="0"/>
              </a:rPr>
              <a:t>MAX</a:t>
            </a:r>
            <a:r>
              <a:rPr lang="el-GR" sz="1200" dirty="0">
                <a:effectLst/>
                <a:latin typeface="Consolas" panose="020B0609020204030204" pitchFamily="49" charset="0"/>
                <a:ea typeface="Calibri" panose="020F0502020204030204" pitchFamily="34" charset="0"/>
                <a:cs typeface="Times New Roman" panose="02020603050405020304" pitchFamily="18" charset="0"/>
              </a:rPr>
              <a:t> = 170</a:t>
            </a:r>
          </a:p>
          <a:p>
            <a:pPr marL="0" indent="0">
              <a:buNone/>
            </a:pPr>
            <a:r>
              <a:rPr lang="el-GR" dirty="0"/>
              <a:t>Με αποτέλεσμα οι λειτουργίες να ελέγχονται με </a:t>
            </a:r>
            <a:r>
              <a:rPr lang="en-US" dirty="0"/>
              <a:t>“Check”</a:t>
            </a:r>
            <a:r>
              <a:rPr lang="el-GR" dirty="0"/>
              <a:t> εξίσωση για κάθε ένα αισθητήρα που σε περίπτωση λάθους, το σύστημα μπαίνει σε </a:t>
            </a:r>
            <a:r>
              <a:rPr lang="en-US" dirty="0"/>
              <a:t>Safe State.</a:t>
            </a:r>
          </a:p>
          <a:p>
            <a:pPr marL="0" indent="0">
              <a:buNone/>
            </a:pPr>
            <a:r>
              <a:rPr lang="el-GR" dirty="0"/>
              <a:t>Στην συνέχεια έχουμε και έναν άλλο αλγόριθμο που απεικονίζει τις λειτουργίες του συστήματος στην οθόνη.</a:t>
            </a:r>
          </a:p>
        </p:txBody>
      </p:sp>
      <p:sp>
        <p:nvSpPr>
          <p:cNvPr id="4" name="Θέση αριθμού διαφάνειας 3">
            <a:extLst>
              <a:ext uri="{FF2B5EF4-FFF2-40B4-BE49-F238E27FC236}">
                <a16:creationId xmlns:a16="http://schemas.microsoft.com/office/drawing/2014/main" id="{3EF93FC7-3705-E11D-63BC-55E05959F50A}"/>
              </a:ext>
            </a:extLst>
          </p:cNvPr>
          <p:cNvSpPr>
            <a:spLocks noGrp="1"/>
          </p:cNvSpPr>
          <p:nvPr>
            <p:ph type="sldNum" sz="quarter" idx="12"/>
          </p:nvPr>
        </p:nvSpPr>
        <p:spPr/>
        <p:txBody>
          <a:bodyPr/>
          <a:lstStyle/>
          <a:p>
            <a:fld id="{519954A3-9DFD-4C44-94BA-B95130A3BA1C}" type="slidenum">
              <a:rPr lang="en-US" smtClean="0"/>
              <a:t>74</a:t>
            </a:fld>
            <a:endParaRPr lang="en-US" dirty="0"/>
          </a:p>
        </p:txBody>
      </p:sp>
    </p:spTree>
    <p:extLst>
      <p:ext uri="{BB962C8B-B14F-4D97-AF65-F5344CB8AC3E}">
        <p14:creationId xmlns:p14="http://schemas.microsoft.com/office/powerpoint/2010/main" val="11888942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76C4037-D228-AB7C-1DD7-D4FFB294AF18}"/>
              </a:ext>
            </a:extLst>
          </p:cNvPr>
          <p:cNvSpPr>
            <a:spLocks noGrp="1"/>
          </p:cNvSpPr>
          <p:nvPr>
            <p:ph type="title"/>
          </p:nvPr>
        </p:nvSpPr>
        <p:spPr>
          <a:xfrm>
            <a:off x="677334" y="609600"/>
            <a:ext cx="7569044" cy="606804"/>
          </a:xfrm>
        </p:spPr>
        <p:txBody>
          <a:bodyPr>
            <a:normAutofit fontScale="90000"/>
          </a:bodyPr>
          <a:lstStyle/>
          <a:p>
            <a:r>
              <a:rPr lang="el-GR" dirty="0"/>
              <a:t>Πειραματικές Μετρήσεις (ή εκτίμηση) (1)</a:t>
            </a:r>
          </a:p>
        </p:txBody>
      </p:sp>
      <p:sp>
        <p:nvSpPr>
          <p:cNvPr id="3" name="Θέση περιεχομένου 2">
            <a:extLst>
              <a:ext uri="{FF2B5EF4-FFF2-40B4-BE49-F238E27FC236}">
                <a16:creationId xmlns:a16="http://schemas.microsoft.com/office/drawing/2014/main" id="{6E8DA0C1-F0F6-4722-51FE-4EC180079282}"/>
              </a:ext>
            </a:extLst>
          </p:cNvPr>
          <p:cNvSpPr>
            <a:spLocks noGrp="1"/>
          </p:cNvSpPr>
          <p:nvPr>
            <p:ph idx="1"/>
          </p:nvPr>
        </p:nvSpPr>
        <p:spPr>
          <a:xfrm>
            <a:off x="677334" y="1216404"/>
            <a:ext cx="8596668" cy="5503178"/>
          </a:xfrm>
        </p:spPr>
        <p:txBody>
          <a:bodyPr/>
          <a:lstStyle/>
          <a:p>
            <a:r>
              <a:rPr lang="el-GR" dirty="0"/>
              <a:t>Όπως έχουμε ορίσει και στο αλγόριθμο, για τις μετρήσεις θα έχουμε κάποια όρια που θα μας καθοδηγούν σε περιπτώσεις που έχουμε κάποιο σφάλμα. Που έτσι το σύστημα θα αλλάζει την λειτουργία του.</a:t>
            </a:r>
          </a:p>
          <a:p>
            <a:r>
              <a:rPr lang="el-GR" dirty="0"/>
              <a:t>Αν τις κοιτάξουμε καλύτερα</a:t>
            </a:r>
            <a:r>
              <a:rPr lang="en-US" dirty="0"/>
              <a:t>:</a:t>
            </a:r>
          </a:p>
          <a:p>
            <a:pPr>
              <a:buFont typeface="Wingdings" panose="05000000000000000000" pitchFamily="2" charset="2"/>
              <a:buChar char="§"/>
            </a:pPr>
            <a:r>
              <a:rPr lang="el-GR" b="1" dirty="0">
                <a:solidFill>
                  <a:schemeClr val="accent2"/>
                </a:solidFill>
              </a:rPr>
              <a:t>Αισθητήρας Θερμοκρασίας</a:t>
            </a:r>
            <a:r>
              <a:rPr lang="en-US" dirty="0"/>
              <a:t>:</a:t>
            </a:r>
            <a:r>
              <a:rPr lang="el-GR" dirty="0"/>
              <a:t>κάτω από 28</a:t>
            </a:r>
            <a:r>
              <a:rPr lang="en-US" dirty="0"/>
              <a:t>°C</a:t>
            </a:r>
            <a:r>
              <a:rPr lang="el-GR" dirty="0"/>
              <a:t> και πάνω από 44 </a:t>
            </a:r>
            <a:r>
              <a:rPr lang="en-US" dirty="0"/>
              <a:t>°C.</a:t>
            </a:r>
            <a:endParaRPr lang="el-GR" dirty="0"/>
          </a:p>
          <a:p>
            <a:pPr>
              <a:buFont typeface="Wingdings" panose="05000000000000000000" pitchFamily="2" charset="2"/>
              <a:buChar char="§"/>
            </a:pPr>
            <a:r>
              <a:rPr lang="el-GR" b="1" dirty="0">
                <a:solidFill>
                  <a:schemeClr val="accent2"/>
                </a:solidFill>
              </a:rPr>
              <a:t>Επιταχυνσιόμετρο</a:t>
            </a:r>
            <a:r>
              <a:rPr lang="en-US" dirty="0"/>
              <a:t>: </a:t>
            </a:r>
            <a:r>
              <a:rPr lang="el-GR" dirty="0"/>
              <a:t>Για τους τρεις άξονες (</a:t>
            </a:r>
            <a:r>
              <a:rPr lang="en-US" dirty="0"/>
              <a:t>X,Y,Z</a:t>
            </a:r>
            <a:r>
              <a:rPr lang="el-GR" dirty="0"/>
              <a:t>)το όριο είναι ±15</a:t>
            </a:r>
            <a:r>
              <a:rPr lang="en-US" dirty="0"/>
              <a:t>g.</a:t>
            </a:r>
          </a:p>
          <a:p>
            <a:pPr>
              <a:buFont typeface="Wingdings" panose="05000000000000000000" pitchFamily="2" charset="2"/>
              <a:buChar char="§"/>
            </a:pPr>
            <a:r>
              <a:rPr lang="el-GR" b="1" dirty="0">
                <a:solidFill>
                  <a:schemeClr val="accent2"/>
                </a:solidFill>
              </a:rPr>
              <a:t>Πιεσόμετρο</a:t>
            </a:r>
            <a:r>
              <a:rPr lang="en-US" dirty="0"/>
              <a:t>: </a:t>
            </a:r>
            <a:r>
              <a:rPr lang="el-GR" dirty="0"/>
              <a:t>Για την συστολική το εύρος </a:t>
            </a:r>
            <a:r>
              <a:rPr lang="en-US" dirty="0"/>
              <a:t>Run Mode </a:t>
            </a:r>
            <a:r>
              <a:rPr lang="el-GR" dirty="0"/>
              <a:t>είναι 0,3-0,75 και για την διαστολική 0,45-0,9.</a:t>
            </a:r>
            <a:endParaRPr lang="en-US" dirty="0"/>
          </a:p>
          <a:p>
            <a:pPr>
              <a:buFont typeface="Wingdings" panose="05000000000000000000" pitchFamily="2" charset="2"/>
              <a:buChar char="§"/>
            </a:pPr>
            <a:r>
              <a:rPr lang="el-GR" b="1" dirty="0">
                <a:solidFill>
                  <a:schemeClr val="accent2"/>
                </a:solidFill>
              </a:rPr>
              <a:t>Αισθητήρας </a:t>
            </a:r>
            <a:r>
              <a:rPr lang="en-US" b="1" dirty="0">
                <a:solidFill>
                  <a:schemeClr val="accent2"/>
                </a:solidFill>
              </a:rPr>
              <a:t>EDA</a:t>
            </a:r>
            <a:r>
              <a:rPr lang="en-US" dirty="0"/>
              <a:t>: </a:t>
            </a:r>
            <a:r>
              <a:rPr lang="el-GR" dirty="0"/>
              <a:t>Περιλαμβάνει τιμές στο εύρος 0-1023 που το εύρος μας θα είναι 0-1000.</a:t>
            </a:r>
          </a:p>
          <a:p>
            <a:pPr>
              <a:buFont typeface="Wingdings" panose="05000000000000000000" pitchFamily="2" charset="2"/>
              <a:buChar char="§"/>
            </a:pPr>
            <a:r>
              <a:rPr lang="el-GR" b="1" dirty="0">
                <a:solidFill>
                  <a:schemeClr val="accent2"/>
                </a:solidFill>
              </a:rPr>
              <a:t>Καρδιακούς Παλμούς</a:t>
            </a:r>
            <a:r>
              <a:rPr lang="en-US" dirty="0"/>
              <a:t>:</a:t>
            </a:r>
            <a:r>
              <a:rPr lang="el-GR" dirty="0"/>
              <a:t> 50-170 </a:t>
            </a:r>
            <a:r>
              <a:rPr lang="en-US" dirty="0"/>
              <a:t>BPM </a:t>
            </a:r>
            <a:r>
              <a:rPr lang="el-GR" dirty="0"/>
              <a:t>που με τα όρια περιλαμβάνει κάθε ηλικία.</a:t>
            </a:r>
            <a:endParaRPr lang="en-US" dirty="0"/>
          </a:p>
          <a:p>
            <a:pPr>
              <a:buFont typeface="Wingdings" panose="05000000000000000000" pitchFamily="2" charset="2"/>
              <a:buChar char="§"/>
            </a:pPr>
            <a:r>
              <a:rPr lang="en-US" b="1" dirty="0">
                <a:solidFill>
                  <a:schemeClr val="accent2"/>
                </a:solidFill>
              </a:rPr>
              <a:t>SpO2</a:t>
            </a:r>
            <a:r>
              <a:rPr lang="en-US" dirty="0"/>
              <a:t>: </a:t>
            </a:r>
            <a:r>
              <a:rPr lang="el-GR" dirty="0"/>
              <a:t>Το εύρος είναι σε 30%-100% περιλαμβάνοντας και τις ισχυρές καταστάσεις (βουνά, έρημος).</a:t>
            </a:r>
          </a:p>
          <a:p>
            <a:pPr marL="0" indent="0">
              <a:buNone/>
            </a:pPr>
            <a:endParaRPr lang="en-US" dirty="0"/>
          </a:p>
          <a:p>
            <a:pPr marL="0" indent="0">
              <a:buNone/>
            </a:pPr>
            <a:endParaRPr lang="el-GR" dirty="0"/>
          </a:p>
        </p:txBody>
      </p:sp>
      <p:sp>
        <p:nvSpPr>
          <p:cNvPr id="4" name="Θέση αριθμού διαφάνειας 3">
            <a:extLst>
              <a:ext uri="{FF2B5EF4-FFF2-40B4-BE49-F238E27FC236}">
                <a16:creationId xmlns:a16="http://schemas.microsoft.com/office/drawing/2014/main" id="{B3B3B5E2-001D-E997-4CE8-31E95ADE9B7F}"/>
              </a:ext>
            </a:extLst>
          </p:cNvPr>
          <p:cNvSpPr>
            <a:spLocks noGrp="1"/>
          </p:cNvSpPr>
          <p:nvPr>
            <p:ph type="sldNum" sz="quarter" idx="12"/>
          </p:nvPr>
        </p:nvSpPr>
        <p:spPr/>
        <p:txBody>
          <a:bodyPr/>
          <a:lstStyle/>
          <a:p>
            <a:fld id="{519954A3-9DFD-4C44-94BA-B95130A3BA1C}" type="slidenum">
              <a:rPr lang="en-US" smtClean="0"/>
              <a:t>75</a:t>
            </a:fld>
            <a:endParaRPr lang="en-US" dirty="0"/>
          </a:p>
        </p:txBody>
      </p:sp>
    </p:spTree>
    <p:extLst>
      <p:ext uri="{BB962C8B-B14F-4D97-AF65-F5344CB8AC3E}">
        <p14:creationId xmlns:p14="http://schemas.microsoft.com/office/powerpoint/2010/main" val="20636569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D7CD034-B09C-4BC4-C97A-3CBEB60C498F}"/>
              </a:ext>
            </a:extLst>
          </p:cNvPr>
          <p:cNvSpPr>
            <a:spLocks noGrp="1"/>
          </p:cNvSpPr>
          <p:nvPr>
            <p:ph type="title"/>
          </p:nvPr>
        </p:nvSpPr>
        <p:spPr>
          <a:xfrm>
            <a:off x="677333" y="1683391"/>
            <a:ext cx="8596667" cy="673916"/>
          </a:xfrm>
        </p:spPr>
        <p:txBody>
          <a:bodyPr>
            <a:normAutofit/>
          </a:bodyPr>
          <a:lstStyle/>
          <a:p>
            <a:r>
              <a:rPr lang="el-GR" dirty="0"/>
              <a:t>Πειραματικές Μετρήσεις (ή εκτίμηση) (2)</a:t>
            </a:r>
          </a:p>
        </p:txBody>
      </p:sp>
      <p:sp>
        <p:nvSpPr>
          <p:cNvPr id="3" name="Θέση περιεχομένου 2">
            <a:extLst>
              <a:ext uri="{FF2B5EF4-FFF2-40B4-BE49-F238E27FC236}">
                <a16:creationId xmlns:a16="http://schemas.microsoft.com/office/drawing/2014/main" id="{ECA7AA29-633B-EB7F-5E5E-45F3CBAED5D8}"/>
              </a:ext>
            </a:extLst>
          </p:cNvPr>
          <p:cNvSpPr>
            <a:spLocks noGrp="1"/>
          </p:cNvSpPr>
          <p:nvPr>
            <p:ph idx="1"/>
          </p:nvPr>
        </p:nvSpPr>
        <p:spPr>
          <a:xfrm>
            <a:off x="677334" y="2357307"/>
            <a:ext cx="8596668" cy="2910979"/>
          </a:xfrm>
        </p:spPr>
        <p:txBody>
          <a:bodyPr/>
          <a:lstStyle/>
          <a:p>
            <a:r>
              <a:rPr lang="el-GR" dirty="0"/>
              <a:t>Ο πίνακας περιλαμβάνει εκτιμήσεις δεδομένων για μελέτη περιπτώσεων με σφάλματα στο σύστημα. Τα κόκκινα γράμματα υποδεικνύουν ανωμαλίες στις μετρήσεις. Η ενεργή λειτουργία χρησιμοποιεί όλους τους αισθητήρες.</a:t>
            </a:r>
          </a:p>
          <a:p>
            <a:r>
              <a:rPr lang="el-GR" dirty="0"/>
              <a:t>Συχνά, τα σφάλματα οφείλονται σε προβλήματα καλωδίωσης, τροφοδοσίας ή φυσικής βλάβης στον αισθητήρα. </a:t>
            </a:r>
          </a:p>
          <a:p>
            <a:r>
              <a:rPr lang="el-GR" dirty="0"/>
              <a:t>Η αντιμετώπιση προβλημάτων περιλαμβάνει επιθεώρηση συνδέσεων, έλεγχο τροφοδοσίας και επικύρωση ρυθμίσεων. Σε περίπτωση πολλαπλών σφαλμάτων, ενδέχεται να χρειαστεί έρευνα στον μικροελεγκτή.</a:t>
            </a:r>
          </a:p>
          <a:p>
            <a:endParaRPr lang="el-GR" dirty="0"/>
          </a:p>
        </p:txBody>
      </p:sp>
      <p:sp>
        <p:nvSpPr>
          <p:cNvPr id="4" name="Θέση αριθμού διαφάνειας 3">
            <a:extLst>
              <a:ext uri="{FF2B5EF4-FFF2-40B4-BE49-F238E27FC236}">
                <a16:creationId xmlns:a16="http://schemas.microsoft.com/office/drawing/2014/main" id="{3AE038B8-9993-50DD-CD9C-58CB67A57082}"/>
              </a:ext>
            </a:extLst>
          </p:cNvPr>
          <p:cNvSpPr>
            <a:spLocks noGrp="1"/>
          </p:cNvSpPr>
          <p:nvPr>
            <p:ph type="sldNum" sz="quarter" idx="12"/>
          </p:nvPr>
        </p:nvSpPr>
        <p:spPr/>
        <p:txBody>
          <a:bodyPr/>
          <a:lstStyle/>
          <a:p>
            <a:fld id="{519954A3-9DFD-4C44-94BA-B95130A3BA1C}" type="slidenum">
              <a:rPr lang="en-US" smtClean="0"/>
              <a:t>76</a:t>
            </a:fld>
            <a:endParaRPr lang="en-US" dirty="0"/>
          </a:p>
        </p:txBody>
      </p:sp>
    </p:spTree>
    <p:extLst>
      <p:ext uri="{BB962C8B-B14F-4D97-AF65-F5344CB8AC3E}">
        <p14:creationId xmlns:p14="http://schemas.microsoft.com/office/powerpoint/2010/main" val="164150165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118EFF0-C0EA-F6E5-2A72-FA1D3570564E}"/>
              </a:ext>
            </a:extLst>
          </p:cNvPr>
          <p:cNvSpPr>
            <a:spLocks noGrp="1"/>
          </p:cNvSpPr>
          <p:nvPr>
            <p:ph type="title"/>
          </p:nvPr>
        </p:nvSpPr>
        <p:spPr>
          <a:xfrm>
            <a:off x="677334" y="609600"/>
            <a:ext cx="8596668" cy="707472"/>
          </a:xfrm>
        </p:spPr>
        <p:txBody>
          <a:bodyPr/>
          <a:lstStyle/>
          <a:p>
            <a:r>
              <a:rPr lang="el-GR" dirty="0"/>
              <a:t>Διαδικασίες Ελέγχου Ορθής Λειτουργίας</a:t>
            </a:r>
          </a:p>
        </p:txBody>
      </p:sp>
      <p:sp>
        <p:nvSpPr>
          <p:cNvPr id="3" name="Θέση περιεχομένου 2">
            <a:extLst>
              <a:ext uri="{FF2B5EF4-FFF2-40B4-BE49-F238E27FC236}">
                <a16:creationId xmlns:a16="http://schemas.microsoft.com/office/drawing/2014/main" id="{E35ECDF1-9145-BBDA-B80D-00CF2ED5E4CB}"/>
              </a:ext>
            </a:extLst>
          </p:cNvPr>
          <p:cNvSpPr>
            <a:spLocks noGrp="1"/>
          </p:cNvSpPr>
          <p:nvPr>
            <p:ph idx="1"/>
          </p:nvPr>
        </p:nvSpPr>
        <p:spPr>
          <a:xfrm>
            <a:off x="811558" y="1317072"/>
            <a:ext cx="8596668" cy="3880773"/>
          </a:xfrm>
        </p:spPr>
        <p:txBody>
          <a:bodyPr/>
          <a:lstStyle/>
          <a:p>
            <a:r>
              <a:rPr lang="el-GR" sz="1600" dirty="0"/>
              <a:t>Αρχικά έχουμε διάφορα σενάρια για σφάλματα που θα οδηγήσουν σε διαδικασίες ελέγχου.</a:t>
            </a:r>
          </a:p>
          <a:p>
            <a:r>
              <a:rPr lang="el-GR" sz="1600" dirty="0"/>
              <a:t>Κάθε αισθητήρας έχει κάποιες προϋποθέσεις για να μπει σε </a:t>
            </a:r>
            <a:r>
              <a:rPr lang="en-US" sz="1600" dirty="0"/>
              <a:t>Safe State.</a:t>
            </a:r>
          </a:p>
          <a:p>
            <a:r>
              <a:rPr lang="el-GR" sz="1600" dirty="0"/>
              <a:t>Τα σφάλματα μπορούν να είναι μαζικά αλλά και διακριτά.</a:t>
            </a:r>
            <a:endParaRPr lang="en-US" sz="1600" dirty="0"/>
          </a:p>
          <a:p>
            <a:r>
              <a:rPr lang="el-GR" sz="1600" dirty="0"/>
              <a:t>Οι ανεμιστήρες δημιουργούν έναν κανονικό τόπο για το σύστημα.</a:t>
            </a:r>
          </a:p>
          <a:p>
            <a:r>
              <a:rPr lang="el-GR" sz="1600" dirty="0"/>
              <a:t>Η προσομοίωση σε περιβάλλον </a:t>
            </a:r>
            <a:r>
              <a:rPr lang="en-US" sz="1600" dirty="0"/>
              <a:t>Petri:</a:t>
            </a:r>
            <a:endParaRPr lang="el-GR" sz="1600" dirty="0"/>
          </a:p>
          <a:p>
            <a:pPr marL="0" indent="0">
              <a:buNone/>
            </a:pPr>
            <a:endParaRPr lang="el-GR" dirty="0"/>
          </a:p>
        </p:txBody>
      </p:sp>
      <p:pic>
        <p:nvPicPr>
          <p:cNvPr id="4" name="Εικόνα 3">
            <a:extLst>
              <a:ext uri="{FF2B5EF4-FFF2-40B4-BE49-F238E27FC236}">
                <a16:creationId xmlns:a16="http://schemas.microsoft.com/office/drawing/2014/main" id="{4E56F5B6-E0AF-7C84-3BA3-584A47998FB8}"/>
              </a:ext>
            </a:extLst>
          </p:cNvPr>
          <p:cNvPicPr>
            <a:picLocks noChangeAspect="1"/>
          </p:cNvPicPr>
          <p:nvPr/>
        </p:nvPicPr>
        <p:blipFill>
          <a:blip r:embed="rId2"/>
          <a:stretch>
            <a:fillRect/>
          </a:stretch>
        </p:blipFill>
        <p:spPr>
          <a:xfrm>
            <a:off x="2225664" y="3429000"/>
            <a:ext cx="5274310" cy="3103245"/>
          </a:xfrm>
          <a:prstGeom prst="rect">
            <a:avLst/>
          </a:prstGeom>
        </p:spPr>
      </p:pic>
      <p:sp>
        <p:nvSpPr>
          <p:cNvPr id="5" name="Θέση αριθμού διαφάνειας 4">
            <a:extLst>
              <a:ext uri="{FF2B5EF4-FFF2-40B4-BE49-F238E27FC236}">
                <a16:creationId xmlns:a16="http://schemas.microsoft.com/office/drawing/2014/main" id="{2CD9A132-FE31-28AC-3D40-4D20561AE2A5}"/>
              </a:ext>
            </a:extLst>
          </p:cNvPr>
          <p:cNvSpPr>
            <a:spLocks noGrp="1"/>
          </p:cNvSpPr>
          <p:nvPr>
            <p:ph type="sldNum" sz="quarter" idx="12"/>
          </p:nvPr>
        </p:nvSpPr>
        <p:spPr/>
        <p:txBody>
          <a:bodyPr/>
          <a:lstStyle/>
          <a:p>
            <a:fld id="{519954A3-9DFD-4C44-94BA-B95130A3BA1C}" type="slidenum">
              <a:rPr lang="en-US" smtClean="0"/>
              <a:t>77</a:t>
            </a:fld>
            <a:endParaRPr lang="en-US" dirty="0"/>
          </a:p>
        </p:txBody>
      </p:sp>
    </p:spTree>
    <p:extLst>
      <p:ext uri="{BB962C8B-B14F-4D97-AF65-F5344CB8AC3E}">
        <p14:creationId xmlns:p14="http://schemas.microsoft.com/office/powerpoint/2010/main" val="11360483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B5EB013-0A57-5264-3045-AA14E8ABC002}"/>
              </a:ext>
            </a:extLst>
          </p:cNvPr>
          <p:cNvSpPr>
            <a:spLocks noGrp="1"/>
          </p:cNvSpPr>
          <p:nvPr>
            <p:ph type="title"/>
          </p:nvPr>
        </p:nvSpPr>
        <p:spPr/>
        <p:txBody>
          <a:bodyPr/>
          <a:lstStyle/>
          <a:p>
            <a:r>
              <a:rPr lang="el-GR" dirty="0"/>
              <a:t>Παράδειγμα </a:t>
            </a:r>
            <a:r>
              <a:rPr lang="en-US" dirty="0"/>
              <a:t>Run Mode</a:t>
            </a:r>
            <a:endParaRPr lang="el-GR" dirty="0"/>
          </a:p>
        </p:txBody>
      </p:sp>
      <p:pic>
        <p:nvPicPr>
          <p:cNvPr id="4" name="Θέση περιεχομένου 3">
            <a:extLst>
              <a:ext uri="{FF2B5EF4-FFF2-40B4-BE49-F238E27FC236}">
                <a16:creationId xmlns:a16="http://schemas.microsoft.com/office/drawing/2014/main" id="{033AA7DC-0D5F-1C93-DC1D-3BFAC92B00E2}"/>
              </a:ext>
            </a:extLst>
          </p:cNvPr>
          <p:cNvPicPr>
            <a:picLocks noGrp="1" noChangeAspect="1"/>
          </p:cNvPicPr>
          <p:nvPr>
            <p:ph idx="1"/>
          </p:nvPr>
        </p:nvPicPr>
        <p:blipFill>
          <a:blip r:embed="rId2"/>
          <a:stretch>
            <a:fillRect/>
          </a:stretch>
        </p:blipFill>
        <p:spPr>
          <a:xfrm>
            <a:off x="1691119" y="1488281"/>
            <a:ext cx="6569098" cy="3881437"/>
          </a:xfrm>
          <a:prstGeom prst="rect">
            <a:avLst/>
          </a:prstGeom>
        </p:spPr>
      </p:pic>
      <p:sp>
        <p:nvSpPr>
          <p:cNvPr id="3" name="Θέση αριθμού διαφάνειας 2">
            <a:extLst>
              <a:ext uri="{FF2B5EF4-FFF2-40B4-BE49-F238E27FC236}">
                <a16:creationId xmlns:a16="http://schemas.microsoft.com/office/drawing/2014/main" id="{4ABC0075-E519-E949-C172-F74E8F91BC43}"/>
              </a:ext>
            </a:extLst>
          </p:cNvPr>
          <p:cNvSpPr>
            <a:spLocks noGrp="1"/>
          </p:cNvSpPr>
          <p:nvPr>
            <p:ph type="sldNum" sz="quarter" idx="12"/>
          </p:nvPr>
        </p:nvSpPr>
        <p:spPr/>
        <p:txBody>
          <a:bodyPr/>
          <a:lstStyle/>
          <a:p>
            <a:fld id="{519954A3-9DFD-4C44-94BA-B95130A3BA1C}" type="slidenum">
              <a:rPr lang="en-US" smtClean="0"/>
              <a:t>78</a:t>
            </a:fld>
            <a:endParaRPr lang="en-US" dirty="0"/>
          </a:p>
        </p:txBody>
      </p:sp>
    </p:spTree>
    <p:extLst>
      <p:ext uri="{BB962C8B-B14F-4D97-AF65-F5344CB8AC3E}">
        <p14:creationId xmlns:p14="http://schemas.microsoft.com/office/powerpoint/2010/main" val="28509887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7F2FC6D-8158-3B1C-D024-029A67828D57}"/>
              </a:ext>
            </a:extLst>
          </p:cNvPr>
          <p:cNvSpPr>
            <a:spLocks noGrp="1"/>
          </p:cNvSpPr>
          <p:nvPr>
            <p:ph type="title"/>
          </p:nvPr>
        </p:nvSpPr>
        <p:spPr>
          <a:xfrm>
            <a:off x="677334" y="609600"/>
            <a:ext cx="7082483" cy="673916"/>
          </a:xfrm>
        </p:spPr>
        <p:txBody>
          <a:bodyPr/>
          <a:lstStyle/>
          <a:p>
            <a:r>
              <a:rPr lang="el-GR" dirty="0"/>
              <a:t>Παράδειγμα είσοδος </a:t>
            </a:r>
            <a:r>
              <a:rPr lang="en-US" dirty="0"/>
              <a:t>Safe State</a:t>
            </a:r>
            <a:endParaRPr lang="el-GR" dirty="0"/>
          </a:p>
        </p:txBody>
      </p:sp>
      <p:pic>
        <p:nvPicPr>
          <p:cNvPr id="4" name="Θέση περιεχομένου 3">
            <a:extLst>
              <a:ext uri="{FF2B5EF4-FFF2-40B4-BE49-F238E27FC236}">
                <a16:creationId xmlns:a16="http://schemas.microsoft.com/office/drawing/2014/main" id="{2409EF7A-177D-66E8-6833-697E86CABF54}"/>
              </a:ext>
            </a:extLst>
          </p:cNvPr>
          <p:cNvPicPr>
            <a:picLocks noGrp="1" noChangeAspect="1"/>
          </p:cNvPicPr>
          <p:nvPr>
            <p:ph idx="1"/>
          </p:nvPr>
        </p:nvPicPr>
        <p:blipFill>
          <a:blip r:embed="rId2"/>
          <a:stretch>
            <a:fillRect/>
          </a:stretch>
        </p:blipFill>
        <p:spPr>
          <a:xfrm>
            <a:off x="1821644" y="1488281"/>
            <a:ext cx="6493307" cy="3881437"/>
          </a:xfrm>
          <a:prstGeom prst="rect">
            <a:avLst/>
          </a:prstGeom>
        </p:spPr>
      </p:pic>
      <p:sp>
        <p:nvSpPr>
          <p:cNvPr id="3" name="Θέση αριθμού διαφάνειας 2">
            <a:extLst>
              <a:ext uri="{FF2B5EF4-FFF2-40B4-BE49-F238E27FC236}">
                <a16:creationId xmlns:a16="http://schemas.microsoft.com/office/drawing/2014/main" id="{7DF69F1B-AA4C-9BFB-3365-20649A989CC4}"/>
              </a:ext>
            </a:extLst>
          </p:cNvPr>
          <p:cNvSpPr>
            <a:spLocks noGrp="1"/>
          </p:cNvSpPr>
          <p:nvPr>
            <p:ph type="sldNum" sz="quarter" idx="12"/>
          </p:nvPr>
        </p:nvSpPr>
        <p:spPr/>
        <p:txBody>
          <a:bodyPr/>
          <a:lstStyle/>
          <a:p>
            <a:fld id="{519954A3-9DFD-4C44-94BA-B95130A3BA1C}" type="slidenum">
              <a:rPr lang="en-US" smtClean="0"/>
              <a:t>79</a:t>
            </a:fld>
            <a:endParaRPr lang="en-US" dirty="0"/>
          </a:p>
        </p:txBody>
      </p:sp>
    </p:spTree>
    <p:extLst>
      <p:ext uri="{BB962C8B-B14F-4D97-AF65-F5344CB8AC3E}">
        <p14:creationId xmlns:p14="http://schemas.microsoft.com/office/powerpoint/2010/main" val="191687027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63929F0-830E-B069-B0A0-543B7742E724}"/>
              </a:ext>
            </a:extLst>
          </p:cNvPr>
          <p:cNvSpPr>
            <a:spLocks noGrp="1"/>
          </p:cNvSpPr>
          <p:nvPr>
            <p:ph type="title"/>
          </p:nvPr>
        </p:nvSpPr>
        <p:spPr/>
        <p:txBody>
          <a:bodyPr/>
          <a:lstStyle/>
          <a:p>
            <a:r>
              <a:rPr lang="el-GR" dirty="0"/>
              <a:t>Βελτιστοποιήσεις (ή προτάσεις)</a:t>
            </a:r>
          </a:p>
        </p:txBody>
      </p:sp>
      <p:sp>
        <p:nvSpPr>
          <p:cNvPr id="3" name="Θέση περιεχομένου 2">
            <a:extLst>
              <a:ext uri="{FF2B5EF4-FFF2-40B4-BE49-F238E27FC236}">
                <a16:creationId xmlns:a16="http://schemas.microsoft.com/office/drawing/2014/main" id="{82243AEB-C691-3471-ED59-7F5B4AC98FFC}"/>
              </a:ext>
            </a:extLst>
          </p:cNvPr>
          <p:cNvSpPr>
            <a:spLocks noGrp="1"/>
          </p:cNvSpPr>
          <p:nvPr>
            <p:ph idx="1"/>
          </p:nvPr>
        </p:nvSpPr>
        <p:spPr>
          <a:xfrm>
            <a:off x="677334" y="1270000"/>
            <a:ext cx="8596668" cy="5374081"/>
          </a:xfrm>
        </p:spPr>
        <p:txBody>
          <a:bodyPr/>
          <a:lstStyle/>
          <a:p>
            <a:r>
              <a:rPr lang="el-GR" dirty="0"/>
              <a:t>Η βελτίωση που θα κάνουμε θέλουμε να είναι έστω και για 2%.</a:t>
            </a:r>
          </a:p>
          <a:p>
            <a:r>
              <a:rPr lang="el-GR" dirty="0"/>
              <a:t>Μία νέα λειτουργία που ουσιαστικά θα χαλαρώσει την λειτουργία του συστήματος.</a:t>
            </a:r>
          </a:p>
          <a:p>
            <a:r>
              <a:rPr lang="el-GR" dirty="0"/>
              <a:t>Έχουμε το </a:t>
            </a:r>
            <a:r>
              <a:rPr lang="el-GR" dirty="0" err="1"/>
              <a:t>Standby</a:t>
            </a:r>
            <a:r>
              <a:rPr lang="el-GR" dirty="0"/>
              <a:t> </a:t>
            </a:r>
            <a:r>
              <a:rPr lang="el-GR" dirty="0" err="1"/>
              <a:t>Mode</a:t>
            </a:r>
            <a:r>
              <a:rPr lang="el-GR" dirty="0"/>
              <a:t> που ενεργοποιείται μόνο όταν εισέρχεστε σε κατάσταση αναμονής. Η έξοδος του ρυθμιστή είναι σε υψηλή σύνθετη αντίσταση και το κύκλωμα του πυρήνα απενεργοποιείται, προκαλώντας μηδέν κατανάλωση</a:t>
            </a:r>
            <a:r>
              <a:rPr lang="en-US" dirty="0"/>
              <a:t>.</a:t>
            </a:r>
            <a:r>
              <a:rPr lang="el-GR" dirty="0"/>
              <a:t> Τα περιεχόμενα των </a:t>
            </a:r>
            <a:r>
              <a:rPr lang="el-GR" dirty="0" err="1"/>
              <a:t>καταχωρητών</a:t>
            </a:r>
            <a:r>
              <a:rPr lang="el-GR" dirty="0"/>
              <a:t> και της SRAM χάνονται. </a:t>
            </a:r>
          </a:p>
          <a:p>
            <a:r>
              <a:rPr lang="el-GR" dirty="0"/>
              <a:t>Μία λειτουργία αδράνειας του συστήματος σε περιπτώσεις αναμονής</a:t>
            </a:r>
          </a:p>
          <a:p>
            <a:r>
              <a:rPr lang="el-GR" dirty="0"/>
              <a:t>Έχουμε το </a:t>
            </a:r>
            <a:r>
              <a:rPr lang="el-GR" dirty="0" err="1"/>
              <a:t>Run</a:t>
            </a:r>
            <a:r>
              <a:rPr lang="el-GR" dirty="0"/>
              <a:t> </a:t>
            </a:r>
            <a:r>
              <a:rPr lang="el-GR" dirty="0" err="1"/>
              <a:t>Mode</a:t>
            </a:r>
            <a:r>
              <a:rPr lang="el-GR" dirty="0"/>
              <a:t> ως καθοριστική λειτουργία για το σε ποια λειτουργία θα είναι το σύστημα. Δηλαδή, δεν υπάρχει η επικοινωνία του </a:t>
            </a:r>
            <a:r>
              <a:rPr lang="el-GR" dirty="0" err="1"/>
              <a:t>Safe</a:t>
            </a:r>
            <a:r>
              <a:rPr lang="el-GR" dirty="0"/>
              <a:t> </a:t>
            </a:r>
            <a:r>
              <a:rPr lang="el-GR" dirty="0" err="1"/>
              <a:t>State</a:t>
            </a:r>
            <a:r>
              <a:rPr lang="el-GR" dirty="0"/>
              <a:t> και </a:t>
            </a:r>
            <a:r>
              <a:rPr lang="el-GR" dirty="0" err="1"/>
              <a:t>Standby</a:t>
            </a:r>
            <a:r>
              <a:rPr lang="el-GR" dirty="0"/>
              <a:t> </a:t>
            </a:r>
            <a:r>
              <a:rPr lang="el-GR" dirty="0" err="1"/>
              <a:t>mode</a:t>
            </a:r>
            <a:r>
              <a:rPr lang="el-GR" dirty="0"/>
              <a:t>.</a:t>
            </a:r>
          </a:p>
          <a:p>
            <a:r>
              <a:rPr lang="el-GR" dirty="0"/>
              <a:t>Διάγραμμα μεταβάσεων λειτουργιών</a:t>
            </a:r>
            <a:r>
              <a:rPr lang="en-US" dirty="0"/>
              <a:t>:</a:t>
            </a:r>
          </a:p>
        </p:txBody>
      </p:sp>
      <p:pic>
        <p:nvPicPr>
          <p:cNvPr id="4" name="Εικόνα 3">
            <a:extLst>
              <a:ext uri="{FF2B5EF4-FFF2-40B4-BE49-F238E27FC236}">
                <a16:creationId xmlns:a16="http://schemas.microsoft.com/office/drawing/2014/main" id="{36356836-D29F-3922-397C-774B173284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7332" y="4927601"/>
            <a:ext cx="2676525" cy="1438275"/>
          </a:xfrm>
          <a:prstGeom prst="rect">
            <a:avLst/>
          </a:prstGeom>
        </p:spPr>
      </p:pic>
      <p:sp>
        <p:nvSpPr>
          <p:cNvPr id="5" name="Θέση αριθμού διαφάνειας 4">
            <a:extLst>
              <a:ext uri="{FF2B5EF4-FFF2-40B4-BE49-F238E27FC236}">
                <a16:creationId xmlns:a16="http://schemas.microsoft.com/office/drawing/2014/main" id="{56F952F3-EC53-17F7-7CC2-CF35E5BFB5F1}"/>
              </a:ext>
            </a:extLst>
          </p:cNvPr>
          <p:cNvSpPr>
            <a:spLocks noGrp="1"/>
          </p:cNvSpPr>
          <p:nvPr>
            <p:ph type="sldNum" sz="quarter" idx="12"/>
          </p:nvPr>
        </p:nvSpPr>
        <p:spPr/>
        <p:txBody>
          <a:bodyPr/>
          <a:lstStyle/>
          <a:p>
            <a:fld id="{519954A3-9DFD-4C44-94BA-B95130A3BA1C}" type="slidenum">
              <a:rPr lang="en-US" smtClean="0"/>
              <a:t>80</a:t>
            </a:fld>
            <a:endParaRPr lang="en-US" dirty="0"/>
          </a:p>
        </p:txBody>
      </p:sp>
    </p:spTree>
    <p:extLst>
      <p:ext uri="{BB962C8B-B14F-4D97-AF65-F5344CB8AC3E}">
        <p14:creationId xmlns:p14="http://schemas.microsoft.com/office/powerpoint/2010/main" val="7508585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C304A019-A1ED-4D76-C9CA-C8492DAE30A8}"/>
              </a:ext>
            </a:extLst>
          </p:cNvPr>
          <p:cNvSpPr>
            <a:spLocks noGrp="1"/>
          </p:cNvSpPr>
          <p:nvPr>
            <p:ph type="title"/>
          </p:nvPr>
        </p:nvSpPr>
        <p:spPr>
          <a:xfrm>
            <a:off x="677334" y="609600"/>
            <a:ext cx="6059026" cy="715861"/>
          </a:xfrm>
        </p:spPr>
        <p:txBody>
          <a:bodyPr/>
          <a:lstStyle/>
          <a:p>
            <a:r>
              <a:rPr lang="el-GR" dirty="0"/>
              <a:t>Μελλοντικές Τροποποιήσεις</a:t>
            </a:r>
          </a:p>
        </p:txBody>
      </p:sp>
      <p:sp>
        <p:nvSpPr>
          <p:cNvPr id="3" name="Θέση περιεχομένου 2">
            <a:extLst>
              <a:ext uri="{FF2B5EF4-FFF2-40B4-BE49-F238E27FC236}">
                <a16:creationId xmlns:a16="http://schemas.microsoft.com/office/drawing/2014/main" id="{1AA76DDF-943F-6AD4-4E82-FE364504C187}"/>
              </a:ext>
            </a:extLst>
          </p:cNvPr>
          <p:cNvSpPr>
            <a:spLocks noGrp="1"/>
          </p:cNvSpPr>
          <p:nvPr>
            <p:ph idx="1"/>
          </p:nvPr>
        </p:nvSpPr>
        <p:spPr>
          <a:xfrm>
            <a:off x="700327" y="1325461"/>
            <a:ext cx="8596668" cy="5159229"/>
          </a:xfrm>
        </p:spPr>
        <p:txBody>
          <a:bodyPr/>
          <a:lstStyle/>
          <a:p>
            <a:r>
              <a:rPr lang="el-GR" dirty="0"/>
              <a:t>Αλγόριθμο που ειδοποιεί το χρήστη σε περίπτωση που κάποιος αισθητήρας είναι σε κατεύθυνση να χαλάσει. Αυτός ο αλγόριθμος θα δούλευε με την έναρξη του συστήματος και θα ειδοποιούσε άμεσα το χρήστη. Με αυτό τον τρόπο ο χρήστης θα μπορεί να εξασφαλίσει και τους άλλες αισθητήρες πριν δημιουργήσει μία άχρηστη παραλλαγή και σε άλλα υποσυστήματα.</a:t>
            </a:r>
          </a:p>
          <a:p>
            <a:r>
              <a:rPr lang="el-GR" dirty="0"/>
              <a:t>Μεθοδολογίες και λειτουργίες </a:t>
            </a:r>
            <a:r>
              <a:rPr lang="en-US" dirty="0"/>
              <a:t>testing </a:t>
            </a:r>
            <a:r>
              <a:rPr lang="el-GR" dirty="0"/>
              <a:t>που θα εξασφαλίζει την λειτουργικότητα του συστήματος. Ένα καθημερινό παράδειγμα είναι το πληκτρολόγιο κινητού.</a:t>
            </a:r>
          </a:p>
          <a:p>
            <a:r>
              <a:rPr lang="el-GR" dirty="0"/>
              <a:t>Λεπτομερείς επιφάνεια </a:t>
            </a:r>
            <a:r>
              <a:rPr lang="en-US" dirty="0"/>
              <a:t>PCB</a:t>
            </a:r>
            <a:r>
              <a:rPr lang="el-GR" dirty="0"/>
              <a:t> με κάθε καλωδίωση και υποσυστήματος. </a:t>
            </a:r>
          </a:p>
        </p:txBody>
      </p:sp>
      <p:sp>
        <p:nvSpPr>
          <p:cNvPr id="4" name="Θέση αριθμού διαφάνειας 3">
            <a:extLst>
              <a:ext uri="{FF2B5EF4-FFF2-40B4-BE49-F238E27FC236}">
                <a16:creationId xmlns:a16="http://schemas.microsoft.com/office/drawing/2014/main" id="{DC4C871D-8301-1966-3014-5F416F9AEECE}"/>
              </a:ext>
            </a:extLst>
          </p:cNvPr>
          <p:cNvSpPr>
            <a:spLocks noGrp="1"/>
          </p:cNvSpPr>
          <p:nvPr>
            <p:ph type="sldNum" sz="quarter" idx="12"/>
          </p:nvPr>
        </p:nvSpPr>
        <p:spPr/>
        <p:txBody>
          <a:bodyPr/>
          <a:lstStyle/>
          <a:p>
            <a:fld id="{519954A3-9DFD-4C44-94BA-B95130A3BA1C}" type="slidenum">
              <a:rPr lang="en-US" smtClean="0"/>
              <a:t>81</a:t>
            </a:fld>
            <a:endParaRPr lang="en-US" dirty="0"/>
          </a:p>
        </p:txBody>
      </p:sp>
    </p:spTree>
    <p:extLst>
      <p:ext uri="{BB962C8B-B14F-4D97-AF65-F5344CB8AC3E}">
        <p14:creationId xmlns:p14="http://schemas.microsoft.com/office/powerpoint/2010/main" val="410619416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7F1F625-DFD1-D1F7-C912-B71A25156122}"/>
              </a:ext>
            </a:extLst>
          </p:cNvPr>
          <p:cNvSpPr>
            <a:spLocks noGrp="1"/>
          </p:cNvSpPr>
          <p:nvPr>
            <p:ph type="title"/>
          </p:nvPr>
        </p:nvSpPr>
        <p:spPr>
          <a:xfrm>
            <a:off x="733883" y="139817"/>
            <a:ext cx="2946710" cy="673916"/>
          </a:xfrm>
        </p:spPr>
        <p:txBody>
          <a:bodyPr/>
          <a:lstStyle/>
          <a:p>
            <a:r>
              <a:rPr lang="el-GR" dirty="0"/>
              <a:t>Βιβλιογραφία</a:t>
            </a:r>
          </a:p>
        </p:txBody>
      </p:sp>
      <p:sp>
        <p:nvSpPr>
          <p:cNvPr id="3" name="Θέση περιεχομένου 2">
            <a:extLst>
              <a:ext uri="{FF2B5EF4-FFF2-40B4-BE49-F238E27FC236}">
                <a16:creationId xmlns:a16="http://schemas.microsoft.com/office/drawing/2014/main" id="{BCDB6EB1-C811-4090-69F2-1692AE03D72A}"/>
              </a:ext>
            </a:extLst>
          </p:cNvPr>
          <p:cNvSpPr>
            <a:spLocks noGrp="1"/>
          </p:cNvSpPr>
          <p:nvPr>
            <p:ph idx="1"/>
          </p:nvPr>
        </p:nvSpPr>
        <p:spPr>
          <a:xfrm>
            <a:off x="733883" y="813733"/>
            <a:ext cx="8596668" cy="5494789"/>
          </a:xfrm>
        </p:spPr>
        <p:txBody>
          <a:bodyPr>
            <a:normAutofit fontScale="62500" lnSpcReduction="20000"/>
          </a:bodyPr>
          <a:lstStyle/>
          <a:p>
            <a:pPr marL="0" indent="0">
              <a:buNone/>
            </a:pPr>
            <a:r>
              <a:rPr lang="en-US" dirty="0"/>
              <a:t>1. </a:t>
            </a:r>
            <a:r>
              <a:rPr lang="en-US" dirty="0" err="1"/>
              <a:t>STMicroelectonics</a:t>
            </a:r>
            <a:r>
              <a:rPr lang="en-US" dirty="0"/>
              <a:t> (2022): STM32F722xx STM32F723xx Data Sheet, Arm® Cortex®-M7 32b MCU+FPU, 462DMIPS, up to 512KB Flash 256+16+4KB RAM, USB OTG HS/FS, 18 TIMs, 3 ADCs, 21 com IF.</a:t>
            </a:r>
          </a:p>
          <a:p>
            <a:pPr marL="0" indent="0">
              <a:buNone/>
            </a:pPr>
            <a:r>
              <a:rPr lang="en-US" dirty="0"/>
              <a:t>2. Analog Devices Inc. (2022): Data Sheet ADXL345, 3-Axis, ±2 g/±4 g/±8 g/±16 g Digital Accelerometer. One Analog Way, Wilmington, MA 01887 U.S.A. </a:t>
            </a:r>
          </a:p>
          <a:p>
            <a:pPr marL="0" indent="0">
              <a:buNone/>
            </a:pPr>
            <a:r>
              <a:rPr lang="en-US" dirty="0"/>
              <a:t>3. </a:t>
            </a:r>
            <a:r>
              <a:rPr lang="en-US" dirty="0" err="1"/>
              <a:t>Espressif</a:t>
            </a:r>
            <a:r>
              <a:rPr lang="en-US" dirty="0"/>
              <a:t> Systems, (2020): ESP8266 Technical Reference. China. </a:t>
            </a:r>
          </a:p>
          <a:p>
            <a:pPr marL="0" indent="0">
              <a:buNone/>
            </a:pPr>
            <a:r>
              <a:rPr lang="en-US" dirty="0"/>
              <a:t>4. Dallas Semiconductor/Analog Devices Inc. (2019): DS18B20 Programmable Resolution 1-Wire® Digital Thermometer. Arizona, USA. </a:t>
            </a:r>
          </a:p>
          <a:p>
            <a:pPr marL="0" indent="0">
              <a:buNone/>
            </a:pPr>
            <a:r>
              <a:rPr lang="en-US" dirty="0"/>
              <a:t>5.East Rising (2013). ER-TFTM050-3 TFT LCD Module. China </a:t>
            </a:r>
          </a:p>
          <a:p>
            <a:pPr marL="0" indent="0">
              <a:buNone/>
            </a:pPr>
            <a:r>
              <a:rPr lang="en-US" dirty="0"/>
              <a:t>6. SanDisk (2019): SanDisk Ultra </a:t>
            </a:r>
            <a:r>
              <a:rPr lang="en-US" dirty="0" err="1"/>
              <a:t>microSDHC</a:t>
            </a:r>
            <a:r>
              <a:rPr lang="en-US" dirty="0"/>
              <a:t>™ &amp; </a:t>
            </a:r>
            <a:r>
              <a:rPr lang="en-US" dirty="0" err="1"/>
              <a:t>microSDXC</a:t>
            </a:r>
            <a:r>
              <a:rPr lang="en-US" dirty="0"/>
              <a:t>® UHS-I Cards. California, USA. </a:t>
            </a:r>
          </a:p>
          <a:p>
            <a:pPr marL="0" indent="0">
              <a:buNone/>
            </a:pPr>
            <a:r>
              <a:rPr lang="en-US" dirty="0"/>
              <a:t>7. Maxim Integrated (2018). High-Sensitivity Pulse Oximeter and Heart-Rate Sensor for Wearable Health (MAX30102). California, USA. </a:t>
            </a:r>
          </a:p>
          <a:p>
            <a:pPr marL="0" indent="0">
              <a:buNone/>
            </a:pPr>
            <a:r>
              <a:rPr lang="en-US" dirty="0"/>
              <a:t>8. Texas Instruments (2014). TI Designs Ultralow-Power Blood Pressure and Heart Rate Monitor. Texas, USA</a:t>
            </a:r>
          </a:p>
          <a:p>
            <a:pPr marL="0" indent="0">
              <a:buNone/>
            </a:pPr>
            <a:r>
              <a:rPr lang="en-US" dirty="0"/>
              <a:t>9. </a:t>
            </a:r>
            <a:r>
              <a:rPr lang="en-US" dirty="0" err="1"/>
              <a:t>Jiankun</a:t>
            </a:r>
            <a:r>
              <a:rPr lang="en-US" dirty="0"/>
              <a:t> Liu, Hao-Min Cheng, Chen-Huan Chen, Shih-Hsien Sung, </a:t>
            </a:r>
            <a:r>
              <a:rPr lang="en-US" dirty="0" err="1"/>
              <a:t>Jin</a:t>
            </a:r>
            <a:r>
              <a:rPr lang="en-US" dirty="0"/>
              <a:t>-Oh Hahn (Member, IEEE), and Ramakrishna </a:t>
            </a:r>
            <a:r>
              <a:rPr lang="en-US" dirty="0" err="1"/>
              <a:t>Mukkamala</a:t>
            </a:r>
            <a:r>
              <a:rPr lang="en-US" dirty="0"/>
              <a:t>, (Member, IEEE) (2017). Patient-Specific </a:t>
            </a:r>
            <a:r>
              <a:rPr lang="en-US" dirty="0" err="1"/>
              <a:t>Oscillometric</a:t>
            </a:r>
            <a:r>
              <a:rPr lang="en-US" dirty="0"/>
              <a:t> Blood Pressure Measurement: Validation for Accuracy and Repeatability. IEEE Journal of Translational Engineering in Health and Medicine. </a:t>
            </a:r>
          </a:p>
          <a:p>
            <a:pPr marL="0" indent="0">
              <a:buNone/>
            </a:pPr>
            <a:r>
              <a:rPr lang="en-US" dirty="0"/>
              <a:t>10. </a:t>
            </a:r>
            <a:r>
              <a:rPr lang="en-US" dirty="0" err="1"/>
              <a:t>SunonWealth</a:t>
            </a:r>
            <a:r>
              <a:rPr lang="en-US" dirty="0"/>
              <a:t> Electric Machine Industry Co., Ltd. (2016). 20x20x8mm. DC Brushless Fan &amp; Blower. Kaohsiung, Taiwan.</a:t>
            </a:r>
          </a:p>
          <a:p>
            <a:pPr marL="0" indent="0">
              <a:buNone/>
            </a:pPr>
            <a:r>
              <a:rPr lang="en-US" dirty="0"/>
              <a:t>11. Amir </a:t>
            </a:r>
            <a:r>
              <a:rPr lang="en-US" dirty="0" err="1"/>
              <a:t>Hassani</a:t>
            </a:r>
            <a:r>
              <a:rPr lang="en-US" dirty="0"/>
              <a:t> </a:t>
            </a:r>
            <a:r>
              <a:rPr lang="en-US" dirty="0" err="1"/>
              <a:t>Karbasi</a:t>
            </a:r>
            <a:r>
              <a:rPr lang="en-US" dirty="0"/>
              <a:t> and Reza Ebrahimi </a:t>
            </a:r>
            <a:r>
              <a:rPr lang="en-US" dirty="0" err="1"/>
              <a:t>Atani</a:t>
            </a:r>
            <a:r>
              <a:rPr lang="en-US" dirty="0"/>
              <a:t> (2013): Application of Dominating Sets in Wireless Sensor Networks. International Journal of Security and Its Applications.</a:t>
            </a:r>
          </a:p>
          <a:p>
            <a:pPr marL="0" indent="0">
              <a:buNone/>
            </a:pPr>
            <a:r>
              <a:rPr lang="en-US" dirty="0"/>
              <a:t>12. Mohamed E. Issa, Ahmed M. Helmi, Mohammed A. A. Al-</a:t>
            </a:r>
            <a:r>
              <a:rPr lang="en-US" dirty="0" err="1"/>
              <a:t>Qaness</a:t>
            </a:r>
            <a:r>
              <a:rPr lang="en-US" dirty="0"/>
              <a:t>, Abdelghani </a:t>
            </a:r>
            <a:r>
              <a:rPr lang="en-US" dirty="0" err="1"/>
              <a:t>Dahou</a:t>
            </a:r>
            <a:r>
              <a:rPr lang="en-US" dirty="0"/>
              <a:t>, Mohamed Abd </a:t>
            </a:r>
            <a:r>
              <a:rPr lang="en-US" dirty="0" err="1"/>
              <a:t>Elaziz</a:t>
            </a:r>
            <a:r>
              <a:rPr lang="en-US" dirty="0"/>
              <a:t> and </a:t>
            </a:r>
            <a:r>
              <a:rPr lang="en-US" dirty="0" err="1"/>
              <a:t>Robertas</a:t>
            </a:r>
            <a:r>
              <a:rPr lang="en-US" dirty="0"/>
              <a:t> </a:t>
            </a:r>
            <a:r>
              <a:rPr lang="en-US" dirty="0" err="1"/>
              <a:t>Damaševicius</a:t>
            </a:r>
            <a:r>
              <a:rPr lang="en-US" dirty="0"/>
              <a:t> (2022). Human Activity Recognition Based on Embedded Sensor Data Fusion for the Internet of Healthcare Things. Healthcare Journal.</a:t>
            </a:r>
          </a:p>
          <a:p>
            <a:pPr marL="0" indent="0">
              <a:buNone/>
            </a:pPr>
            <a:r>
              <a:rPr lang="en-US" dirty="0"/>
              <a:t>13. Silicon Labs (2021). WF121 Wi-Fi MODULE. Austin, Texas, USA.</a:t>
            </a:r>
          </a:p>
          <a:p>
            <a:pPr marL="0" indent="0">
              <a:buNone/>
            </a:pPr>
            <a:r>
              <a:rPr lang="en-US" dirty="0"/>
              <a:t>14. PLUX – Wireless </a:t>
            </a:r>
            <a:r>
              <a:rPr lang="en-US" dirty="0" err="1"/>
              <a:t>Biosignals</a:t>
            </a:r>
            <a:r>
              <a:rPr lang="en-US" dirty="0"/>
              <a:t>, S.A. (2020): Electrodermal Activity (EDA) Sensor Datasheet (EMG 03092020). Av. 5 de </a:t>
            </a:r>
            <a:r>
              <a:rPr lang="en-US" dirty="0" err="1"/>
              <a:t>Outubro</a:t>
            </a:r>
            <a:r>
              <a:rPr lang="en-US" dirty="0"/>
              <a:t>, n. 70 – 2. 1050-059 Lisbon, Portugal.</a:t>
            </a:r>
          </a:p>
          <a:p>
            <a:pPr marL="0" indent="0">
              <a:buNone/>
            </a:pPr>
            <a:r>
              <a:rPr lang="en-US" dirty="0"/>
              <a:t>15. Fujikura (2014). Messrs. Non Invasive Blood Pressure Monitors. (No. V-70002). </a:t>
            </a:r>
            <a:r>
              <a:rPr lang="en-US" dirty="0" err="1"/>
              <a:t>Servoflo</a:t>
            </a:r>
            <a:r>
              <a:rPr lang="en-US" dirty="0"/>
              <a:t> Corporation, 75 Allen Street.</a:t>
            </a:r>
          </a:p>
          <a:p>
            <a:pPr marL="0" indent="0">
              <a:buNone/>
            </a:pPr>
            <a:r>
              <a:rPr lang="en-US" dirty="0"/>
              <a:t>16. </a:t>
            </a:r>
            <a:r>
              <a:rPr lang="en-US" dirty="0" err="1"/>
              <a:t>Melexis</a:t>
            </a:r>
            <a:r>
              <a:rPr lang="en-US" dirty="0"/>
              <a:t> (2013). MLX90614 family Single and Dual Zone Infra Red Thermometer in TO-39. </a:t>
            </a:r>
            <a:r>
              <a:rPr lang="en-US" dirty="0" err="1"/>
              <a:t>Ieper,Belgium</a:t>
            </a:r>
            <a:r>
              <a:rPr lang="en-US" dirty="0"/>
              <a:t>.</a:t>
            </a:r>
          </a:p>
          <a:p>
            <a:pPr marL="0" indent="0">
              <a:buNone/>
            </a:pPr>
            <a:r>
              <a:rPr lang="en-US" dirty="0"/>
              <a:t>17. Analog Devices (2022). MAX30009EVKIT# Evaluation Kit. One Analog Way, Wilmington, MA 01887 U.S.A.</a:t>
            </a:r>
          </a:p>
          <a:p>
            <a:pPr marL="0" indent="0">
              <a:buNone/>
            </a:pPr>
            <a:endParaRPr lang="el-GR" dirty="0"/>
          </a:p>
        </p:txBody>
      </p:sp>
      <p:sp>
        <p:nvSpPr>
          <p:cNvPr id="4" name="Θέση αριθμού διαφάνειας 3">
            <a:extLst>
              <a:ext uri="{FF2B5EF4-FFF2-40B4-BE49-F238E27FC236}">
                <a16:creationId xmlns:a16="http://schemas.microsoft.com/office/drawing/2014/main" id="{30B135B1-F815-9482-E6CD-E52D7BA3FAFA}"/>
              </a:ext>
            </a:extLst>
          </p:cNvPr>
          <p:cNvSpPr>
            <a:spLocks noGrp="1"/>
          </p:cNvSpPr>
          <p:nvPr>
            <p:ph type="sldNum" sz="quarter" idx="12"/>
          </p:nvPr>
        </p:nvSpPr>
        <p:spPr/>
        <p:txBody>
          <a:bodyPr/>
          <a:lstStyle/>
          <a:p>
            <a:fld id="{519954A3-9DFD-4C44-94BA-B95130A3BA1C}" type="slidenum">
              <a:rPr lang="en-US" smtClean="0"/>
              <a:t>82</a:t>
            </a:fld>
            <a:endParaRPr lang="en-US" dirty="0"/>
          </a:p>
        </p:txBody>
      </p:sp>
    </p:spTree>
    <p:extLst>
      <p:ext uri="{BB962C8B-B14F-4D97-AF65-F5344CB8AC3E}">
        <p14:creationId xmlns:p14="http://schemas.microsoft.com/office/powerpoint/2010/main" val="10186078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85FE705-F111-9FE5-537E-578F1F74B7CD}"/>
              </a:ext>
            </a:extLst>
          </p:cNvPr>
          <p:cNvSpPr>
            <a:spLocks noGrp="1"/>
          </p:cNvSpPr>
          <p:nvPr>
            <p:ph type="title"/>
          </p:nvPr>
        </p:nvSpPr>
        <p:spPr>
          <a:xfrm>
            <a:off x="1247786" y="2172982"/>
            <a:ext cx="8433110" cy="2256406"/>
          </a:xfrm>
        </p:spPr>
        <p:txBody>
          <a:bodyPr>
            <a:normAutofit/>
          </a:bodyPr>
          <a:lstStyle/>
          <a:p>
            <a:r>
              <a:rPr lang="el-GR" sz="6600" dirty="0"/>
              <a:t>Σας Ευχαριστώ για τη συνεργασία…</a:t>
            </a:r>
          </a:p>
        </p:txBody>
      </p:sp>
      <p:sp>
        <p:nvSpPr>
          <p:cNvPr id="3" name="Θέση αριθμού διαφάνειας 2">
            <a:extLst>
              <a:ext uri="{FF2B5EF4-FFF2-40B4-BE49-F238E27FC236}">
                <a16:creationId xmlns:a16="http://schemas.microsoft.com/office/drawing/2014/main" id="{E5BBF13E-B6E7-15FD-801D-F89E18D80BCF}"/>
              </a:ext>
            </a:extLst>
          </p:cNvPr>
          <p:cNvSpPr>
            <a:spLocks noGrp="1"/>
          </p:cNvSpPr>
          <p:nvPr>
            <p:ph type="sldNum" sz="quarter" idx="12"/>
          </p:nvPr>
        </p:nvSpPr>
        <p:spPr/>
        <p:txBody>
          <a:bodyPr/>
          <a:lstStyle/>
          <a:p>
            <a:fld id="{D57F1E4F-1CFF-5643-939E-217C01CDF565}" type="slidenum">
              <a:rPr lang="en-US" smtClean="0"/>
              <a:pPr/>
              <a:t>83</a:t>
            </a:fld>
            <a:endParaRPr lang="en-US" dirty="0"/>
          </a:p>
        </p:txBody>
      </p:sp>
    </p:spTree>
    <p:extLst>
      <p:ext uri="{BB962C8B-B14F-4D97-AF65-F5344CB8AC3E}">
        <p14:creationId xmlns:p14="http://schemas.microsoft.com/office/powerpoint/2010/main" val="2639658882"/>
      </p:ext>
    </p:extLst>
  </p:cSld>
  <p:clrMapOvr>
    <a:masterClrMapping/>
  </p:clrMapOvr>
</p:sld>
</file>

<file path=ppt/theme/theme1.xml><?xml version="1.0" encoding="utf-8"?>
<a:theme xmlns:a="http://schemas.openxmlformats.org/drawingml/2006/main" name="Όψη">
  <a:themeElements>
    <a:clrScheme name="Κόκκινο πορτοκαλί">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2650</TotalTime>
  <Words>6726</Words>
  <Application>Microsoft Office PowerPoint</Application>
  <PresentationFormat>Ευρεία οθόνη</PresentationFormat>
  <Paragraphs>541</Paragraphs>
  <Slides>83</Slides>
  <Notes>0</Notes>
  <HiddenSlides>0</HiddenSlides>
  <MMClips>0</MMClips>
  <ScaleCrop>false</ScaleCrop>
  <HeadingPairs>
    <vt:vector size="6" baseType="variant">
      <vt:variant>
        <vt:lpstr>Γραμματοσειρές που χρησιμοποιούνται</vt:lpstr>
      </vt:variant>
      <vt:variant>
        <vt:i4>7</vt:i4>
      </vt:variant>
      <vt:variant>
        <vt:lpstr>Θέμα</vt:lpstr>
      </vt:variant>
      <vt:variant>
        <vt:i4>1</vt:i4>
      </vt:variant>
      <vt:variant>
        <vt:lpstr>Τίτλοι διαφανειών</vt:lpstr>
      </vt:variant>
      <vt:variant>
        <vt:i4>83</vt:i4>
      </vt:variant>
    </vt:vector>
  </HeadingPairs>
  <TitlesOfParts>
    <vt:vector size="91" baseType="lpstr">
      <vt:lpstr>Arial</vt:lpstr>
      <vt:lpstr>Calibri</vt:lpstr>
      <vt:lpstr>Consolas</vt:lpstr>
      <vt:lpstr>Times New Roman</vt:lpstr>
      <vt:lpstr>Trebuchet MS</vt:lpstr>
      <vt:lpstr>Wingdings</vt:lpstr>
      <vt:lpstr>Wingdings 3</vt:lpstr>
      <vt:lpstr>Όψη</vt:lpstr>
      <vt:lpstr>ΦΟΡΗΤΟ ΜΟΝΙΤΟΡ ΥΓΕΙΑΣ</vt:lpstr>
      <vt:lpstr>ΣΤΑΔΙΟ Α</vt:lpstr>
      <vt:lpstr>Περιγραφή Εφαρμογής</vt:lpstr>
      <vt:lpstr>Βιομετρικές Αισθητήρες</vt:lpstr>
      <vt:lpstr>Περιγραφή Αισθητήρων</vt:lpstr>
      <vt:lpstr>Άλλα Περιφερειακά</vt:lpstr>
      <vt:lpstr>Λογισμικό</vt:lpstr>
      <vt:lpstr>Προβλήματα</vt:lpstr>
      <vt:lpstr>Στόχοι</vt:lpstr>
      <vt:lpstr>Απαιτήσεις Χρήστη</vt:lpstr>
      <vt:lpstr>Απαιτήσεις Λειτουργιών</vt:lpstr>
      <vt:lpstr>Προδιαγραφές Χρήστη</vt:lpstr>
      <vt:lpstr>Προδιαγραφές Λειτουργιών (1)</vt:lpstr>
      <vt:lpstr>Προδιαγραφές Λειτουργιών (2)</vt:lpstr>
      <vt:lpstr>Προσέγγιση Αρχιτεκτονικής Λογισμικού</vt:lpstr>
      <vt:lpstr>Προσέγγιση Αρχιτεκτονικής Υλικού</vt:lpstr>
      <vt:lpstr>ΣΤΑΔΙΟ B</vt:lpstr>
      <vt:lpstr>Αρχιτεκτονική Υλικού (1)</vt:lpstr>
      <vt:lpstr>Αρχιτεκτονική Υλικού (2)</vt:lpstr>
      <vt:lpstr>Συγκεκριμένοι Βιομετρικές Αισθητήρες</vt:lpstr>
      <vt:lpstr>Αισθητήρας Καρδιακών Παλμών και SpO2</vt:lpstr>
      <vt:lpstr>Αισθητήρας Θερμοκρασίας</vt:lpstr>
      <vt:lpstr>Επιταχυνσιόμετρο</vt:lpstr>
      <vt:lpstr>Ηλεκτροδερμικός (EDA) Αισθητήρας</vt:lpstr>
      <vt:lpstr>Αισθητήρας Πίεσης Αίματος</vt:lpstr>
      <vt:lpstr>Άλλες Συνδέσεις και Υποσυστήματα</vt:lpstr>
      <vt:lpstr>Οθόνη</vt:lpstr>
      <vt:lpstr>Wi-Fi SoC (Module)</vt:lpstr>
      <vt:lpstr>Μικροελεγκτής</vt:lpstr>
      <vt:lpstr>Αρχιτεκτονική Μικροελεγκτή</vt:lpstr>
      <vt:lpstr>Μπαταρία Για μπαταρία θα χρησιμοποιήσουμε μία σε τιμή των 3 Watt, που σύμφωνα με τις μετρήσεις μας θεωρητικά είναι μεγάλη από αυτή που χρειαζόμαστε για το σύστημα μας. Αλλά λόγο ασφάλειας για ένα τέτοια σύστημα θα επαρκεί το 3 Watt κάποιας μη συγκεκριμένης εταιρίας. Επειδή δεν έχει μία πάρα πολύ μεγάλη τιμή ο χρόνος για φόρτωσης δεν θα είναι πάρα πολύ μεγάλος.   Αυτή η απόδοση έχει ως λόγο και το πιεσόμετρο που θα είναι ένα I/O με διασύνδεση στο κεντρικό σύστημα την έννοια να μπορεί να φορτώνεται και αυτό αλλά με αποτέλεσμα να μην χάνεται η πιστότητα του υλικού. </vt:lpstr>
      <vt:lpstr>Αρχιτεκτονική Λογισμικού (1)</vt:lpstr>
      <vt:lpstr>Αρχιτεκτονική Λογισμικού (2)</vt:lpstr>
      <vt:lpstr>Υποσυστήματα Λογισμικού</vt:lpstr>
      <vt:lpstr>Λειτουργικό Σύστημα</vt:lpstr>
      <vt:lpstr>Βάση Δεδομένων</vt:lpstr>
      <vt:lpstr>Αναζήτηση στη Βάση Δεδομένων</vt:lpstr>
      <vt:lpstr>Γραφικό Περιβάλλον Χρήστη</vt:lpstr>
      <vt:lpstr>Σχεδίαση στην Οθόνη</vt:lpstr>
      <vt:lpstr>Σχεδίαση στην Εφαρμογή</vt:lpstr>
      <vt:lpstr>Σχεδιασμός Συνολικού Συστήματος</vt:lpstr>
      <vt:lpstr>Συνολικό Σύστημα</vt:lpstr>
      <vt:lpstr>Σημαντικές Λειτουργίες Μικροελεγκτή (1)</vt:lpstr>
      <vt:lpstr>Σημαντικές Λειτουργίες Μικροελεγκτή (2)</vt:lpstr>
      <vt:lpstr>Σχεδιασμός Υποσυστημάτων</vt:lpstr>
      <vt:lpstr>Μικροελεγκτής</vt:lpstr>
      <vt:lpstr>Αισθητήρας Θερμοκρασίας</vt:lpstr>
      <vt:lpstr>Αισθητήρας Καρδιακών Παλμών και SpO2</vt:lpstr>
      <vt:lpstr>Επιταχυνσιόμετρο </vt:lpstr>
      <vt:lpstr>Αισθητήρας Πίεσης Αίματος</vt:lpstr>
      <vt:lpstr>Flash Μνήμη</vt:lpstr>
      <vt:lpstr>Αισθητήρας EDA</vt:lpstr>
      <vt:lpstr>Συνδεσιμότητα των Υποσυστημάτων (1)</vt:lpstr>
      <vt:lpstr>Συνδεσιμότητα των Υποσυστημάτων (2)</vt:lpstr>
      <vt:lpstr>Συγχρονισμό με Λογισμικό</vt:lpstr>
      <vt:lpstr>Λογισμικό</vt:lpstr>
      <vt:lpstr>Σχεδιασμός Συστατικών  Συστήματος/Υποσυστημάτων</vt:lpstr>
      <vt:lpstr>Αισθητήρας Θερμοκρασίας</vt:lpstr>
      <vt:lpstr>Αισθητήρας Καρδιακών Παλμών και SpO2</vt:lpstr>
      <vt:lpstr>Επιταχυνσιόμετρο</vt:lpstr>
      <vt:lpstr>Πιεσόμετρο</vt:lpstr>
      <vt:lpstr>Wi-Fi SoC</vt:lpstr>
      <vt:lpstr>Flash Μνήμη</vt:lpstr>
      <vt:lpstr>Μικροελεγκτής</vt:lpstr>
      <vt:lpstr>Αισθητήρας EDA</vt:lpstr>
      <vt:lpstr>Οθόνη</vt:lpstr>
      <vt:lpstr>Λογισμικό</vt:lpstr>
      <vt:lpstr>Ανεμιστήρας</vt:lpstr>
      <vt:lpstr>ΣΤΑΔΙΟ Γ</vt:lpstr>
      <vt:lpstr>Υλοποίηση</vt:lpstr>
      <vt:lpstr>Εγκαταστάσεις (1)</vt:lpstr>
      <vt:lpstr>Εγκαταστάσεις (2)</vt:lpstr>
      <vt:lpstr>Εγκαταστάσεις (3)</vt:lpstr>
      <vt:lpstr>Προσομοίωση</vt:lpstr>
      <vt:lpstr>Πειραματικές Μετρήσεις (ή εκτίμηση) (1)</vt:lpstr>
      <vt:lpstr>Πειραματικές Μετρήσεις (ή εκτίμηση) (2)</vt:lpstr>
      <vt:lpstr>Διαδικασίες Ελέγχου Ορθής Λειτουργίας</vt:lpstr>
      <vt:lpstr>Παράδειγμα Run Mode</vt:lpstr>
      <vt:lpstr>Παράδειγμα είσοδος Safe State</vt:lpstr>
      <vt:lpstr>Βελτιστοποιήσεις (ή προτάσεις)</vt:lpstr>
      <vt:lpstr>Μελλοντικές Τροποποιήσεις</vt:lpstr>
      <vt:lpstr>Βιβλιογραφία</vt:lpstr>
      <vt:lpstr>Σας Ευχαριστώ για τη συνεργασία…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ΦΟΡΗΤΟ ΜΟΝΙΤΟΡ ΥΓΕΙΑΣ</dc:title>
  <dc:creator>ΚΙΟΥΡΤ-ΜΕΧΜΕΤΑΛΗ ΑΧΜΕΤ</dc:creator>
  <cp:lastModifiedBy>ΚΙΟΥΡΤ-ΜΕΧΜΕΤΑΛΗ ΑΧΜΕΤ</cp:lastModifiedBy>
  <cp:revision>25</cp:revision>
  <dcterms:created xsi:type="dcterms:W3CDTF">2024-01-07T21:12:51Z</dcterms:created>
  <dcterms:modified xsi:type="dcterms:W3CDTF">2024-02-14T15:06:24Z</dcterms:modified>
</cp:coreProperties>
</file>